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3"/>
  </p:notesMasterIdLst>
  <p:sldIdLst>
    <p:sldId id="502" r:id="rId2"/>
    <p:sldId id="503" r:id="rId3"/>
    <p:sldId id="504" r:id="rId4"/>
    <p:sldId id="505" r:id="rId5"/>
    <p:sldId id="256" r:id="rId6"/>
    <p:sldId id="257" r:id="rId7"/>
    <p:sldId id="506" r:id="rId8"/>
    <p:sldId id="258" r:id="rId9"/>
    <p:sldId id="259" r:id="rId10"/>
    <p:sldId id="260" r:id="rId11"/>
    <p:sldId id="507" r:id="rId12"/>
    <p:sldId id="261" r:id="rId13"/>
    <p:sldId id="262" r:id="rId14"/>
    <p:sldId id="508" r:id="rId15"/>
    <p:sldId id="263" r:id="rId16"/>
    <p:sldId id="264" r:id="rId17"/>
    <p:sldId id="265" r:id="rId18"/>
    <p:sldId id="509" r:id="rId19"/>
    <p:sldId id="266" r:id="rId20"/>
    <p:sldId id="267" r:id="rId21"/>
    <p:sldId id="510" r:id="rId22"/>
    <p:sldId id="268" r:id="rId23"/>
    <p:sldId id="269" r:id="rId24"/>
    <p:sldId id="270" r:id="rId25"/>
    <p:sldId id="511" r:id="rId26"/>
    <p:sldId id="271" r:id="rId27"/>
    <p:sldId id="512" r:id="rId28"/>
    <p:sldId id="272" r:id="rId29"/>
    <p:sldId id="273" r:id="rId30"/>
    <p:sldId id="274" r:id="rId31"/>
    <p:sldId id="275" r:id="rId32"/>
  </p:sldIdLst>
  <p:sldSz cx="12192000" cy="6858000"/>
  <p:notesSz cx="6858000" cy="12192000"/>
  <p:embeddedFontLst>
    <p:embeddedFont>
      <p:font typeface="Consolas" panose="020B0609020204030204" pitchFamily="49" charset="0"/>
      <p:regular r:id="rId34"/>
      <p:bold r:id="rId35"/>
      <p:italic r:id="rId36"/>
      <p:boldItalic r:id="rId37"/>
    </p:embeddedFont>
    <p:embeddedFont>
      <p:font typeface="IBM Plex Sans" panose="020B0503050203000203" pitchFamily="34" charset="0"/>
      <p:regular r:id="rId38"/>
    </p:embeddedFont>
    <p:embeddedFont>
      <p:font typeface="IBM Plex Sans Light" panose="020B0403050203000203" pitchFamily="34" charset="0"/>
      <p:regular r:id="rId39"/>
    </p:embeddedFont>
    <p:embeddedFont>
      <p:font typeface="Montserrat" panose="00000500000000000000" pitchFamily="2" charset="0"/>
      <p:regular r:id="rId40"/>
      <p:bold r:id="rId41"/>
      <p:italic r:id="rId42"/>
      <p:boldItalic r:id="rId43"/>
    </p:embeddedFont>
    <p:embeddedFont>
      <p:font typeface="Montserrat Bold" panose="00000800000000000000" pitchFamily="2" charset="0"/>
      <p:bold r:id="rId44"/>
    </p:embeddedFont>
    <p:embeddedFont>
      <p:font typeface="Poppins" panose="00000500000000000000" pitchFamily="2" charset="0"/>
      <p:regular r:id="rId45"/>
      <p:bold r:id="rId46"/>
    </p:embeddedFont>
    <p:embeddedFont>
      <p:font typeface="Poppins Bold" panose="00000800000000000000" charset="0"/>
      <p:regular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font" Target="fonts/font11.fntdata"/><Relationship Id="rId45" Type="http://schemas.openxmlformats.org/officeDocument/2006/relationships/font" Target="fonts/font12.fntdata"/><Relationship Id="rId46" Type="http://schemas.openxmlformats.org/officeDocument/2006/relationships/font" Target="fonts/font13.fntdata"/><Relationship Id="rId47" Type="http://schemas.openxmlformats.org/officeDocument/2006/relationships/font" Target="fonts/font14.fntdata"/><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390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1096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42827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Basics built a Standard agent that answers, and tools let it act. This module makes it run on its own and work with other agents.</a:t>
            </a:r>
          </a:p>
          <a:p/>
          <a:p>
            <a:r>
              <a:t>On its own: an agent can wake on an event, such as a new email in a shared mailbox, and do its job with no person in the chat.</a:t>
            </a:r>
          </a:p>
          <a:p/>
          <a:p>
            <a:r>
              <a:t>With other agents: a main agent routes work to child agents, connected agents and agents that a developer team built in Microsoft Foundry.</a:t>
            </a:r>
          </a:p>
          <a:p/>
          <a:p>
            <a:r>
              <a:t>Harder problems: a deep reasoning model works through a step that weighs several rules, slower and more carefully. Generative orchestration sits under all three, and voice and evaluation follow as optional topics.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seven topics once. Each topic has a demo, and most of them run on an agent the class built in earlier modules.</a:t>
            </a:r>
          </a:p>
          <a:p/>
          <a:p>
            <a:r>
              <a:t>Wakes on an event: topic one turns CS-Returns Agent into an autonomous agent that answers every new email in a shared returns mailbox.</a:t>
            </a:r>
          </a:p>
          <a:p/>
          <a:p>
            <a:r>
              <a:t>Reasons through a hard problem: topic two orders a ticket backlog for the Grey Logistics IT Help Desk, once on the default model and once with reason on the ranking step.</a:t>
            </a:r>
          </a:p>
          <a:p/>
          <a:p>
            <a:r>
              <a:t>Routes work to other agents: topic three puts CS-Business Travel Planner in front of the travel specialists, topic four builds a device specialist in Microsoft Foundry, and topic five connects the social-profiler Foundry agent to CS-Compliance Agent.</a:t>
            </a:r>
          </a:p>
          <a:p/>
          <a:p>
            <a:r>
              <a:t>Optional: voice takes a help desk agent to the phone, and evaluation grades the travel planner's routes with a test 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agent so far waited for someone to type. An autonomous agent reacts to an event instead: a new list item, an email, a completed Planner task or a set time.</a:t>
            </a:r>
          </a:p>
          <a:p/>
          <a:p>
            <a:r>
              <a:t>Event trigger: Learn calls it one part of a three-part workflow. The trigger registers the event, sends a payload, and the agent's instructions choose among the tools and topics the maker gave it; it never invents a new action.</a:t>
            </a:r>
          </a:p>
          <a:p/>
          <a:p>
            <a:r>
              <a:t>Payload: each trigger ships a default, such as "Use content from Body". The payload says how to react to this one event, and the agent instructions keep the rules that apply to every run.</a:t>
            </a:r>
          </a:p>
          <a:p/>
          <a:p>
            <a:r>
              <a:t>The flow: Edit in Power Automate opens the flow behind the trigger, the event followed by an action that prompts the agent. Almost any event Power Automate can listen to can start an agent, and event triggers need generative orchestration.</a:t>
            </a:r>
          </a:p>
          <a:p/>
          <a:p>
            <a:r>
              <a:t>The lab: an uploaded resume PDF makes the Autonomous HR Docs Processor call add_employee on the HR MCP server and confirm with SendEmail. Several files uploaded at once start one flow run and one agent session.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demo turns the concept into a returns desk that answers itself. CS-Returns Agent wakes for every new email in a shared mailbox, checks it against the returns policy and replies by mail.</a:t>
            </a:r>
          </a:p>
          <a:p/>
          <a:p>
            <a:r>
              <a:t>Instructions: a run nobody watches has nobody to answer a question, so the instructions carry the whole job. The reply goes out as an email body, which is why they fix the HTML tags, and a flight request gets declined.</a:t>
            </a:r>
          </a:p>
          <a:p/>
          <a:p>
            <a:r>
              <a:t>Knowledge: one policy document instead of a whole site keeps other content out of the answer. Its description, "Information about our returns policy", tells the orchestrator when to search it.</a:t>
            </a:r>
          </a:p>
          <a:p/>
          <a:p>
            <a:r>
              <a:t>Mail tool: the Work IQ Mail MCP server, listed as Mail (Preview), is switched to Maker-provided credentials under Additional details. Every reply then goes out through your account, so keep this agent to the returns job.</a:t>
            </a:r>
          </a:p>
          <a:p/>
          <a:p>
            <a:r>
              <a:t>The sentence and the trigger: without the sentence, the triggered run wrote its reply only into the test chat. The trigger hides under the All filter, keeps the default payload, and a new shared mailbox needs about 15 minutes before it can read the Inbox.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trigger that goes live answers real customers through your credentials, so the demo tests it on one real email first and publishes second.</a:t>
            </a:r>
          </a:p>
          <a:p/>
          <a:p>
            <a:r>
              <a:t>Safe test loop: until you publish, the trigger still records each event, but the flow run fails at the agent call and nothing is answered on its own.</a:t>
            </a:r>
          </a:p>
          <a:p/>
          <a:p>
            <a:r>
              <a:t>Replay: the test icon next to the trigger lists the recorded emails, and Start testing runs the agent on one of them. The chat shows Trigger detected with the email as JSON, the agent answers with Email sent, and the second mailbox receives the reply that the 14-day return window has passed.</a:t>
            </a:r>
          </a:p>
          <a:p/>
          <a:p>
            <a:r>
              <a:t>Publish: the dialog shown here lists Full Access for Editors and the warning that the trigger uses the author's credentials. Anyone who reaches the published agent might see data through those credentials, so review the trigger's scope and the tools before every publish.</a:t>
            </a:r>
          </a:p>
          <a:p/>
          <a:p>
            <a:r>
              <a:t>Activity: in the live run, an email about a billing address became an Automated row with the status Completed, and the agent declined it because it only handles returns. A trigger never backfills, so mail that arrived before it existed is never answered.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agent steps are fast and shallow: look something up, call a tool, phrase an answer. Some steps weigh several rules at once, and a deep reasoning model works through them step by step, slower and more carefully.</a:t>
            </a:r>
          </a:p>
          <a:p/>
          <a:p>
            <a:r>
              <a:t>The switch: turn on generative orchestration first, then Deep reasoning (preview) in Settings. It is available in the United States and in the EU outside the United Kingdom, with no data residency commitment.</a:t>
            </a:r>
          </a:p>
          <a:p/>
          <a:p>
            <a:r>
              <a:t>The keyword: once it is on, the agent decides by itself which steps need it, and reason in an instruction step forces it for that step. The pattern in the diagram keeps retrieval and presentation on the fast model and puts reason on the one decision step.</a:t>
            </a:r>
          </a:p>
          <a:p/>
          <a:p>
            <a:r>
              <a:t>The model: Learn's deep reasoning article names Azure OpenAI o3, while the model selection article mentions separate settings for the reasoning model, so check both pages before you promise one. A reasoning step is billed twice: the normal rate plus 10 Copilot Credits per 1,000 reasoning tokens.</a:t>
            </a:r>
          </a:p>
          <a:p/>
          <a:p>
            <a:r>
              <a:t>Trace: expand the deep reasoning node to see its steps, the data it used and its result. A simple lookup shows no reasoning node at all, which proves the keyword sits where you meant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demo gives the Grey Logistics IT Help Desk a job where several rules meet: priority, a rule for the executive board, deadlines and the clock. It runs the same nine tickets twice and compares the plans in the activity map.</a:t>
            </a:r>
          </a:p>
          <a:p/>
          <a:p>
            <a:r>
              <a:t>Baseline: on the default model a table comes back within seconds and no reasoning node appears. The default model often lists T-105 first, misses that T-109 is overdue by an hour, or leaves board member Anna Berger's T-103 at P3.</a:t>
            </a:r>
          </a:p>
          <a:p/>
          <a:p>
            <a:r>
              <a:t>With reason: only step 4, which orders the tickets by time left until the deadline, gets the keyword. The reply takes noticeably longer, and the activity map shows a reasoning node for that step alone.</a:t>
            </a:r>
          </a:p>
          <a:p/>
          <a:p>
            <a:r>
              <a:t>Reading the node: a correct run puts T-109 first, raises T-103 to P2 under the board rule, and keeps T-107 at P3 because the marketing team can still use the shared drive. If the baseline already matched, that is a valid finding too: this backlog didn't need the slower model.</a:t>
            </a:r>
          </a:p>
          <a:p/>
          <a:p>
            <a:r>
              <a:t>Fast path: a guest Wi-Fi question in the same conversation answers quickly with no reasoning node. The Model list on the Overview page, with its Deep tags, is a separate choice from this setting.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topic of this module sits on one planning layer, and this one opens it up: what the planner reads when it chooses, and how agents that call other agents follow from it.</a:t>
            </a:r>
          </a:p>
          <a:p/>
          <a:p>
            <a:r>
              <a:t>How it chooses: Learn names the description as the most important factor, followed by the name and the names and descriptions of inputs and outputs. You describe what each component does instead of predicting every phrasing.</a:t>
            </a:r>
          </a:p>
          <a:p/>
          <a:p>
            <a:r>
              <a:t>Several steps: "I need store hours and the nearest store" chains two topics in one turn. The planner asks for any required input it can't fill from context, then writes one answer from everything the steps returned.</a:t>
            </a:r>
          </a:p>
          <a:p/>
          <a:p>
            <a:r>
              <a:t>Classic or generative: you switch under Settings, Generative AI, Orchestration. Classic picks one topic per turn by trigger phrases and keeps scripted voice agents predictable; triggers, MCP servers and other agents need generative orchestration.</a:t>
            </a:r>
          </a:p>
          <a:p/>
          <a:p>
            <a:r>
              <a:t>Overlap: two similar descriptions make the choice unpredictable, and Learn's rule of thumb says one agent gets confused at about 30 to 40 choices. Sharpen the descriptions first, then split work into child or connected agents.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employee planning a trip shouldn't need to know that booking, a health check and the expense claim live in three agents. CS-Business Travel Planner is the one agent they talk to, and it owns no knowledge of its own.</a:t>
            </a:r>
          </a:p>
          <a:p/>
          <a:p>
            <a:r>
              <a:t>Connected agents: each is a separate published agent in the same environment with Let other agents connect to and use this one turned on. The planner always calls the last published version, so publish the specialists before the parent.</a:t>
            </a:r>
          </a:p>
          <a:p/>
          <a:p>
            <a:r>
              <a:t>Child agent: Work life balance Buddy lives inside the planner and ships with it. It always receives the parent's context, and its gym document is invisible to every other agent.</a:t>
            </a:r>
          </a:p>
          <a:p/>
          <a:p>
            <a:r>
              <a:t>Descriptions: the description on the planner side is a local copy you control. The CS-Travel Agent text ends with "Does not handle health questions, expense claims or gym benefits", which keeps the allowance question away from it.</a:t>
            </a:r>
          </a:p>
          <a:p/>
          <a:p>
            <a:r>
              <a:t>References: select each agent name in the instructions, type a slash and pick the agent. With those chips, all five routes of the travel planner reached the right agent.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activity map shows which agent node ran, so you can catch a wrong route before an employee does. Turn on Show activity map when testing and send each message in a new test conversation.</a:t>
            </a:r>
          </a:p>
          <a:p/>
          <a:p>
            <a:r>
              <a:t>Booking: a CS-Travel Agent node runs its Book Trip topic, asks for place, date and number of travelers, and returns evening tips such as the Castle District and a Danube cruise.</a:t>
            </a:r>
          </a:p>
          <a:p/>
          <a:p>
            <a:r>
              <a:t>Health and allowance: CS-Health Advisor gives first advice that the trip is reasonable while the symptoms stay mild. CS-Travel Expense Refund answers with €30 per 24 hours and €2.50 per commenced hour.</a:t>
            </a:r>
          </a:p>
          <a:p/>
          <a:p>
            <a:r>
              <a:t>Gym: Work life balance Buddy names the No Pain - No Gain gym in Budapest with up to three free one-day passes and cites the gym document.</a:t>
            </a:r>
          </a:p>
          <a:p/>
          <a:p>
            <a:r>
              <a:t>Canteen: no agent node runs; with Web Search on, the planner searches the web and says it has no access to today's menu. A request no specialist covers is the test Learn's multi-agent guidance asks for.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Sooner or later a maker meets an agent a developer team built in Microsoft Foundry. Knowing what such an agent is made of lets you reuse a specialist instead of copying its rules.</a:t>
            </a:r>
          </a:p>
          <a:p/>
          <a:p>
            <a:r>
              <a:t>Project: everything lives in a Foundry project in the portal at ai.azure.com, and models come first: the demo deploys gpt-5-mini. The Foundry User role lets a person build and invoke agents.</a:t>
            </a:r>
          </a:p>
          <a:p/>
          <a:p>
            <a:r>
              <a:t>Three types: a prompt agent is configuration, a voice-based prompt agent adds audio settings, and a hosted agent runs a team's own code. The demo builds grey-logistics-device-specialist as a prompt agent, and its name is permanent.</a:t>
            </a:r>
          </a:p>
          <a:p/>
          <a:p>
            <a:r>
              <a:t>Versions: the loaner-laptop line added in the demo creates a new version. The endpoint serves the latest one by default, and the Publish dropdown pins the version callers receive.</a:t>
            </a:r>
          </a:p>
          <a:p/>
          <a:p>
            <a:r>
              <a:t>Endpoint: az rest with your Microsoft Entra token calls the Responses protocol and gets back the Dell Precision 5690 with its 4-year cycle. Copilot Studio uses the Activity Protocol on the same endpoint, which is the next topic.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946711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platforms build agents from instructions, a model and tools, and the shared words confuse mixed teams. The difference is who builds, where it runs and how it reaches users.</a:t>
            </a:r>
          </a:p>
          <a:p/>
          <a:p>
            <a:r>
              <a:t>Who and where: Foundry agents are built by developers and AI engineers in a Foundry project in an Azure subscription. Standard Copilot Studio agents are built by makers in a Power Platform environment, inside a solution.</a:t>
            </a:r>
          </a:p>
          <a:p/>
          <a:p>
            <a:r>
              <a:t>Behavior and models: a Foundry agent picks any deployed model from the Foundry catalog, and hosted agents add custom code. A Copilot Studio agent combines instructions, topics, knowledge, tools and agent flows on the models Copilot Studio offers.</a:t>
            </a:r>
          </a:p>
          <a:p/>
          <a:p>
            <a:r>
              <a:t>Reaching users and paying: Foundry speaks endpoint protocols and bills Azure consumption under Azure RBAC. Copilot Studio publishes to channels such as Teams, websites and telephony, bills Copilot Credits and follows Power Platform security and data policies.</a:t>
            </a:r>
          </a:p>
          <a:p/>
          <a:p>
            <a:r>
              <a:t>Where they meet: a Copilot Studio agent connects a Foundry agent as a specialist, and each team keeps its own part.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966194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Connecting a Foundry agent keeps one source of truth: the maker owns the conversation, channels and routing in Copilot Studio, and the developers keep the specialist. Learn marks the connection as preview.</a:t>
            </a:r>
          </a:p>
          <a:p/>
          <a:p>
            <a:r>
              <a:t>Foundry side: Copilot Studio talks to the agent over the Activity Protocol, which a new agent doesn't have. Without it you can still add the connection, but every call fails with an HTTP 400 error.</a:t>
            </a:r>
          </a:p>
          <a:p/>
          <a:p>
            <a:r>
              <a:t>The update: this body goes to the agent with a PATCH and the content type application/merge-patch+json. It replaces the whole list, so it names responses and Entra as well; the portal keeps showing only Responses and A2A, which Learn calls expected.</a:t>
            </a:r>
          </a:p>
          <a:p/>
          <a:p>
            <a:r>
              <a:t>Copilot Studio side: on the Agents page, Add, Connect to an external agent, Microsoft Foundry. The demo creates the connection CS-Microsoft Foundry with Microsoft Entra ID User Login and the project endpoint, then enters CS-Social Profiler, a description and the Agent Id social-profiler.</a:t>
            </a:r>
          </a:p>
          <a:p/>
          <a:p>
            <a:r>
              <a:t>Routing: the planner picks the Foundry agent by the description entered here, like any other agent. An agent created in the previous Foundry portal fails with 404 - Version not found.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261501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a new hire starts, HR checks who the person is, and the research behind that check belongs to a data team that built it in Foundry. CS-Compliance Agent collects and confirms the details and hands them to that team's agent.</a:t>
            </a:r>
          </a:p>
          <a:p/>
          <a:p>
            <a:r>
              <a:t>Model: Claude Sonnet 4.6 is an external model from Anthropic, and the admin has to allow external models first. A model that follows long, ordered instructions suits a check where skipping the confirmation is the real risk.</a:t>
            </a:r>
          </a:p>
          <a:p/>
          <a:p>
            <a:r>
              <a:t>Steps: the instructions spell out explain, collect, confirm and prepare, so the agent asks one thing per turn and never sends unconfirmed data on.</a:t>
            </a:r>
          </a:p>
          <a:p/>
          <a:p>
            <a:r>
              <a:t>Step 5: the original instructions only promised that the data is ready for the next step. The added step names CS-Social Profiler as a reference, typed with a slash, at the one point where the details are confirmed.</a:t>
            </a:r>
          </a:p>
          <a:p/>
          <a:p>
            <a:r>
              <a:t>Error handling: in the second test run, jana.novak(at)example made the agent say the format looks invalid and ask for a corrected address. No CS-Social Profiler node appeared, so no data left the agent.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59165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activity map proves the order of the instructions: three questions, a confirmation table, and only then the call to Microsoft Foundry.</a:t>
            </a:r>
          </a:p>
          <a:p/>
          <a:p>
            <a:r>
              <a:t>The node: after the confirmation, the map shows CS-Social Profiler with Interpreting tool intent, Preparing tool inputs and Executing tool action. The input is the Agent Id social-profiler, the value that selects the agent inside the project.</a:t>
            </a:r>
          </a:p>
          <a:p/>
          <a:p>
            <a:r>
              <a:t>The answer: social-profiler is a prompt agent on gpt-5.4-mini with Web search. Its reply carries Person, Company, Email domain check, Public sources and Notes for the compliance check, and for example.com it reports a reserved example domain that doesn't match the company.</a:t>
            </a:r>
          </a:p>
          <a:p/>
          <a:p>
            <a:r>
              <a:t>Limits: every call adds a hop with its own model run, and Learn notes that citations aren't always kept when an answer comes back from another agent.</a:t>
            </a:r>
          </a:p>
          <a:p/>
          <a:p>
            <a:r>
              <a:t>Responsibility: Learn puts a connected external agent on you, the maker. Check what data reaches Foundry and agree with the developer team whether your agent relies on a pinned version or on the latest 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834379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optional topic takes an agent to the phone through Dynamics 365 Contact Center. Callers who know what they need should be able to say it, and callers on a noisy train should be able to press a key.</a:t>
            </a:r>
          </a:p>
          <a:p/>
          <a:p>
            <a:r>
              <a:t>Two kinds: a basic voice agent scripts the conversation in topics on classic orchestration, which keeps every step predictable. A real-time voice agent uses a real-time speech model on generative orchestration for free conversation.</a:t>
            </a:r>
          </a:p>
          <a:p/>
          <a:p>
            <a:r>
              <a:t>Keypad and speech: the Grey Logistics IT Hotline asks whether the caller needs help with an account, a device or a person. Assign DTMF keys to options maps 1, 2 and 0, and 0 transfers the call to an external number.</a:t>
            </a:r>
          </a:p>
          <a:p/>
          <a:p>
            <a:r>
              <a:t>Testing: the test panel simulates the call in text and reads options as "Press 1 or say Account". It doesn't recognize real speech or run silence detection, so a test call on the real line stays part of every release.</a:t>
            </a:r>
          </a:p>
          <a:p/>
          <a:p>
            <a:r>
              <a:t>After the call: a topic triggered by End of conversation with Conversation.EndReason equal to CUSTOMER_HANGUP emails the help desk when a caller hangs up. Voice is billed per minute: 10, 35 or 75 Copilot Credits by tier.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753691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multi-agent demo each route looked right when you tried it once. A test set runs the same questions the same way every time, so a drop in the score points at the change you just made.</a:t>
            </a:r>
          </a:p>
          <a:p/>
          <a:p>
            <a:r>
              <a:t>The set: Travel planner routing holds seven questions in the template's two columns, question and expectedResponse, one per specialist, one for the child agent and one that no agent owns. Answer quality comes by default, and Meaning match with a pass score of 50 is added.</a:t>
            </a:r>
          </a:p>
          <a:p/>
          <a:p>
            <a:r>
              <a:t>Routes: Tool use can't grade them, because its Select tools picker lists the planner's 13 topics and no connected agents. Each case's Details panel names the connected or child agent instead.</a:t>
            </a:r>
          </a:p>
          <a:p/>
          <a:p>
            <a:r>
              <a:t>Profile: the gym answer needs SharePoint and CS-Travel Agent posts to Teams, so the run uses your own account with a green Microsoft Teams connection.</a:t>
            </a:r>
          </a:p>
          <a:p/>
          <a:p>
            <a:r>
              <a:t>Two failures: the canteen answer came from public web pages, an agent problem. The refund claim came back as the title of an Adaptive Card, a test-case problem that stays in the set to prove the route.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114165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baseline run looked good at 86 percent, and the case that mattered hid behind that number. This slide opens it.</a:t>
            </a:r>
          </a:p>
          <a:p/>
          <a:p>
            <a:r>
              <a:t>Answer quality: it checks relevance, groundedness, completeness and whether the agent attempted an answer. It never reads your expected response, so a confident reply built from the wrong source can pass.</a:t>
            </a:r>
          </a:p>
          <a:p/>
          <a:p>
            <a:r>
              <a:t>The canteen case: the planner answered with breakfast, lunch and a second choice, and the case's activity listed public web pages as the referenced sources.</a:t>
            </a:r>
          </a:p>
          <a:p/>
          <a:p>
            <a:r>
              <a:t>Meaning match: it compares the reply with "The planner has no access to the canteen menu and says so." and gave it Fail with a score of 0. Only the comparison caught that the agent should not have answered.</a:t>
            </a:r>
          </a:p>
          <a:p/>
          <a:p>
            <a:r>
              <a:t>The reverse: in the next run the planner said it couldn't find a reliable menu. Meaning match gave it 100, and Answer quality failed the correct refusal as Not answered, so grade refusals with a comparing method or a Custom method.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6587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unchanged agent doesn't score the same twice. So the demo runs the set again before changing anything, then changes exactly one component.</a:t>
            </a:r>
          </a:p>
          <a:p/>
          <a:p>
            <a:r>
              <a:t>Two unchanged runs: ten minutes apart, the totals swapped from 86 and 71 percent to 71 and 86 percent, because one case answered differently. A case that flips on its own marks an unstable component, often the first thing to fix.</a:t>
            </a:r>
          </a:p>
          <a:p/>
          <a:p>
            <a:r>
              <a:t>The cause: the planner needs no knowledge of its own, since every answer should come from a specialist. Web Search let it answer the canteen question from any public website.</a:t>
            </a:r>
          </a:p>
          <a:p/>
          <a:p>
            <a:r>
              <a:t>The change: with Web Search disabled, both later runs answered that no published company canteen menu was found, Meaning match passed it with 100, and no web pages were referenced.</a:t>
            </a:r>
          </a:p>
          <a:p/>
          <a:p>
            <a:r>
              <a:t>The gate: Meaning match held at 86 percent, and its one remaining failure is the refund-claim card. Answer quality kept moving while nothing changed, which makes it the wrong number to gate a release 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3783086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module with the habits it built, one per topic.</a:t>
            </a:r>
          </a:p>
          <a:p/>
          <a:p>
            <a:r>
              <a:t>Unattended runs: CS-Returns Agent answered by mail only after one sentence named the mail tool, and its tool ran on maker-provided credentials because nobody was there to sign in.</a:t>
            </a:r>
          </a:p>
          <a:p/>
          <a:p>
            <a:r>
              <a:t>Reason on one step: the ticket backlog put reason on the ranking step only, and a simple question still ran on the fast path.</a:t>
            </a:r>
          </a:p>
          <a:p/>
          <a:p>
            <a:r>
              <a:t>Descriptions and routes: the travel planner's descriptions each claim one job and name what they exclude, and the activity map showed each question landing in exactly one specialist.</a:t>
            </a:r>
          </a:p>
          <a:p/>
          <a:p>
            <a:r>
              <a:t>Foundry and test sets: the developer team keeps the Foundry specialist's model, tools and versions, and a test set with Meaning match caught the answer Answer quality passed. GitHub Copilot agents in module 6 run the same orchestration idea always 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403382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3856821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748728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526944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1736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5</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Advanced Copilot Studio Agents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Agents that run on their own and work with other agents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15345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Autonomous Agents &amp; Event Triggers</a:t>
            </a:r>
          </a:p>
          <a:p>
            <a:pPr>
              <a:lnSpc>
                <a:spcPct val="95000"/>
              </a:lnSpc>
              <a:spcBef>
                <a:spcPts val="600"/>
              </a:spcBef>
            </a:pPr>
            <a:r>
              <a:rPr sz="1200" b="0">
                <a:solidFill>
                  <a:srgbClr val="595F67"/>
                </a:solidFill>
                <a:latin typeface="Poppins"/>
              </a:rPr>
              <a:t>Event triggers, unattended runs and a shared returns mailbox</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3741533"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Deep Reasoning Models</a:t>
            </a:r>
          </a:p>
          <a:p>
            <a:pPr>
              <a:lnSpc>
                <a:spcPct val="95000"/>
              </a:lnSpc>
              <a:spcBef>
                <a:spcPts val="600"/>
              </a:spcBef>
            </a:pPr>
            <a:r>
              <a:rPr sz="1200" b="0">
                <a:solidFill>
                  <a:srgbClr val="595F67"/>
                </a:solidFill>
                <a:latin typeface="Poppins"/>
              </a:rPr>
              <a:t>The reason keyword on the one step that weighs the rules</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6440299"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Generative Orchestration &amp; Multi-Agent Routing</a:t>
            </a:r>
          </a:p>
          <a:p>
            <a:pPr>
              <a:lnSpc>
                <a:spcPct val="95000"/>
              </a:lnSpc>
              <a:spcBef>
                <a:spcPts val="600"/>
              </a:spcBef>
            </a:pPr>
            <a:r>
              <a:rPr sz="1200" b="0">
                <a:solidFill>
                  <a:srgbClr val="595F67"/>
                </a:solidFill>
                <a:latin typeface="Poppins"/>
              </a:rPr>
              <a:t>The planner, child agents and connected agents</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9139065" y="9857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Microsoft Foundry Agents: Core Concepts</a:t>
            </a:r>
          </a:p>
          <a:p>
            <a:pPr>
              <a:lnSpc>
                <a:spcPct val="95000"/>
              </a:lnSpc>
              <a:spcBef>
                <a:spcPts val="600"/>
              </a:spcBef>
            </a:pPr>
            <a:r>
              <a:rPr sz="1200" b="0">
                <a:solidFill>
                  <a:srgbClr val="595F67"/>
                </a:solidFill>
                <a:latin typeface="Poppins"/>
              </a:rPr>
              <a:t>Prompt agents, versions and the stable endpoint</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2392150"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Foundry Agents in Copilot Studio</a:t>
            </a:r>
          </a:p>
          <a:p>
            <a:pPr>
              <a:lnSpc>
                <a:spcPct val="95000"/>
              </a:lnSpc>
              <a:spcBef>
                <a:spcPts val="600"/>
              </a:spcBef>
            </a:pPr>
            <a:r>
              <a:rPr sz="1200" b="0">
                <a:solidFill>
                  <a:srgbClr val="595F67"/>
                </a:solidFill>
                <a:latin typeface="Poppins"/>
              </a:rPr>
              <a:t>A Foundry specialist behind a Standard agent</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5090916"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Voice Agents: IVR &amp; Post-Call</a:t>
            </a:r>
          </a:p>
          <a:p>
            <a:pPr>
              <a:lnSpc>
                <a:spcPct val="95000"/>
              </a:lnSpc>
              <a:spcBef>
                <a:spcPts val="600"/>
              </a:spcBef>
            </a:pPr>
            <a:r>
              <a:rPr sz="1200" b="0">
                <a:solidFill>
                  <a:srgbClr val="595F67"/>
                </a:solidFill>
                <a:latin typeface="Poppins"/>
              </a:rPr>
              <a:t>Optional: speech and keypad menus, then work after the call</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gd-topics-text"/>
          <p:cNvSpPr txBox="1"/>
          <p:nvPr/>
        </p:nvSpPr>
        <p:spPr>
          <a:xfrm>
            <a:off x="7789682" y="3614300"/>
            <a:ext cx="2010166"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Test and Evaluate Standard Agents</a:t>
            </a:r>
          </a:p>
          <a:p>
            <a:pPr>
              <a:lnSpc>
                <a:spcPct val="95000"/>
              </a:lnSpc>
              <a:spcBef>
                <a:spcPts val="600"/>
              </a:spcBef>
            </a:pPr>
            <a:r>
              <a:rPr sz="1200" b="0">
                <a:solidFill>
                  <a:srgbClr val="595F67"/>
                </a:solidFill>
                <a:latin typeface="Poppins"/>
              </a:rPr>
              <a:t>Optional: test sets, graders and one change per run</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646240"/>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Advanced Copilot Studio Agents</a:t>
            </a:r>
            <a:endParaRPr lang="en-US" sz="3700" dirty="0"/>
          </a:p>
        </p:txBody>
      </p:sp>
      <p:sp>
        <p:nvSpPr>
          <p:cNvPr id="4" name="Text 1"/>
          <p:cNvSpPr/>
          <p:nvPr/>
        </p:nvSpPr>
        <p:spPr>
          <a:xfrm>
            <a:off x="609600" y="2801735"/>
            <a:ext cx="4824773" cy="696922"/>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Agents that run on their own and work with other agents</a:t>
            </a:r>
            <a:endParaRPr lang="en-US" sz="1450" dirty="0"/>
          </a:p>
        </p:txBody>
      </p:sp>
      <p:sp>
        <p:nvSpPr>
          <p:cNvPr id="5" name="Text 2"/>
          <p:cNvSpPr/>
          <p:nvPr/>
        </p:nvSpPr>
        <p:spPr>
          <a:xfrm>
            <a:off x="609600" y="3727257"/>
            <a:ext cx="4824773" cy="1984474"/>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On its own</a:t>
            </a:r>
            <a:r>
              <a:rPr lang="en-US" sz="1400" dirty="0">
                <a:solidFill>
                  <a:srgbClr val="1B365D"/>
                </a:solidFill>
                <a:latin typeface="Poppins" pitchFamily="34" charset="0"/>
                <a:ea typeface="Poppins" pitchFamily="34" charset="-122"/>
                <a:cs typeface="Poppins" pitchFamily="34" charset="0"/>
              </a:rPr>
              <a:t>: an event starts the agent, with nobody in the chat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With other agents</a:t>
            </a:r>
            <a:r>
              <a:rPr lang="en-US" sz="1400" dirty="0">
                <a:solidFill>
                  <a:srgbClr val="1B365D"/>
                </a:solidFill>
                <a:latin typeface="Poppins" pitchFamily="34" charset="0"/>
                <a:ea typeface="Poppins" pitchFamily="34" charset="-122"/>
                <a:cs typeface="Poppins" pitchFamily="34" charset="0"/>
              </a:rPr>
              <a:t>: one front door routes work to child, connected and Microsoft Foundry agents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Harder problems</a:t>
            </a:r>
            <a:r>
              <a:rPr lang="en-US" sz="1400" dirty="0">
                <a:solidFill>
                  <a:srgbClr val="1B365D"/>
                </a:solidFill>
                <a:latin typeface="Poppins" pitchFamily="34" charset="0"/>
                <a:ea typeface="Poppins" pitchFamily="34" charset="-122"/>
                <a:cs typeface="Poppins" pitchFamily="34" charset="0"/>
              </a:rPr>
              <a:t>: deep reasoning for the one step that has to weigh several rules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Overview</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Seven topics in delivery order</a:t>
            </a:r>
            <a:endParaRPr lang="en-US" sz="1450" dirty="0"/>
          </a:p>
        </p:txBody>
      </p:sp>
      <p:sp>
        <p:nvSpPr>
          <p:cNvPr id="4" name="Text 2"/>
          <p:cNvSpPr/>
          <p:nvPr/>
        </p:nvSpPr>
        <p:spPr>
          <a:xfrm>
            <a:off x="609600" y="2910420"/>
            <a:ext cx="4575839" cy="291683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Start with an agent that </a:t>
            </a:r>
            <a:r>
              <a:rPr lang="en-US" sz="1400" b="1" dirty="0">
                <a:solidFill>
                  <a:srgbClr val="1B365D"/>
                </a:solidFill>
                <a:latin typeface="Poppins Bold" pitchFamily="34" charset="0"/>
                <a:ea typeface="Poppins Bold" pitchFamily="34" charset="-122"/>
                <a:cs typeface="Poppins Bold" pitchFamily="34" charset="0"/>
              </a:rPr>
              <a:t>wakes on an event</a:t>
            </a:r>
            <a:r>
              <a:rPr lang="en-US" sz="1400" dirty="0">
                <a:solidFill>
                  <a:srgbClr val="1B365D"/>
                </a:solidFill>
                <a:latin typeface="Poppins" pitchFamily="34" charset="0"/>
                <a:ea typeface="Poppins" pitchFamily="34" charset="-122"/>
                <a:cs typeface="Poppins" pitchFamily="34" charset="0"/>
              </a:rPr>
              <a:t> and answers by mail</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Give one hard step a </a:t>
            </a:r>
            <a:r>
              <a:rPr lang="en-US" sz="1400" b="1" dirty="0">
                <a:solidFill>
                  <a:srgbClr val="1B365D"/>
                </a:solidFill>
                <a:latin typeface="Poppins Bold" pitchFamily="34" charset="0"/>
                <a:ea typeface="Poppins Bold" pitchFamily="34" charset="-122"/>
                <a:cs typeface="Poppins Bold" pitchFamily="34" charset="0"/>
              </a:rPr>
              <a:t>deep reasoning</a:t>
            </a:r>
            <a:r>
              <a:rPr lang="en-US" sz="1400" dirty="0">
                <a:solidFill>
                  <a:srgbClr val="1B365D"/>
                </a:solidFill>
                <a:latin typeface="Poppins" pitchFamily="34" charset="0"/>
                <a:ea typeface="Poppins" pitchFamily="34" charset="-122"/>
                <a:cs typeface="Poppins" pitchFamily="34" charset="0"/>
              </a:rPr>
              <a:t> model with the </a:t>
            </a:r>
            <a:r>
              <a:rPr lang="en-US" sz="1400" dirty="0">
                <a:solidFill>
                  <a:srgbClr val="1B365D"/>
                </a:solidFill>
                <a:highlight>
                  <a:srgbClr val="F2F2F2"/>
                </a:highlight>
                <a:latin typeface="Consolas" pitchFamily="34" charset="0"/>
                <a:ea typeface="Consolas" pitchFamily="34" charset="-122"/>
                <a:cs typeface="Consolas" pitchFamily="34" charset="0"/>
              </a:rPr>
              <a:t>reason</a:t>
            </a:r>
            <a:r>
              <a:rPr lang="en-US" sz="1400" dirty="0">
                <a:solidFill>
                  <a:srgbClr val="1B365D"/>
                </a:solidFill>
                <a:latin typeface="Poppins" pitchFamily="34" charset="0"/>
                <a:ea typeface="Poppins" pitchFamily="34" charset="-122"/>
                <a:cs typeface="Poppins" pitchFamily="34" charset="0"/>
              </a:rPr>
              <a:t> keyword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Route work to </a:t>
            </a:r>
            <a:r>
              <a:rPr lang="en-US" sz="1400" b="1" dirty="0">
                <a:solidFill>
                  <a:srgbClr val="1B365D"/>
                </a:solidFill>
                <a:latin typeface="Poppins Bold" pitchFamily="34" charset="0"/>
                <a:ea typeface="Poppins Bold" pitchFamily="34" charset="-122"/>
                <a:cs typeface="Poppins Bold" pitchFamily="34" charset="0"/>
              </a:rPr>
              <a:t>child and connected agents</a:t>
            </a:r>
            <a:r>
              <a:rPr lang="en-US" sz="1400" dirty="0">
                <a:solidFill>
                  <a:srgbClr val="1B365D"/>
                </a:solidFill>
                <a:latin typeface="Poppins" pitchFamily="34" charset="0"/>
                <a:ea typeface="Poppins" pitchFamily="34" charset="-122"/>
                <a:cs typeface="Poppins" pitchFamily="34" charset="0"/>
              </a:rPr>
              <a:t> through generative orchestration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Bring in </a:t>
            </a:r>
            <a:r>
              <a:rPr lang="en-US" sz="1400" b="1" dirty="0">
                <a:solidFill>
                  <a:srgbClr val="1B365D"/>
                </a:solidFill>
                <a:latin typeface="Poppins Bold" pitchFamily="34" charset="0"/>
                <a:ea typeface="Poppins Bold" pitchFamily="34" charset="-122"/>
                <a:cs typeface="Poppins Bold" pitchFamily="34" charset="0"/>
              </a:rPr>
              <a:t>Microsoft Foundry</a:t>
            </a:r>
            <a:r>
              <a:rPr lang="en-US" sz="1400" dirty="0">
                <a:solidFill>
                  <a:srgbClr val="1B365D"/>
                </a:solidFill>
                <a:latin typeface="Poppins" pitchFamily="34" charset="0"/>
                <a:ea typeface="Poppins" pitchFamily="34" charset="-122"/>
                <a:cs typeface="Poppins" pitchFamily="34" charset="0"/>
              </a:rPr>
              <a:t> agents that developers build and own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Optional: </a:t>
            </a:r>
            <a:r>
              <a:rPr lang="en-US" sz="1400" b="1" dirty="0">
                <a:solidFill>
                  <a:srgbClr val="1B365D"/>
                </a:solidFill>
                <a:latin typeface="Poppins Bold" pitchFamily="34" charset="0"/>
                <a:ea typeface="Poppins Bold" pitchFamily="34" charset="-122"/>
                <a:cs typeface="Poppins Bold" pitchFamily="34" charset="0"/>
              </a:rPr>
              <a:t>voice</a:t>
            </a:r>
            <a:r>
              <a:rPr lang="en-US" sz="1400" dirty="0">
                <a:solidFill>
                  <a:srgbClr val="1B365D"/>
                </a:solidFill>
                <a:latin typeface="Poppins" pitchFamily="34" charset="0"/>
                <a:ea typeface="Poppins" pitchFamily="34" charset="-122"/>
                <a:cs typeface="Poppins" pitchFamily="34" charset="0"/>
              </a:rPr>
              <a:t> menus on the phone and </a:t>
            </a:r>
            <a:r>
              <a:rPr lang="en-US" sz="1400" b="1" dirty="0">
                <a:solidFill>
                  <a:srgbClr val="1B365D"/>
                </a:solidFill>
                <a:latin typeface="Poppins Bold" pitchFamily="34" charset="0"/>
                <a:ea typeface="Poppins Bold" pitchFamily="34" charset="-122"/>
                <a:cs typeface="Poppins Bold" pitchFamily="34" charset="0"/>
              </a:rPr>
              <a:t>test sets</a:t>
            </a:r>
            <a:r>
              <a:rPr lang="en-US" sz="1400" dirty="0">
                <a:solidFill>
                  <a:srgbClr val="1B365D"/>
                </a:solidFill>
                <a:latin typeface="Poppins" pitchFamily="34" charset="0"/>
                <a:ea typeface="Poppins" pitchFamily="34" charset="-122"/>
                <a:cs typeface="Poppins" pitchFamily="34" charset="0"/>
              </a:rPr>
              <a:t> that grade the agent</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Autonomous Agents &amp; Event Triggers</a:t>
            </a:r>
          </a:p>
          <a:p>
            <a:pPr>
              <a:lnSpc>
                <a:spcPct val="95000"/>
              </a:lnSpc>
              <a:spcBef>
                <a:spcPts val="1400"/>
              </a:spcBef>
            </a:pPr>
            <a:r>
              <a:rPr sz="2000" b="0">
                <a:solidFill>
                  <a:srgbClr val="595F67"/>
                </a:solidFill>
                <a:latin typeface="Poppins"/>
              </a:rPr>
              <a:t>Event triggers, unattended runs and a shared returns mailbox</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Autonomous agents and triggers</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A trigger is a Power Automate flow that prompts the agent</a:t>
            </a:r>
            <a:endParaRPr lang="en-US" sz="1450" dirty="0"/>
          </a:p>
        </p:txBody>
      </p:sp>
      <p:sp>
        <p:nvSpPr>
          <p:cNvPr id="4" name="Text 2"/>
          <p:cNvSpPr/>
          <p:nvPr/>
        </p:nvSpPr>
        <p:spPr>
          <a:xfrm>
            <a:off x="609600" y="3035229"/>
            <a:ext cx="4575839" cy="337363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An </a:t>
            </a:r>
            <a:r>
              <a:rPr lang="en-US" sz="1400" b="1" dirty="0">
                <a:solidFill>
                  <a:srgbClr val="1B365D"/>
                </a:solidFill>
                <a:latin typeface="Poppins Bold" pitchFamily="34" charset="0"/>
                <a:ea typeface="Poppins Bold" pitchFamily="34" charset="-122"/>
                <a:cs typeface="Poppins Bold" pitchFamily="34" charset="0"/>
              </a:rPr>
              <a:t>event trigger</a:t>
            </a:r>
            <a:r>
              <a:rPr lang="en-US" sz="1400" dirty="0">
                <a:solidFill>
                  <a:srgbClr val="1B365D"/>
                </a:solidFill>
                <a:latin typeface="Poppins" pitchFamily="34" charset="0"/>
                <a:ea typeface="Poppins" pitchFamily="34" charset="-122"/>
                <a:cs typeface="Poppins" pitchFamily="34" charset="0"/>
              </a:rPr>
              <a:t> fires when something happens in another system, not when a user types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It sends the agent a </a:t>
            </a:r>
            <a:r>
              <a:rPr lang="en-US" sz="1400" b="1" dirty="0">
                <a:solidFill>
                  <a:srgbClr val="1B365D"/>
                </a:solidFill>
                <a:latin typeface="Poppins Bold" pitchFamily="34" charset="0"/>
                <a:ea typeface="Poppins Bold" pitchFamily="34" charset="-122"/>
                <a:cs typeface="Poppins Bold" pitchFamily="34" charset="0"/>
              </a:rPr>
              <a:t>payload</a:t>
            </a:r>
            <a:r>
              <a:rPr lang="en-US" sz="1400" dirty="0">
                <a:solidFill>
                  <a:srgbClr val="1B365D"/>
                </a:solidFill>
                <a:latin typeface="Poppins" pitchFamily="34" charset="0"/>
                <a:ea typeface="Poppins" pitchFamily="34" charset="-122"/>
                <a:cs typeface="Poppins" pitchFamily="34" charset="0"/>
              </a:rPr>
              <a:t> with the event's data, and the instructions decide which tools run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Behind every trigger sits a small </a:t>
            </a:r>
            <a:r>
              <a:rPr lang="en-US" sz="1400" b="1" dirty="0">
                <a:solidFill>
                  <a:srgbClr val="1B365D"/>
                </a:solidFill>
                <a:latin typeface="Poppins Bold" pitchFamily="34" charset="0"/>
                <a:ea typeface="Poppins Bold" pitchFamily="34" charset="-122"/>
                <a:cs typeface="Poppins Bold" pitchFamily="34" charset="0"/>
              </a:rPr>
              <a:t>Power Automate flow</a:t>
            </a:r>
            <a:r>
              <a:rPr lang="en-US" sz="1400" dirty="0">
                <a:solidFill>
                  <a:srgbClr val="1B365D"/>
                </a:solidFill>
                <a:latin typeface="Poppins" pitchFamily="34" charset="0"/>
                <a:ea typeface="Poppins" pitchFamily="34" charset="-122"/>
                <a:cs typeface="Poppins" pitchFamily="34" charset="0"/>
              </a:rPr>
              <a:t> that sends the agent a prompt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In the lab, a resume PDF in SharePoint becomes an employee record through the </a:t>
            </a:r>
            <a:r>
              <a:rPr lang="en-US" sz="1400" b="1" dirty="0">
                <a:solidFill>
                  <a:srgbClr val="1B365D"/>
                </a:solidFill>
                <a:latin typeface="Poppins Bold" pitchFamily="34" charset="0"/>
                <a:ea typeface="Poppins Bold" pitchFamily="34" charset="-122"/>
                <a:cs typeface="Poppins Bold" pitchFamily="34" charset="0"/>
              </a:rPr>
              <a:t>HR MCP server</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147003"/>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CS-Returns Agent on a shared mailbox</a:t>
            </a:r>
            <a:endParaRPr lang="en-US" sz="3700" dirty="0"/>
          </a:p>
        </p:txBody>
      </p:sp>
      <p:sp>
        <p:nvSpPr>
          <p:cNvPr id="4" name="Text 1"/>
          <p:cNvSpPr/>
          <p:nvPr/>
        </p:nvSpPr>
        <p:spPr>
          <a:xfrm>
            <a:off x="609600" y="2302498"/>
            <a:ext cx="5181449" cy="696922"/>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Every new return request gets an answer by mail</a:t>
            </a:r>
            <a:endParaRPr lang="en-US" sz="1450" dirty="0"/>
          </a:p>
        </p:txBody>
      </p:sp>
      <p:sp>
        <p:nvSpPr>
          <p:cNvPr id="5" name="Text 2"/>
          <p:cNvSpPr/>
          <p:nvPr/>
        </p:nvSpPr>
        <p:spPr>
          <a:xfrm>
            <a:off x="609600" y="3228020"/>
            <a:ext cx="4824773" cy="318144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Instructions</a:t>
            </a:r>
            <a:r>
              <a:rPr lang="en-US" sz="1400" dirty="0">
                <a:solidFill>
                  <a:srgbClr val="1B365D"/>
                </a:solidFill>
                <a:latin typeface="Poppins" pitchFamily="34" charset="0"/>
                <a:ea typeface="Poppins" pitchFamily="34" charset="-122"/>
                <a:cs typeface="Poppins" pitchFamily="34" charset="0"/>
              </a:rPr>
              <a:t> limit the agent to returns and set the reply format: an email with </a:t>
            </a:r>
            <a:r>
              <a:rPr lang="en-US" sz="1400" dirty="0">
                <a:solidFill>
                  <a:srgbClr val="1B365D"/>
                </a:solidFill>
                <a:highlight>
                  <a:srgbClr val="F2F2F2"/>
                </a:highlight>
                <a:latin typeface="Consolas" pitchFamily="34" charset="0"/>
                <a:ea typeface="Consolas" pitchFamily="34" charset="-122"/>
                <a:cs typeface="Consolas" pitchFamily="34" charset="0"/>
              </a:rPr>
              <a:t>&lt;p&gt;</a:t>
            </a:r>
            <a:r>
              <a:rPr lang="en-US" sz="1400" dirty="0">
                <a:solidFill>
                  <a:srgbClr val="1B365D"/>
                </a:solidFill>
                <a:latin typeface="Poppins" pitchFamily="34" charset="0"/>
                <a:ea typeface="Poppins" pitchFamily="34" charset="-122"/>
                <a:cs typeface="Poppins" pitchFamily="34" charset="0"/>
              </a:rPr>
              <a:t> and </a:t>
            </a:r>
            <a:r>
              <a:rPr lang="en-US" sz="1400" dirty="0">
                <a:solidFill>
                  <a:srgbClr val="1B365D"/>
                </a:solidFill>
                <a:highlight>
                  <a:srgbClr val="F2F2F2"/>
                </a:highlight>
                <a:latin typeface="Consolas" pitchFamily="34" charset="0"/>
                <a:ea typeface="Consolas" pitchFamily="34" charset="-122"/>
                <a:cs typeface="Consolas" pitchFamily="34" charset="0"/>
              </a:rPr>
              <a:t>&lt;br&gt;</a:t>
            </a:r>
            <a:r>
              <a:rPr lang="en-US" sz="1400" dirty="0">
                <a:solidFill>
                  <a:srgbClr val="1B365D"/>
                </a:solidFill>
                <a:latin typeface="Poppins" pitchFamily="34" charset="0"/>
                <a:ea typeface="Poppins" pitchFamily="34" charset="-122"/>
                <a:cs typeface="Poppins" pitchFamily="34" charset="0"/>
              </a:rPr>
              <a:t> tags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returns-policy.docx</a:t>
            </a:r>
            <a:r>
              <a:rPr lang="en-US" sz="1400" dirty="0">
                <a:solidFill>
                  <a:srgbClr val="1B365D"/>
                </a:solidFill>
                <a:latin typeface="Poppins" pitchFamily="34" charset="0"/>
                <a:ea typeface="Poppins" pitchFamily="34" charset="-122"/>
                <a:cs typeface="Poppins" pitchFamily="34" charset="0"/>
              </a:rPr>
              <a:t> from SharePoint is its only knowledge source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CS-Work IQ Mail</a:t>
            </a:r>
            <a:r>
              <a:rPr lang="en-US" sz="1400" dirty="0">
                <a:solidFill>
                  <a:srgbClr val="1B365D"/>
                </a:solidFill>
                <a:latin typeface="Poppins" pitchFamily="34" charset="0"/>
                <a:ea typeface="Poppins" pitchFamily="34" charset="-122"/>
                <a:cs typeface="Poppins" pitchFamily="34" charset="0"/>
              </a:rPr>
              <a:t> runs on maker-provided credentials, because no user is there to sign in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One sentence names the tool: "Send that email to the customer with CS-Work IQ Mail."</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CS-When a new email arrives in a shared mailbox</a:t>
            </a:r>
            <a:r>
              <a:rPr lang="en-US" sz="1400" dirty="0">
                <a:solidFill>
                  <a:srgbClr val="1B365D"/>
                </a:solidFill>
                <a:latin typeface="Poppins" pitchFamily="34" charset="0"/>
                <a:ea typeface="Poppins" pitchFamily="34" charset="-122"/>
                <a:cs typeface="Poppins" pitchFamily="34" charset="0"/>
              </a:rPr>
              <a:t> hands every new email to the agent</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Testing and publishing the trigger</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Replay a recorded email first, then let the agent work alone</a:t>
            </a:r>
            <a:endParaRPr lang="en-US" sz="1450" dirty="0"/>
          </a:p>
        </p:txBody>
      </p:sp>
      <p:sp>
        <p:nvSpPr>
          <p:cNvPr id="4" name="Text 2"/>
          <p:cNvSpPr/>
          <p:nvPr/>
        </p:nvSpPr>
        <p:spPr>
          <a:xfrm>
            <a:off x="609600" y="2910420"/>
            <a:ext cx="4575839" cy="28444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Before you publish, the trigger records each email but its flow run stops at the agent call</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test icon replays a recorded email: </a:t>
            </a:r>
            <a:r>
              <a:rPr lang="en-US" sz="1400" b="1" dirty="0">
                <a:solidFill>
                  <a:srgbClr val="1B365D"/>
                </a:solidFill>
                <a:latin typeface="Poppins Bold" pitchFamily="34" charset="0"/>
                <a:ea typeface="Poppins Bold" pitchFamily="34" charset="-122"/>
                <a:cs typeface="Poppins Bold" pitchFamily="34" charset="0"/>
              </a:rPr>
              <a:t>Trigger detected</a:t>
            </a:r>
            <a:r>
              <a:rPr lang="en-US" sz="1400" dirty="0">
                <a:solidFill>
                  <a:srgbClr val="1B365D"/>
                </a:solidFill>
                <a:latin typeface="Poppins" pitchFamily="34" charset="0"/>
                <a:ea typeface="Poppins" pitchFamily="34" charset="-122"/>
                <a:cs typeface="Poppins" pitchFamily="34" charset="0"/>
              </a:rPr>
              <a:t>, then </a:t>
            </a:r>
            <a:r>
              <a:rPr lang="en-US" sz="1400" b="1" dirty="0">
                <a:solidFill>
                  <a:srgbClr val="1B365D"/>
                </a:solidFill>
                <a:latin typeface="Poppins Bold" pitchFamily="34" charset="0"/>
                <a:ea typeface="Poppins Bold" pitchFamily="34" charset="-122"/>
                <a:cs typeface="Poppins Bold" pitchFamily="34" charset="0"/>
              </a:rPr>
              <a:t>Email sent</a:t>
            </a:r>
            <a:r>
              <a:rPr lang="en-US" sz="1400" dirty="0">
                <a:solidFill>
                  <a:srgbClr val="1B365D"/>
                </a:solidFill>
                <a:latin typeface="Poppins" pitchFamily="34" charset="0"/>
                <a:ea typeface="Poppins" pitchFamily="34" charset="-122"/>
                <a:cs typeface="Poppins" pitchFamily="34" charset="0"/>
              </a:rPr>
              <a:t> citing returns-policy.docx</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Publish</a:t>
            </a:r>
            <a:r>
              <a:rPr lang="en-US" sz="1400" dirty="0">
                <a:solidFill>
                  <a:srgbClr val="1B365D"/>
                </a:solidFill>
                <a:latin typeface="Poppins" pitchFamily="34" charset="0"/>
                <a:ea typeface="Poppins" pitchFamily="34" charset="-122"/>
                <a:cs typeface="Poppins" pitchFamily="34" charset="0"/>
              </a:rPr>
              <a:t> lists two items to review: Full Access for Editors and triggers that use the author's credentials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After publishing, every run appears as an </a:t>
            </a:r>
            <a:r>
              <a:rPr lang="en-US" sz="1400" b="1" dirty="0">
                <a:solidFill>
                  <a:srgbClr val="1B365D"/>
                </a:solidFill>
                <a:latin typeface="Poppins Bold" pitchFamily="34" charset="0"/>
                <a:ea typeface="Poppins Bold" pitchFamily="34" charset="-122"/>
                <a:cs typeface="Poppins Bold" pitchFamily="34" charset="0"/>
              </a:rPr>
              <a:t>Automated</a:t>
            </a:r>
            <a:r>
              <a:rPr lang="en-US" sz="1400" dirty="0">
                <a:solidFill>
                  <a:srgbClr val="1B365D"/>
                </a:solidFill>
                <a:latin typeface="Poppins" pitchFamily="34" charset="0"/>
                <a:ea typeface="Poppins" pitchFamily="34" charset="-122"/>
                <a:cs typeface="Poppins" pitchFamily="34" charset="0"/>
              </a:rPr>
              <a:t> row on the Activity page</a:t>
            </a:r>
            <a:endParaRPr lang="en-US" sz="1450" dirty="0"/>
          </a:p>
        </p:txBody>
      </p:sp>
      <p:pic>
        <p:nvPicPr>
          <p:cNvPr id="5" name="Image 0" descr="preencoded.png"/>
          <p:cNvPicPr>
            <a:picLocks noChangeAspect="1"/>
          </p:cNvPicPr>
          <p:nvPr/>
        </p:nvPicPr>
        <p:blipFill>
          <a:blip r:embed="rId3"/>
          <a:stretch>
            <a:fillRect/>
          </a:stretch>
        </p:blipFill>
        <p:spPr>
          <a:xfrm>
            <a:off x="5652946" y="3021608"/>
            <a:ext cx="3016175" cy="2260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Deep Reasoning Models</a:t>
            </a:r>
          </a:p>
          <a:p>
            <a:pPr>
              <a:lnSpc>
                <a:spcPct val="95000"/>
              </a:lnSpc>
              <a:spcBef>
                <a:spcPts val="1400"/>
              </a:spcBef>
            </a:pPr>
            <a:r>
              <a:rPr sz="2000" b="0">
                <a:solidFill>
                  <a:srgbClr val="595F67"/>
                </a:solidFill>
                <a:latin typeface="Poppins"/>
              </a:rPr>
              <a:t>The reason keyword on the one step that weighs the rules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Deep reasoning and the reason keyword</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Only the step that carries the keyword runs on the reasoning model</a:t>
            </a:r>
            <a:endParaRPr lang="en-US" sz="1450" dirty="0"/>
          </a:p>
        </p:txBody>
      </p:sp>
      <p:sp>
        <p:nvSpPr>
          <p:cNvPr id="4" name="Text 2"/>
          <p:cNvSpPr/>
          <p:nvPr/>
        </p:nvSpPr>
        <p:spPr>
          <a:xfrm>
            <a:off x="609600" y="3035229"/>
            <a:ext cx="4575839" cy="285075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Deep reasoning (preview)</a:t>
            </a:r>
            <a:r>
              <a:rPr lang="en-US" sz="1400" dirty="0">
                <a:solidFill>
                  <a:srgbClr val="1B365D"/>
                </a:solidFill>
                <a:latin typeface="Poppins" pitchFamily="34" charset="0"/>
                <a:ea typeface="Poppins" pitchFamily="34" charset="-122"/>
                <a:cs typeface="Poppins" pitchFamily="34" charset="0"/>
              </a:rPr>
              <a:t> is a switch in the agent's Settings and needs generative orchestration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keyword </a:t>
            </a:r>
            <a:r>
              <a:rPr lang="en-US" sz="1400" dirty="0">
                <a:solidFill>
                  <a:srgbClr val="1B365D"/>
                </a:solidFill>
                <a:highlight>
                  <a:srgbClr val="F2F2F2"/>
                </a:highlight>
                <a:latin typeface="Consolas" pitchFamily="34" charset="0"/>
                <a:ea typeface="Consolas" pitchFamily="34" charset="-122"/>
                <a:cs typeface="Consolas" pitchFamily="34" charset="0"/>
              </a:rPr>
              <a:t>reason</a:t>
            </a:r>
            <a:r>
              <a:rPr lang="en-US" sz="1400" dirty="0">
                <a:solidFill>
                  <a:srgbClr val="1B365D"/>
                </a:solidFill>
                <a:latin typeface="Poppins" pitchFamily="34" charset="0"/>
                <a:ea typeface="Poppins" pitchFamily="34" charset="-122"/>
                <a:cs typeface="Poppins" pitchFamily="34" charset="0"/>
              </a:rPr>
              <a:t> in an instruction step forces the reasoning model for </a:t>
            </a:r>
            <a:r>
              <a:rPr lang="en-US" sz="1400" b="1" dirty="0">
                <a:solidFill>
                  <a:srgbClr val="1B365D"/>
                </a:solidFill>
                <a:latin typeface="Poppins Bold" pitchFamily="34" charset="0"/>
                <a:ea typeface="Poppins Bold" pitchFamily="34" charset="-122"/>
                <a:cs typeface="Poppins Bold" pitchFamily="34" charset="0"/>
              </a:rPr>
              <a:t>that step only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Learn's deep reasoning article names </a:t>
            </a:r>
            <a:r>
              <a:rPr lang="en-US" sz="1400" b="1" dirty="0">
                <a:solidFill>
                  <a:srgbClr val="1B365D"/>
                </a:solidFill>
                <a:latin typeface="Poppins Bold" pitchFamily="34" charset="0"/>
                <a:ea typeface="Poppins Bold" pitchFamily="34" charset="-122"/>
                <a:cs typeface="Poppins Bold" pitchFamily="34" charset="0"/>
              </a:rPr>
              <a:t>Azure OpenAI o3</a:t>
            </a:r>
            <a:r>
              <a:rPr lang="en-US" sz="1400" dirty="0">
                <a:solidFill>
                  <a:srgbClr val="1B365D"/>
                </a:solidFill>
                <a:latin typeface="Poppins" pitchFamily="34" charset="0"/>
                <a:ea typeface="Poppins" pitchFamily="34" charset="-122"/>
                <a:cs typeface="Poppins" pitchFamily="34" charset="0"/>
              </a:rPr>
              <a:t> for the reasoning steps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activity map</a:t>
            </a:r>
            <a:r>
              <a:rPr lang="en-US" sz="1400" dirty="0">
                <a:solidFill>
                  <a:srgbClr val="1B365D"/>
                </a:solidFill>
                <a:latin typeface="Poppins" pitchFamily="34" charset="0"/>
                <a:ea typeface="Poppins" pitchFamily="34" charset="-122"/>
                <a:cs typeface="Poppins" pitchFamily="34" charset="0"/>
              </a:rPr>
              <a:t> shows a deep reasoning node wherever the model ran</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9549452"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Ordering a ticket backlog</a:t>
            </a:r>
            <a:endParaRPr lang="en-US" sz="2750" dirty="0"/>
          </a:p>
        </p:txBody>
      </p:sp>
      <p:sp>
        <p:nvSpPr>
          <p:cNvPr id="3" name="Text 1"/>
          <p:cNvSpPr/>
          <p:nvPr/>
        </p:nvSpPr>
        <p:spPr>
          <a:xfrm>
            <a:off x="609600" y="1100568"/>
            <a:ext cx="10159036"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The same nine tickets on the default model and with reason on step 4</a:t>
            </a:r>
            <a:endParaRPr lang="en-US" sz="1100" dirty="0"/>
          </a:p>
        </p:txBody>
      </p:sp>
      <p:pic>
        <p:nvPicPr>
          <p:cNvPr id="4" name="Image 0" descr="preencoded.png"/>
          <p:cNvPicPr>
            <a:picLocks noChangeAspect="1"/>
          </p:cNvPicPr>
          <p:nvPr/>
        </p:nvPicPr>
        <p:blipFill>
          <a:blip r:embed="rId3"/>
          <a:stretch>
            <a:fillRect/>
          </a:stretch>
        </p:blipFill>
        <p:spPr>
          <a:xfrm>
            <a:off x="2032644" y="1469529"/>
            <a:ext cx="8126408" cy="4571206"/>
          </a:xfrm>
          <a:prstGeom prst="rect">
            <a:avLst/>
          </a:prstGeom>
        </p:spPr>
      </p:pic>
      <p:sp>
        <p:nvSpPr>
          <p:cNvPr id="5" name="Text 2"/>
          <p:cNvSpPr/>
          <p:nvPr/>
        </p:nvSpPr>
        <p:spPr>
          <a:xfrm>
            <a:off x="609600" y="6200070"/>
            <a:ext cx="10159036" cy="204093"/>
          </a:xfrm>
          <a:prstGeom prst="rect">
            <a:avLst/>
          </a:prstGeom>
          <a:noFill/>
          <a:ln/>
        </p:spPr>
        <p:txBody>
          <a:bodyPr wrap="none" lIns="0" tIns="0" rIns="0" bIns="0" rtlCol="0" anchor="t"/>
          <a:lstStyle/>
          <a:p>
            <a:pPr marL="223520" indent="-223520" algn="l">
              <a:lnSpc>
                <a:spcPct val="117000"/>
              </a:lnSpc>
              <a:buSzPct val="100000"/>
              <a:buChar char="•"/>
            </a:pPr>
            <a:r>
              <a:rPr lang="en-US" sz="1100" dirty="0">
                <a:solidFill>
                  <a:srgbClr val="1B365D"/>
                </a:solidFill>
                <a:latin typeface="Poppins" pitchFamily="34" charset="0"/>
                <a:ea typeface="Poppins" pitchFamily="34" charset="-122"/>
                <a:cs typeface="Poppins" pitchFamily="34" charset="0"/>
              </a:rPr>
              <a:t>With </a:t>
            </a:r>
            <a:r>
              <a:rPr lang="en-US" sz="1100" dirty="0">
                <a:solidFill>
                  <a:srgbClr val="1B365D"/>
                </a:solidFill>
                <a:highlight>
                  <a:srgbClr val="F2F2F2"/>
                </a:highlight>
                <a:latin typeface="Consolas" pitchFamily="34" charset="0"/>
                <a:ea typeface="Consolas" pitchFamily="34" charset="-122"/>
                <a:cs typeface="Consolas" pitchFamily="34" charset="0"/>
              </a:rPr>
              <a:t>reason</a:t>
            </a:r>
            <a:r>
              <a:rPr lang="en-US" sz="1100" dirty="0">
                <a:solidFill>
                  <a:srgbClr val="1B365D"/>
                </a:solidFill>
                <a:latin typeface="Poppins" pitchFamily="34" charset="0"/>
                <a:ea typeface="Poppins" pitchFamily="34" charset="-122"/>
                <a:cs typeface="Poppins" pitchFamily="34" charset="0"/>
              </a:rPr>
              <a:t> on the ranking step, T-109 comes first as overdue, T-103 rises to P2 and T-107 stays at P3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Generative Orchestration &amp; Multi-Agent Routing</a:t>
            </a:r>
          </a:p>
          <a:p>
            <a:pPr>
              <a:lnSpc>
                <a:spcPct val="95000"/>
              </a:lnSpc>
              <a:spcBef>
                <a:spcPts val="1400"/>
              </a:spcBef>
            </a:pPr>
            <a:r>
              <a:rPr sz="2000" b="0">
                <a:solidFill>
                  <a:srgbClr val="595F67"/>
                </a:solidFill>
                <a:latin typeface="Poppins"/>
              </a:rPr>
              <a:t>The planner, child agents and connected agents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Generative orchestration</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How the planner turns a request into a multi-step plan</a:t>
            </a:r>
            <a:endParaRPr lang="en-US" sz="1450" dirty="0"/>
          </a:p>
        </p:txBody>
      </p:sp>
      <p:sp>
        <p:nvSpPr>
          <p:cNvPr id="4" name="Text 2"/>
          <p:cNvSpPr/>
          <p:nvPr/>
        </p:nvSpPr>
        <p:spPr>
          <a:xfrm>
            <a:off x="609600" y="3160039"/>
            <a:ext cx="4575839"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planner reads a request and picks </a:t>
            </a:r>
            <a:r>
              <a:rPr lang="en-US" sz="1400" b="1" dirty="0">
                <a:solidFill>
                  <a:srgbClr val="1B365D"/>
                </a:solidFill>
                <a:latin typeface="Poppins Bold" pitchFamily="34" charset="0"/>
                <a:ea typeface="Poppins Bold" pitchFamily="34" charset="-122"/>
                <a:cs typeface="Poppins Bold" pitchFamily="34" charset="0"/>
              </a:rPr>
              <a:t>topics, tools, knowledge and other agents</a:t>
            </a:r>
            <a:r>
              <a:rPr lang="en-US" sz="1400" dirty="0">
                <a:solidFill>
                  <a:srgbClr val="1B365D"/>
                </a:solidFill>
                <a:latin typeface="Poppins" pitchFamily="34" charset="0"/>
                <a:ea typeface="Poppins" pitchFamily="34" charset="-122"/>
                <a:cs typeface="Poppins" pitchFamily="34" charset="0"/>
              </a:rPr>
              <a:t> to answer it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description</a:t>
            </a:r>
            <a:r>
              <a:rPr lang="en-US" sz="1400" dirty="0">
                <a:solidFill>
                  <a:srgbClr val="1B365D"/>
                </a:solidFill>
                <a:latin typeface="Poppins" pitchFamily="34" charset="0"/>
                <a:ea typeface="Poppins" pitchFamily="34" charset="-122"/>
                <a:cs typeface="Poppins" pitchFamily="34" charset="0"/>
              </a:rPr>
              <a:t> weighs most in that choice, then the name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One plan can chain </a:t>
            </a:r>
            <a:r>
              <a:rPr lang="en-US" sz="1400" b="1" dirty="0">
                <a:solidFill>
                  <a:srgbClr val="1B365D"/>
                </a:solidFill>
                <a:latin typeface="Poppins Bold" pitchFamily="34" charset="0"/>
                <a:ea typeface="Poppins Bold" pitchFamily="34" charset="-122"/>
                <a:cs typeface="Poppins Bold" pitchFamily="34" charset="0"/>
              </a:rPr>
              <a:t>several steps</a:t>
            </a:r>
            <a:r>
              <a:rPr lang="en-US" sz="1400" dirty="0">
                <a:solidFill>
                  <a:srgbClr val="1B365D"/>
                </a:solidFill>
                <a:latin typeface="Poppins" pitchFamily="34" charset="0"/>
                <a:ea typeface="Poppins" pitchFamily="34" charset="-122"/>
                <a:cs typeface="Poppins" pitchFamily="34" charset="0"/>
              </a:rPr>
              <a:t> and writes one reply from what they returned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Event triggers, deep reasoning and other agents all need </a:t>
            </a:r>
            <a:r>
              <a:rPr lang="en-US" sz="1400" b="1" dirty="0">
                <a:solidFill>
                  <a:srgbClr val="1B365D"/>
                </a:solidFill>
                <a:latin typeface="Poppins Bold" pitchFamily="34" charset="0"/>
                <a:ea typeface="Poppins Bold" pitchFamily="34" charset="-122"/>
                <a:cs typeface="Poppins Bold" pitchFamily="34" charset="0"/>
              </a:rPr>
              <a:t>generative orchestration</a:t>
            </a:r>
            <a:endParaRPr lang="en-US" sz="1450" dirty="0"/>
          </a:p>
        </p:txBody>
      </p:sp>
      <p:pic>
        <p:nvPicPr>
          <p:cNvPr id="5" name="Image 0" descr="preencoded.png"/>
          <p:cNvPicPr>
            <a:picLocks noChangeAspect="1"/>
          </p:cNvPicPr>
          <p:nvPr/>
        </p:nvPicPr>
        <p:blipFill>
          <a:blip r:embed="rId3"/>
          <a:stretch>
            <a:fillRect/>
          </a:stretch>
        </p:blipFill>
        <p:spPr>
          <a:xfrm>
            <a:off x="5652946" y="2497138"/>
            <a:ext cx="5883525" cy="330954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One front door for the travel specialists</a:t>
            </a:r>
            <a:endParaRPr lang="en-US" sz="3700" dirty="0"/>
          </a:p>
        </p:txBody>
      </p:sp>
      <p:sp>
        <p:nvSpPr>
          <p:cNvPr id="3" name="Text 1"/>
          <p:cNvSpPr/>
          <p:nvPr/>
        </p:nvSpPr>
        <p:spPr>
          <a:xfrm>
            <a:off x="609600" y="1100568"/>
            <a:ext cx="11176000"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CS-Business Travel Planner names a specialist for every request</a:t>
            </a:r>
            <a:endParaRPr lang="en-US" sz="1450" dirty="0"/>
          </a:p>
        </p:txBody>
      </p:sp>
      <p:sp>
        <p:nvSpPr>
          <p:cNvPr id="4" name="Text 2"/>
          <p:cNvSpPr/>
          <p:nvPr/>
        </p:nvSpPr>
        <p:spPr>
          <a:xfrm>
            <a:off x="609600" y="3160038"/>
            <a:ext cx="4575839" cy="285075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Three </a:t>
            </a:r>
            <a:r>
              <a:rPr lang="en-US" sz="1400" b="1" dirty="0">
                <a:solidFill>
                  <a:srgbClr val="1B365D"/>
                </a:solidFill>
                <a:latin typeface="Poppins Bold" pitchFamily="34" charset="0"/>
                <a:ea typeface="Poppins Bold" pitchFamily="34" charset="-122"/>
                <a:cs typeface="Poppins Bold" pitchFamily="34" charset="0"/>
              </a:rPr>
              <a:t>connected agents</a:t>
            </a:r>
            <a:r>
              <a:rPr lang="en-US" sz="1400" dirty="0">
                <a:solidFill>
                  <a:srgbClr val="1B365D"/>
                </a:solidFill>
                <a:latin typeface="Poppins" pitchFamily="34" charset="0"/>
                <a:ea typeface="Poppins" pitchFamily="34" charset="-122"/>
                <a:cs typeface="Poppins" pitchFamily="34" charset="0"/>
              </a:rPr>
              <a:t>: CS-Travel Agent, CS-Health Advisor and CS-Travel Expense Refund</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One </a:t>
            </a:r>
            <a:r>
              <a:rPr lang="en-US" sz="1400" b="1" dirty="0">
                <a:solidFill>
                  <a:srgbClr val="1B365D"/>
                </a:solidFill>
                <a:latin typeface="Poppins Bold" pitchFamily="34" charset="0"/>
                <a:ea typeface="Poppins Bold" pitchFamily="34" charset="-122"/>
                <a:cs typeface="Poppins Bold" pitchFamily="34" charset="0"/>
              </a:rPr>
              <a:t>child agent</a:t>
            </a:r>
            <a:r>
              <a:rPr lang="en-US" sz="1400" dirty="0">
                <a:solidFill>
                  <a:srgbClr val="1B365D"/>
                </a:solidFill>
                <a:latin typeface="Poppins" pitchFamily="34" charset="0"/>
                <a:ea typeface="Poppins" pitchFamily="34" charset="-122"/>
                <a:cs typeface="Poppins" pitchFamily="34" charset="0"/>
              </a:rPr>
              <a:t>, Work life balance Buddy, answers from a gym document only it can see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description says what the specialist covers and what it </a:t>
            </a:r>
            <a:r>
              <a:rPr lang="en-US" sz="1400" b="1" dirty="0">
                <a:solidFill>
                  <a:srgbClr val="1B365D"/>
                </a:solidFill>
                <a:latin typeface="Poppins Bold" pitchFamily="34" charset="0"/>
                <a:ea typeface="Poppins Bold" pitchFamily="34" charset="-122"/>
                <a:cs typeface="Poppins Bold" pitchFamily="34" charset="0"/>
              </a:rPr>
              <a:t>does not handle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Typing </a:t>
            </a:r>
            <a:r>
              <a:rPr lang="en-US" sz="1400" dirty="0">
                <a:solidFill>
                  <a:srgbClr val="1B365D"/>
                </a:solidFill>
                <a:highlight>
                  <a:srgbClr val="F2F2F2"/>
                </a:highlight>
                <a:latin typeface="Consolas" pitchFamily="34" charset="0"/>
                <a:ea typeface="Consolas" pitchFamily="34" charset="-122"/>
                <a:cs typeface="Consolas" pitchFamily="34" charset="0"/>
              </a:rPr>
              <a:t>/</a:t>
            </a:r>
            <a:r>
              <a:rPr lang="en-US" sz="1400" dirty="0">
                <a:solidFill>
                  <a:srgbClr val="1B365D"/>
                </a:solidFill>
                <a:latin typeface="Poppins" pitchFamily="34" charset="0"/>
                <a:ea typeface="Poppins" pitchFamily="34" charset="-122"/>
                <a:cs typeface="Poppins" pitchFamily="34" charset="0"/>
              </a:rPr>
              <a:t> on an agent name turns it into a </a:t>
            </a:r>
            <a:r>
              <a:rPr lang="en-US" sz="1400" b="1" dirty="0">
                <a:solidFill>
                  <a:srgbClr val="1B365D"/>
                </a:solidFill>
                <a:latin typeface="Poppins Bold" pitchFamily="34" charset="0"/>
                <a:ea typeface="Poppins Bold" pitchFamily="34" charset="-122"/>
                <a:cs typeface="Poppins Bold" pitchFamily="34" charset="0"/>
              </a:rPr>
              <a:t>reference</a:t>
            </a:r>
            <a:r>
              <a:rPr lang="en-US" sz="1400" dirty="0">
                <a:solidFill>
                  <a:srgbClr val="1B365D"/>
                </a:solidFill>
                <a:latin typeface="Poppins" pitchFamily="34" charset="0"/>
                <a:ea typeface="Poppins" pitchFamily="34" charset="-122"/>
                <a:cs typeface="Poppins" pitchFamily="34" charset="0"/>
              </a:rPr>
              <a:t>, shown as a chip</a:t>
            </a:r>
            <a:endParaRPr lang="en-US" sz="1450" dirty="0"/>
          </a:p>
        </p:txBody>
      </p:sp>
      <p:pic>
        <p:nvPicPr>
          <p:cNvPr id="5" name="Image 0" descr="preencoded.png"/>
          <p:cNvPicPr>
            <a:picLocks noChangeAspect="1"/>
          </p:cNvPicPr>
          <p:nvPr/>
        </p:nvPicPr>
        <p:blipFill>
          <a:blip r:embed="rId3"/>
          <a:stretch>
            <a:fillRect/>
          </a:stretch>
        </p:blipFill>
        <p:spPr>
          <a:xfrm>
            <a:off x="5652946" y="3151783"/>
            <a:ext cx="3994050" cy="20002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9436146"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Proving every route</a:t>
            </a:r>
            <a:endParaRPr lang="en-US" sz="2700" dirty="0"/>
          </a:p>
        </p:txBody>
      </p:sp>
      <p:sp>
        <p:nvSpPr>
          <p:cNvPr id="3" name="Text 1"/>
          <p:cNvSpPr/>
          <p:nvPr/>
        </p:nvSpPr>
        <p:spPr>
          <a:xfrm>
            <a:off x="609600" y="1100568"/>
            <a:ext cx="10045731" cy="336823"/>
          </a:xfrm>
          <a:prstGeom prst="rect">
            <a:avLst/>
          </a:prstGeom>
          <a:noFill/>
          <a:ln/>
        </p:spPr>
        <p:txBody>
          <a:bodyPr wrap="square" lIns="0" tIns="0" rIns="0" bIns="0" rtlCol="0" anchor="t">
            <a:spAutoFit/>
          </a:bodyPr>
          <a:lstStyle/>
          <a:p>
            <a:pPr marL="0" indent="0" algn="l">
              <a:lnSpc>
                <a:spcPct val="117000"/>
              </a:lnSpc>
              <a:buNone/>
            </a:pPr>
            <a:r>
              <a:rPr lang="en-US" sz="2000" b="1" dirty="0">
                <a:solidFill>
                  <a:srgbClr val="0D0D0D"/>
                </a:solidFill>
                <a:latin typeface="Montserrat Bold" pitchFamily="34" charset="0"/>
                <a:ea typeface="Poppins" pitchFamily="34" charset="-122"/>
                <a:cs typeface="Poppins" pitchFamily="34" charset="0"/>
              </a:rPr>
              <a:t>Five test messages, each answered by exactly one agent or by none</a:t>
            </a:r>
            <a:endParaRPr lang="en-US" sz="1050" dirty="0"/>
          </a:p>
        </p:txBody>
      </p:sp>
      <p:pic>
        <p:nvPicPr>
          <p:cNvPr id="4" name="Image 0" descr="preencoded.png"/>
          <p:cNvPicPr>
            <a:picLocks noChangeAspect="1"/>
          </p:cNvPicPr>
          <p:nvPr/>
        </p:nvPicPr>
        <p:blipFill>
          <a:blip r:embed="rId3"/>
          <a:stretch>
            <a:fillRect/>
          </a:stretch>
        </p:blipFill>
        <p:spPr>
          <a:xfrm>
            <a:off x="2145849" y="1428750"/>
            <a:ext cx="7899897" cy="4443710"/>
          </a:xfrm>
          <a:prstGeom prst="rect">
            <a:avLst/>
          </a:prstGeom>
        </p:spPr>
      </p:pic>
      <p:sp>
        <p:nvSpPr>
          <p:cNvPr id="5" name="Text 2"/>
          <p:cNvSpPr/>
          <p:nvPr/>
        </p:nvSpPr>
        <p:spPr>
          <a:xfrm>
            <a:off x="609599" y="6027319"/>
            <a:ext cx="9436146" cy="384770"/>
          </a:xfrm>
          <a:prstGeom prst="rect">
            <a:avLst/>
          </a:prstGeom>
          <a:noFill/>
          <a:ln/>
        </p:spPr>
        <p:txBody>
          <a:bodyPr wrap="square" lIns="0" tIns="0" rIns="0" bIns="0" rtlCol="0" anchor="t">
            <a:normAutofit/>
          </a:bodyPr>
          <a:lstStyle/>
          <a:p>
            <a:pPr marL="213360" indent="-213360" algn="l">
              <a:lnSpc>
                <a:spcPct val="117000"/>
              </a:lnSpc>
              <a:buSzPct val="100000"/>
              <a:buChar char="•"/>
            </a:pPr>
            <a:r>
              <a:rPr lang="en-US" sz="1050" dirty="0">
                <a:solidFill>
                  <a:srgbClr val="1B365D"/>
                </a:solidFill>
                <a:latin typeface="Poppins" pitchFamily="34" charset="0"/>
                <a:ea typeface="Poppins" pitchFamily="34" charset="-122"/>
                <a:cs typeface="Poppins" pitchFamily="34" charset="0"/>
              </a:rPr>
              <a:t>With the activity map on, each message shows the agent node that answered it, and the canteen question shows none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Microsoft Foundry Agents: Core Concepts</a:t>
            </a:r>
          </a:p>
          <a:p>
            <a:pPr>
              <a:lnSpc>
                <a:spcPct val="95000"/>
              </a:lnSpc>
              <a:spcBef>
                <a:spcPts val="1400"/>
              </a:spcBef>
            </a:pPr>
            <a:r>
              <a:rPr sz="2000" b="0">
                <a:solidFill>
                  <a:srgbClr val="595F67"/>
                </a:solidFill>
                <a:latin typeface="Poppins"/>
              </a:rPr>
              <a:t>Prompt agents, versions and the stable endpoint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 prompt agent in Microsoft Foundry</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Model, instructions and tools behind a stable endpoint</a:t>
            </a:r>
            <a:endParaRPr lang="en-US" sz="2200" dirty="0"/>
          </a:p>
        </p:txBody>
      </p:sp>
      <p:sp>
        <p:nvSpPr>
          <p:cNvPr id="4" name="Text 2"/>
          <p:cNvSpPr/>
          <p:nvPr/>
        </p:nvSpPr>
        <p:spPr>
          <a:xfrm>
            <a:off x="609599" y="3089196"/>
            <a:ext cx="446253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pitchFamily="34" charset="0"/>
                <a:ea typeface="Poppins" pitchFamily="34" charset="-122"/>
                <a:cs typeface="Poppins" pitchFamily="34" charset="0"/>
              </a:rPr>
              <a:t>Foundry project</a:t>
            </a:r>
            <a:r>
              <a:rPr lang="en-US" sz="1400" dirty="0">
                <a:solidFill>
                  <a:srgbClr val="1B365D"/>
                </a:solidFill>
                <a:latin typeface="Poppins" pitchFamily="34" charset="0"/>
                <a:ea typeface="Poppins" pitchFamily="34" charset="-122"/>
                <a:cs typeface="Poppins" pitchFamily="34" charset="0"/>
              </a:rPr>
              <a:t> groups agents, files and tools inside an Azure subscription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pitchFamily="34" charset="0"/>
                <a:ea typeface="Poppins" pitchFamily="34" charset="-122"/>
                <a:cs typeface="Poppins" pitchFamily="34" charset="0"/>
              </a:rPr>
              <a:t>prompt agent</a:t>
            </a:r>
            <a:r>
              <a:rPr lang="en-US" sz="1400" dirty="0">
                <a:solidFill>
                  <a:srgbClr val="1B365D"/>
                </a:solidFill>
                <a:latin typeface="Poppins" pitchFamily="34" charset="0"/>
                <a:ea typeface="Poppins" pitchFamily="34" charset="-122"/>
                <a:cs typeface="Poppins" pitchFamily="34" charset="0"/>
              </a:rPr>
              <a:t> is configuration only: a model, instructions and optional tools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Every saved change creates an </a:t>
            </a:r>
            <a:r>
              <a:rPr lang="en-US" sz="1400" b="1" dirty="0">
                <a:solidFill>
                  <a:srgbClr val="1B365D"/>
                </a:solidFill>
                <a:latin typeface="Poppins" pitchFamily="34" charset="0"/>
                <a:ea typeface="Poppins" pitchFamily="34" charset="-122"/>
                <a:cs typeface="Poppins" pitchFamily="34" charset="0"/>
              </a:rPr>
              <a:t>immutable version</a:t>
            </a:r>
            <a:r>
              <a:rPr lang="en-US" sz="1400" dirty="0">
                <a:solidFill>
                  <a:srgbClr val="1B365D"/>
                </a:solidFill>
                <a:latin typeface="Poppins" pitchFamily="34" charset="0"/>
                <a:ea typeface="Poppins" pitchFamily="34" charset="-122"/>
                <a:cs typeface="Poppins" pitchFamily="34" charset="0"/>
              </a:rPr>
              <a:t>; you pin the one the endpoint serves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endpoint takes a </a:t>
            </a:r>
            <a:r>
              <a:rPr lang="en-US" sz="1400" b="1" dirty="0">
                <a:solidFill>
                  <a:srgbClr val="1B365D"/>
                </a:solidFill>
                <a:latin typeface="Poppins" pitchFamily="34" charset="0"/>
                <a:ea typeface="Poppins" pitchFamily="34" charset="-122"/>
                <a:cs typeface="Poppins" pitchFamily="34" charset="0"/>
              </a:rPr>
              <a:t>Microsoft Entra</a:t>
            </a:r>
            <a:r>
              <a:rPr lang="en-US" sz="1400" dirty="0">
                <a:solidFill>
                  <a:srgbClr val="1B365D"/>
                </a:solidFill>
                <a:latin typeface="Poppins" pitchFamily="34" charset="0"/>
                <a:ea typeface="Poppins" pitchFamily="34" charset="-122"/>
                <a:cs typeface="Poppins" pitchFamily="34" charset="0"/>
              </a:rPr>
              <a:t> sign-in; API keys aren't supported</a:t>
            </a:r>
            <a:endParaRPr lang="en-US" sz="1450" dirty="0"/>
          </a:p>
        </p:txBody>
      </p:sp>
      <p:pic>
        <p:nvPicPr>
          <p:cNvPr id="5" name="Image 0" descr="preencoded.png"/>
          <p:cNvPicPr>
            <a:picLocks noChangeAspect="1"/>
          </p:cNvPicPr>
          <p:nvPr/>
        </p:nvPicPr>
        <p:blipFill>
          <a:blip r:embed="rId3"/>
          <a:stretch>
            <a:fillRect/>
          </a:stretch>
        </p:blipFill>
        <p:spPr>
          <a:xfrm>
            <a:off x="5539641" y="2394446"/>
            <a:ext cx="5996830" cy="3373239"/>
          </a:xfrm>
          <a:prstGeom prst="rect">
            <a:avLst/>
          </a:prstGeom>
        </p:spPr>
      </p:pic>
    </p:spTree>
    <p:extLst>
      <p:ext uri="{BB962C8B-B14F-4D97-AF65-F5344CB8AC3E}">
        <p14:creationId xmlns:p14="http://schemas.microsoft.com/office/powerpoint/2010/main" val="3035700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l="6272" r="6272"/>
          <a:stretch>
            <a:fillRect/>
          </a:stretch>
        </p:blipFill>
        <p:spPr>
          <a:xfrm>
            <a:off x="8168376" y="0"/>
            <a:ext cx="4023220" cy="6858000"/>
          </a:xfrm>
          <a:prstGeom prst="rect">
            <a:avLst/>
          </a:prstGeom>
        </p:spPr>
      </p:pic>
      <p:sp>
        <p:nvSpPr>
          <p:cNvPr id="4" name="Text 0"/>
          <p:cNvSpPr/>
          <p:nvPr/>
        </p:nvSpPr>
        <p:spPr>
          <a:xfrm>
            <a:off x="609600" y="2340531"/>
            <a:ext cx="6897301"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Foundry agents and Copilot Studio agents</a:t>
            </a:r>
            <a:endParaRPr lang="en-US" sz="3700" dirty="0"/>
          </a:p>
        </p:txBody>
      </p:sp>
      <p:sp>
        <p:nvSpPr>
          <p:cNvPr id="5" name="Text 1"/>
          <p:cNvSpPr/>
          <p:nvPr/>
        </p:nvSpPr>
        <p:spPr>
          <a:xfrm>
            <a:off x="609600" y="3496026"/>
            <a:ext cx="6897301"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Who builds, where it runs and how it reaches users</a:t>
            </a:r>
            <a:endParaRPr lang="en-US" sz="2200" dirty="0"/>
          </a:p>
        </p:txBody>
      </p:sp>
      <p:sp>
        <p:nvSpPr>
          <p:cNvPr id="6" name="Text 2"/>
          <p:cNvSpPr/>
          <p:nvPr/>
        </p:nvSpPr>
        <p:spPr>
          <a:xfrm>
            <a:off x="609600" y="4031441"/>
            <a:ext cx="6897301" cy="992088"/>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B365D"/>
                </a:solidFill>
                <a:latin typeface="Poppins" pitchFamily="34" charset="0"/>
                <a:ea typeface="Poppins" pitchFamily="34" charset="-122"/>
                <a:cs typeface="Poppins" pitchFamily="34" charset="0"/>
              </a:rPr>
              <a:t>The maker keeps the conversation, the channels and the routing; the developer team keeps the specialist's model, tools and versions</a:t>
            </a:r>
            <a:endParaRPr lang="en-US" sz="1850" dirty="0"/>
          </a:p>
        </p:txBody>
      </p:sp>
    </p:spTree>
    <p:extLst>
      <p:ext uri="{BB962C8B-B14F-4D97-AF65-F5344CB8AC3E}">
        <p14:creationId xmlns:p14="http://schemas.microsoft.com/office/powerpoint/2010/main" val="3187771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Foundry Agents in Copilot Studio</a:t>
            </a:r>
          </a:p>
          <a:p>
            <a:pPr>
              <a:lnSpc>
                <a:spcPct val="95000"/>
              </a:lnSpc>
              <a:spcBef>
                <a:spcPts val="1400"/>
              </a:spcBef>
            </a:pPr>
            <a:r>
              <a:rPr sz="2000" b="0">
                <a:solidFill>
                  <a:srgbClr val="595F67"/>
                </a:solidFill>
                <a:latin typeface="Poppins"/>
              </a:rPr>
              <a:t>A Foundry specialist behind a Standard agent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Connecting a Foundry agent</a:t>
            </a:r>
            <a:endParaRPr lang="en-US" sz="3300" dirty="0"/>
          </a:p>
        </p:txBody>
      </p:sp>
      <p:sp>
        <p:nvSpPr>
          <p:cNvPr id="3" name="Text 1"/>
          <p:cNvSpPr/>
          <p:nvPr/>
        </p:nvSpPr>
        <p:spPr>
          <a:xfrm>
            <a:off x="609599" y="1100568"/>
            <a:ext cx="10920620"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The Activity Protocol on the Foundry side, a connection and an Agent Id in Copilot Studio</a:t>
            </a:r>
            <a:endParaRPr lang="en-US" sz="2000" dirty="0"/>
          </a:p>
        </p:txBody>
      </p:sp>
      <p:sp>
        <p:nvSpPr>
          <p:cNvPr id="4" name="Shape 2"/>
          <p:cNvSpPr/>
          <p:nvPr/>
        </p:nvSpPr>
        <p:spPr>
          <a:xfrm>
            <a:off x="539042" y="1887736"/>
            <a:ext cx="5020343" cy="4223941"/>
          </a:xfrm>
          <a:prstGeom prst="roundRect">
            <a:avLst>
              <a:gd name="adj" fmla="val 604"/>
            </a:avLst>
          </a:prstGeom>
          <a:solidFill>
            <a:srgbClr val="F3F4F6"/>
          </a:solidFill>
          <a:ln/>
        </p:spPr>
        <p:txBody>
          <a:bodyPr/>
          <a:lstStyle/>
          <a:p>
            <a:endParaRPr/>
          </a:p>
        </p:txBody>
      </p:sp>
      <p:sp>
        <p:nvSpPr>
          <p:cNvPr id="5" name="Shape 3"/>
          <p:cNvSpPr/>
          <p:nvPr/>
        </p:nvSpPr>
        <p:spPr>
          <a:xfrm>
            <a:off x="709099" y="2059980"/>
            <a:ext cx="4680230" cy="3879453"/>
          </a:xfrm>
          <a:prstGeom prst="roundRect">
            <a:avLst>
              <a:gd name="adj" fmla="val 658"/>
            </a:avLst>
          </a:prstGeom>
          <a:solidFill>
            <a:srgbClr val="E6E7E9"/>
          </a:solidFill>
          <a:ln/>
        </p:spPr>
        <p:txBody>
          <a:bodyPr/>
          <a:lstStyle/>
          <a:p>
            <a:endParaRPr/>
          </a:p>
        </p:txBody>
      </p:sp>
      <p:sp>
        <p:nvSpPr>
          <p:cNvPr id="6" name="Text 4"/>
          <p:cNvSpPr/>
          <p:nvPr/>
        </p:nvSpPr>
        <p:spPr>
          <a:xfrm>
            <a:off x="609600" y="2298065"/>
            <a:ext cx="4575641" cy="3539331"/>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"agent_endpoint":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"protocol_configuration":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"responses":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"activity":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"a2a":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"authorization_schemes":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 "type": "Entra"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 "type": "BotServiceRbac"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  }</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a:t>
            </a:r>
            <a:endParaRPr lang="en-US" sz="1300" dirty="0"/>
          </a:p>
        </p:txBody>
      </p:sp>
      <p:pic>
        <p:nvPicPr>
          <p:cNvPr id="7" name="Image 0" descr="preencoded.png"/>
          <p:cNvPicPr>
            <a:picLocks noChangeAspect="1"/>
          </p:cNvPicPr>
          <p:nvPr/>
        </p:nvPicPr>
        <p:blipFill>
          <a:blip r:embed="rId3"/>
          <a:stretch>
            <a:fillRect/>
          </a:stretch>
        </p:blipFill>
        <p:spPr>
          <a:xfrm>
            <a:off x="5858225" y="3028156"/>
            <a:ext cx="3467013" cy="1943100"/>
          </a:xfrm>
          <a:prstGeom prst="rect">
            <a:avLst/>
          </a:prstGeom>
        </p:spPr>
      </p:pic>
    </p:spTree>
    <p:extLst>
      <p:ext uri="{BB962C8B-B14F-4D97-AF65-F5344CB8AC3E}">
        <p14:creationId xmlns:p14="http://schemas.microsoft.com/office/powerpoint/2010/main" val="2503534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Collect, confirm, then hand off</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CS-Compliance Agent calls CS-Social Profiler only after the user confirms</a:t>
            </a:r>
            <a:endParaRPr lang="en-US" sz="2200" dirty="0"/>
          </a:p>
        </p:txBody>
      </p:sp>
      <p:sp>
        <p:nvSpPr>
          <p:cNvPr id="4" name="Text 2"/>
          <p:cNvSpPr/>
          <p:nvPr/>
        </p:nvSpPr>
        <p:spPr>
          <a:xfrm>
            <a:off x="609599" y="2839528"/>
            <a:ext cx="44625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Claude Sonnet 4.6</a:t>
            </a:r>
            <a:r>
              <a:rPr lang="en-US" sz="1400" dirty="0">
                <a:solidFill>
                  <a:srgbClr val="1B365D"/>
                </a:solidFill>
                <a:latin typeface="Poppins" pitchFamily="34" charset="0"/>
                <a:ea typeface="Poppins" pitchFamily="34" charset="-122"/>
                <a:cs typeface="Poppins" pitchFamily="34" charset="0"/>
              </a:rPr>
              <a:t> runs CS-Compliance Agent, chosen for following long, ordered instructions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Numbered steps explain the check, collect name, email and company, then </a:t>
            </a:r>
            <a:r>
              <a:rPr lang="en-US" sz="1400" b="1" dirty="0">
                <a:solidFill>
                  <a:srgbClr val="1B365D"/>
                </a:solidFill>
                <a:latin typeface="Poppins" pitchFamily="34" charset="0"/>
                <a:ea typeface="Poppins" pitchFamily="34" charset="-122"/>
                <a:cs typeface="Poppins" pitchFamily="34" charset="0"/>
              </a:rPr>
              <a:t>confirm</a:t>
            </a:r>
            <a:r>
              <a:rPr lang="en-US" sz="1400" dirty="0">
                <a:solidFill>
                  <a:srgbClr val="1B365D"/>
                </a:solidFill>
                <a:latin typeface="Poppins" pitchFamily="34" charset="0"/>
                <a:ea typeface="Poppins" pitchFamily="34" charset="-122"/>
                <a:cs typeface="Poppins" pitchFamily="34" charset="0"/>
              </a:rPr>
              <a:t> them</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New </a:t>
            </a:r>
            <a:r>
              <a:rPr lang="en-US" sz="1400" b="1" dirty="0">
                <a:solidFill>
                  <a:srgbClr val="1B365D"/>
                </a:solidFill>
                <a:latin typeface="Poppins" pitchFamily="34" charset="0"/>
                <a:ea typeface="Poppins" pitchFamily="34" charset="-122"/>
                <a:cs typeface="Poppins" pitchFamily="34" charset="0"/>
              </a:rPr>
              <a:t>step 5</a:t>
            </a:r>
            <a:r>
              <a:rPr lang="en-US" sz="1400" dirty="0">
                <a:solidFill>
                  <a:srgbClr val="1B365D"/>
                </a:solidFill>
                <a:latin typeface="Poppins" pitchFamily="34" charset="0"/>
                <a:ea typeface="Poppins" pitchFamily="34" charset="-122"/>
                <a:cs typeface="Poppins" pitchFamily="34" charset="0"/>
              </a:rPr>
              <a:t> calls CS-Social Profiler only after the user confirmed the details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Error handling</a:t>
            </a:r>
            <a:r>
              <a:rPr lang="en-US" sz="1400" dirty="0">
                <a:solidFill>
                  <a:srgbClr val="1B365D"/>
                </a:solidFill>
                <a:latin typeface="Poppins" pitchFamily="34" charset="0"/>
                <a:ea typeface="Poppins" pitchFamily="34" charset="-122"/>
                <a:cs typeface="Poppins" pitchFamily="34" charset="0"/>
              </a:rPr>
              <a:t> asks again for invalid data, so a broken email address stops the check</a:t>
            </a:r>
            <a:endParaRPr lang="en-US" sz="1450" dirty="0"/>
          </a:p>
        </p:txBody>
      </p:sp>
      <p:pic>
        <p:nvPicPr>
          <p:cNvPr id="5" name="Image 0" descr="preencoded.png"/>
          <p:cNvPicPr>
            <a:picLocks noChangeAspect="1"/>
          </p:cNvPicPr>
          <p:nvPr/>
        </p:nvPicPr>
        <p:blipFill>
          <a:blip r:embed="rId3"/>
          <a:stretch>
            <a:fillRect/>
          </a:stretch>
        </p:blipFill>
        <p:spPr>
          <a:xfrm>
            <a:off x="5539641" y="2581771"/>
            <a:ext cx="5996830" cy="2998490"/>
          </a:xfrm>
          <a:prstGeom prst="rect">
            <a:avLst/>
          </a:prstGeom>
        </p:spPr>
      </p:pic>
    </p:spTree>
    <p:extLst>
      <p:ext uri="{BB962C8B-B14F-4D97-AF65-F5344CB8AC3E}">
        <p14:creationId xmlns:p14="http://schemas.microsoft.com/office/powerpoint/2010/main" val="1696769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The Foundry call in the activity map</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CS-Social Profiler runs once the details are confirmed</a:t>
            </a:r>
            <a:endParaRPr lang="en-US" sz="2200" dirty="0"/>
          </a:p>
        </p:txBody>
      </p:sp>
      <p:sp>
        <p:nvSpPr>
          <p:cNvPr id="4" name="Text 2"/>
          <p:cNvSpPr/>
          <p:nvPr/>
        </p:nvSpPr>
        <p:spPr>
          <a:xfrm>
            <a:off x="609599" y="3214005"/>
            <a:ext cx="4462534" cy="2050554"/>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pitchFamily="34" charset="0"/>
                <a:ea typeface="Poppins" pitchFamily="34" charset="-122"/>
                <a:cs typeface="Poppins" pitchFamily="34" charset="0"/>
              </a:rPr>
              <a:t>CS-Social Profiler</a:t>
            </a:r>
            <a:r>
              <a:rPr lang="en-US" sz="1400" dirty="0">
                <a:solidFill>
                  <a:srgbClr val="1B365D"/>
                </a:solidFill>
                <a:latin typeface="Poppins" pitchFamily="34" charset="0"/>
                <a:ea typeface="Poppins" pitchFamily="34" charset="-122"/>
                <a:cs typeface="Poppins" pitchFamily="34" charset="0"/>
              </a:rPr>
              <a:t> node appears only after "Yes, that's correct."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Its input carries the Agent Id </a:t>
            </a:r>
            <a:r>
              <a:rPr lang="en-US" sz="1400" b="1" dirty="0">
                <a:solidFill>
                  <a:srgbClr val="1B365D"/>
                </a:solidFill>
                <a:latin typeface="Poppins" pitchFamily="34" charset="0"/>
                <a:ea typeface="Poppins" pitchFamily="34" charset="-122"/>
                <a:cs typeface="Poppins" pitchFamily="34" charset="0"/>
              </a:rPr>
              <a:t>social-profiler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reply comes back in five sections, from </a:t>
            </a:r>
            <a:r>
              <a:rPr lang="en-US" sz="1400" b="1" dirty="0">
                <a:solidFill>
                  <a:srgbClr val="1B365D"/>
                </a:solidFill>
                <a:latin typeface="Poppins" pitchFamily="34" charset="0"/>
                <a:ea typeface="Poppins" pitchFamily="34" charset="-122"/>
                <a:cs typeface="Poppins" pitchFamily="34" charset="0"/>
              </a:rPr>
              <a:t>Person</a:t>
            </a:r>
            <a:r>
              <a:rPr lang="en-US" sz="1400" dirty="0">
                <a:solidFill>
                  <a:srgbClr val="1B365D"/>
                </a:solidFill>
                <a:latin typeface="Poppins" pitchFamily="34" charset="0"/>
                <a:ea typeface="Poppins" pitchFamily="34" charset="-122"/>
                <a:cs typeface="Poppins" pitchFamily="34" charset="0"/>
              </a:rPr>
              <a:t> to </a:t>
            </a:r>
            <a:r>
              <a:rPr lang="en-US" sz="1400" b="1" dirty="0">
                <a:solidFill>
                  <a:srgbClr val="1B365D"/>
                </a:solidFill>
                <a:latin typeface="Poppins" pitchFamily="34" charset="0"/>
                <a:ea typeface="Poppins" pitchFamily="34" charset="-122"/>
                <a:cs typeface="Poppins" pitchFamily="34" charset="0"/>
              </a:rPr>
              <a:t>Notes for the compliance check</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hop runs its own model, so expect more </a:t>
            </a:r>
            <a:r>
              <a:rPr lang="en-US" sz="1400" b="1" dirty="0">
                <a:solidFill>
                  <a:srgbClr val="1B365D"/>
                </a:solidFill>
                <a:latin typeface="Poppins" pitchFamily="34" charset="0"/>
                <a:ea typeface="Poppins" pitchFamily="34" charset="-122"/>
                <a:cs typeface="Poppins" pitchFamily="34" charset="0"/>
              </a:rPr>
              <a:t>latency</a:t>
            </a:r>
            <a:r>
              <a:rPr lang="en-US" sz="1400" dirty="0">
                <a:solidFill>
                  <a:srgbClr val="1B365D"/>
                </a:solidFill>
                <a:latin typeface="Poppins" pitchFamily="34" charset="0"/>
                <a:ea typeface="Poppins" pitchFamily="34" charset="-122"/>
                <a:cs typeface="Poppins" pitchFamily="34" charset="0"/>
              </a:rPr>
              <a:t> than for a tool</a:t>
            </a:r>
            <a:endParaRPr lang="en-US" sz="1450" dirty="0"/>
          </a:p>
        </p:txBody>
      </p:sp>
      <p:pic>
        <p:nvPicPr>
          <p:cNvPr id="5" name="Image 0" descr="preencoded.png"/>
          <p:cNvPicPr>
            <a:picLocks noChangeAspect="1"/>
          </p:cNvPicPr>
          <p:nvPr/>
        </p:nvPicPr>
        <p:blipFill>
          <a:blip r:embed="rId3"/>
          <a:stretch>
            <a:fillRect/>
          </a:stretch>
        </p:blipFill>
        <p:spPr>
          <a:xfrm>
            <a:off x="5539641" y="3115866"/>
            <a:ext cx="3320967" cy="1930400"/>
          </a:xfrm>
          <a:prstGeom prst="rect">
            <a:avLst/>
          </a:prstGeom>
        </p:spPr>
      </p:pic>
    </p:spTree>
    <p:extLst>
      <p:ext uri="{BB962C8B-B14F-4D97-AF65-F5344CB8AC3E}">
        <p14:creationId xmlns:p14="http://schemas.microsoft.com/office/powerpoint/2010/main" val="2897045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Voice Agents: IVR &amp; Post-Call</a:t>
            </a:r>
          </a:p>
          <a:p>
            <a:pPr>
              <a:lnSpc>
                <a:spcPct val="95000"/>
              </a:lnSpc>
              <a:spcBef>
                <a:spcPts val="1400"/>
              </a:spcBef>
            </a:pPr>
            <a:r>
              <a:rPr sz="2000" b="0">
                <a:solidFill>
                  <a:srgbClr val="595F67"/>
                </a:solidFill>
                <a:latin typeface="Poppins"/>
              </a:rPr>
              <a:t>Optional: speech and keypad menus, then work after the call</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t="12267" b="12267"/>
          <a:stretch>
            <a:fillRect/>
          </a:stretch>
        </p:blipFill>
        <p:spPr>
          <a:xfrm>
            <a:off x="6095848" y="0"/>
            <a:ext cx="6095848" cy="6858000"/>
          </a:xfrm>
          <a:prstGeom prst="rect">
            <a:avLst/>
          </a:prstGeom>
        </p:spPr>
      </p:pic>
      <p:sp>
        <p:nvSpPr>
          <p:cNvPr id="4" name="Text 0"/>
          <p:cNvSpPr/>
          <p:nvPr/>
        </p:nvSpPr>
        <p:spPr>
          <a:xfrm>
            <a:off x="609600" y="1687694"/>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Voice agents</a:t>
            </a:r>
            <a:endParaRPr lang="en-US" sz="3700" dirty="0"/>
          </a:p>
        </p:txBody>
      </p:sp>
      <p:sp>
        <p:nvSpPr>
          <p:cNvPr id="5" name="Text 1"/>
          <p:cNvSpPr/>
          <p:nvPr/>
        </p:nvSpPr>
        <p:spPr>
          <a:xfrm>
            <a:off x="609600" y="2331062"/>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A phone menu that answers to speech and the keypad</a:t>
            </a:r>
            <a:endParaRPr lang="en-US" sz="2200" dirty="0"/>
          </a:p>
        </p:txBody>
      </p:sp>
      <p:sp>
        <p:nvSpPr>
          <p:cNvPr id="6" name="Text 2"/>
          <p:cNvSpPr/>
          <p:nvPr/>
        </p:nvSpPr>
        <p:spPr>
          <a:xfrm>
            <a:off x="609600" y="3186565"/>
            <a:ext cx="4824773"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Basic</a:t>
            </a:r>
            <a:r>
              <a:rPr lang="en-US" sz="1400" dirty="0">
                <a:solidFill>
                  <a:srgbClr val="1B365D"/>
                </a:solidFill>
                <a:latin typeface="Poppins" pitchFamily="34" charset="0"/>
                <a:ea typeface="Poppins" pitchFamily="34" charset="-122"/>
                <a:cs typeface="Poppins" pitchFamily="34" charset="0"/>
              </a:rPr>
              <a:t> voice agents use classic orchestration; </a:t>
            </a:r>
            <a:r>
              <a:rPr lang="en-US" sz="1400" b="1" dirty="0">
                <a:solidFill>
                  <a:srgbClr val="1B365D"/>
                </a:solidFill>
                <a:latin typeface="Poppins" pitchFamily="34" charset="0"/>
                <a:ea typeface="Poppins" pitchFamily="34" charset="-122"/>
                <a:cs typeface="Poppins" pitchFamily="34" charset="0"/>
              </a:rPr>
              <a:t>real-time</a:t>
            </a:r>
            <a:r>
              <a:rPr lang="en-US" sz="1400" dirty="0">
                <a:solidFill>
                  <a:srgbClr val="1B365D"/>
                </a:solidFill>
                <a:latin typeface="Poppins" pitchFamily="34" charset="0"/>
                <a:ea typeface="Poppins" pitchFamily="34" charset="-122"/>
                <a:cs typeface="Poppins" pitchFamily="34" charset="0"/>
              </a:rPr>
              <a:t> voice agents use generative orchestration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DTMF keys map the keypad to the menu: 1 for Account, 2 for Device, 0 for a person</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pitchFamily="34" charset="0"/>
                <a:ea typeface="Poppins" pitchFamily="34" charset="-122"/>
                <a:cs typeface="Poppins" pitchFamily="34" charset="0"/>
              </a:rPr>
              <a:t>Speech &amp; DTMF</a:t>
            </a:r>
            <a:r>
              <a:rPr lang="en-US" sz="1400" dirty="0">
                <a:solidFill>
                  <a:srgbClr val="1B365D"/>
                </a:solidFill>
                <a:latin typeface="Poppins" pitchFamily="34" charset="0"/>
                <a:ea typeface="Poppins" pitchFamily="34" charset="-122"/>
                <a:cs typeface="Poppins" pitchFamily="34" charset="0"/>
              </a:rPr>
              <a:t> chat mode tests a call in text, and /DTMFkey 1 presses a key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post-call topic runs on </a:t>
            </a:r>
            <a:r>
              <a:rPr lang="en-US" sz="1400" b="1" dirty="0">
                <a:solidFill>
                  <a:srgbClr val="1B365D"/>
                </a:solidFill>
                <a:latin typeface="Poppins" pitchFamily="34" charset="0"/>
                <a:ea typeface="Poppins" pitchFamily="34" charset="-122"/>
                <a:cs typeface="Poppins" pitchFamily="34" charset="0"/>
              </a:rPr>
              <a:t>End of conversation</a:t>
            </a:r>
            <a:r>
              <a:rPr lang="en-US" sz="1400" dirty="0">
                <a:solidFill>
                  <a:srgbClr val="1B365D"/>
                </a:solidFill>
                <a:latin typeface="Poppins" pitchFamily="34" charset="0"/>
                <a:ea typeface="Poppins" pitchFamily="34" charset="-122"/>
                <a:cs typeface="Poppins" pitchFamily="34" charset="0"/>
              </a:rPr>
              <a:t> and filters on Conversation.EndReason</a:t>
            </a:r>
            <a:endParaRPr lang="en-US" sz="1450" dirty="0"/>
          </a:p>
        </p:txBody>
      </p:sp>
    </p:spTree>
    <p:extLst>
      <p:ext uri="{BB962C8B-B14F-4D97-AF65-F5344CB8AC3E}">
        <p14:creationId xmlns:p14="http://schemas.microsoft.com/office/powerpoint/2010/main" val="1909750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Test and Evaluate Standard Agents</a:t>
            </a:r>
          </a:p>
          <a:p>
            <a:pPr>
              <a:lnSpc>
                <a:spcPct val="95000"/>
              </a:lnSpc>
              <a:spcBef>
                <a:spcPts val="1400"/>
              </a:spcBef>
            </a:pPr>
            <a:r>
              <a:rPr sz="2000" b="0">
                <a:solidFill>
                  <a:srgbClr val="595F67"/>
                </a:solidFill>
                <a:latin typeface="Poppins"/>
              </a:rPr>
              <a:t>Optional: test sets, graders and one change per run</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 routing test set for the travel planner</a:t>
            </a:r>
            <a:endParaRPr lang="en-US" sz="275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Seven cases, two test methods and two failing cases with different owners</a:t>
            </a:r>
            <a:endParaRPr lang="en-US" sz="1650" dirty="0"/>
          </a:p>
        </p:txBody>
      </p:sp>
      <p:pic>
        <p:nvPicPr>
          <p:cNvPr id="4" name="Image 0" descr="preencoded.png"/>
          <p:cNvPicPr>
            <a:picLocks noChangeAspect="1"/>
          </p:cNvPicPr>
          <p:nvPr/>
        </p:nvPicPr>
        <p:blipFill>
          <a:blip r:embed="rId3"/>
          <a:stretch>
            <a:fillRect/>
          </a:stretch>
        </p:blipFill>
        <p:spPr>
          <a:xfrm>
            <a:off x="661475" y="1445022"/>
            <a:ext cx="8151509" cy="4585295"/>
          </a:xfrm>
          <a:prstGeom prst="rect">
            <a:avLst/>
          </a:prstGeom>
        </p:spPr>
      </p:pic>
      <p:sp>
        <p:nvSpPr>
          <p:cNvPr id="5" name="Text 2"/>
          <p:cNvSpPr/>
          <p:nvPr/>
        </p:nvSpPr>
        <p:spPr>
          <a:xfrm>
            <a:off x="609600" y="6157260"/>
            <a:ext cx="11176000" cy="173633"/>
          </a:xfrm>
          <a:prstGeom prst="rect">
            <a:avLst/>
          </a:prstGeom>
          <a:noFill/>
          <a:ln/>
        </p:spPr>
        <p:txBody>
          <a:bodyPr wrap="none" lIns="0" tIns="0" rIns="0" bIns="0" rtlCol="0" anchor="t"/>
          <a:lstStyle/>
          <a:p>
            <a:pPr marL="0" indent="0" algn="l">
              <a:lnSpc>
                <a:spcPct val="102000"/>
              </a:lnSpc>
              <a:buNone/>
            </a:pPr>
            <a:r>
              <a:rPr lang="en-US" sz="1100" dirty="0">
                <a:solidFill>
                  <a:srgbClr val="1B365D"/>
                </a:solidFill>
                <a:latin typeface="Poppins" pitchFamily="34" charset="0"/>
                <a:ea typeface="Poppins" pitchFamily="34" charset="-122"/>
                <a:cs typeface="Poppins" pitchFamily="34" charset="0"/>
              </a:rPr>
              <a:t>The baseline run scored Answer quality 86% and Meaning match 71%, and its two failures had two different owners</a:t>
            </a:r>
            <a:endParaRPr lang="en-US" sz="1100" dirty="0"/>
          </a:p>
        </p:txBody>
      </p:sp>
    </p:spTree>
    <p:extLst>
      <p:ext uri="{BB962C8B-B14F-4D97-AF65-F5344CB8AC3E}">
        <p14:creationId xmlns:p14="http://schemas.microsoft.com/office/powerpoint/2010/main" val="2688617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What Answer quality misses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A confident answer from the wrong source can pass it</a:t>
            </a:r>
            <a:endParaRPr lang="en-US" sz="2200" dirty="0"/>
          </a:p>
        </p:txBody>
      </p:sp>
      <p:sp>
        <p:nvSpPr>
          <p:cNvPr id="4" name="Text 2"/>
          <p:cNvSpPr/>
          <p:nvPr/>
        </p:nvSpPr>
        <p:spPr>
          <a:xfrm>
            <a:off x="609599" y="3089196"/>
            <a:ext cx="446253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Answer quality</a:t>
            </a:r>
            <a:r>
              <a:rPr lang="en-US" sz="1400" dirty="0">
                <a:solidFill>
                  <a:srgbClr val="1B365D"/>
                </a:solidFill>
                <a:latin typeface="Poppins" pitchFamily="34" charset="0"/>
                <a:ea typeface="Poppins" pitchFamily="34" charset="-122"/>
                <a:cs typeface="Poppins" pitchFamily="34" charset="0"/>
              </a:rPr>
              <a:t> judges the reply alone and never reads the expected response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planner answered the canteen question with a full menu from public school web pages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Answer quality passed it; </a:t>
            </a:r>
            <a:r>
              <a:rPr lang="en-US" sz="1400" b="1" dirty="0">
                <a:solidFill>
                  <a:srgbClr val="1B365D"/>
                </a:solidFill>
                <a:latin typeface="Poppins" pitchFamily="34" charset="0"/>
                <a:ea typeface="Poppins" pitchFamily="34" charset="-122"/>
                <a:cs typeface="Poppins" pitchFamily="34" charset="0"/>
              </a:rPr>
              <a:t>Meaning match</a:t>
            </a:r>
            <a:r>
              <a:rPr lang="en-US" sz="1400" dirty="0">
                <a:solidFill>
                  <a:srgbClr val="1B365D"/>
                </a:solidFill>
                <a:latin typeface="Poppins" pitchFamily="34" charset="0"/>
                <a:ea typeface="Poppins" pitchFamily="34" charset="-122"/>
                <a:cs typeface="Poppins" pitchFamily="34" charset="0"/>
              </a:rPr>
              <a:t> scored it 0 against "has no access"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Pair Answer quality with a </a:t>
            </a:r>
            <a:r>
              <a:rPr lang="en-US" sz="1400" b="1" dirty="0">
                <a:solidFill>
                  <a:srgbClr val="1B365D"/>
                </a:solidFill>
                <a:latin typeface="Poppins" pitchFamily="34" charset="0"/>
                <a:ea typeface="Poppins" pitchFamily="34" charset="-122"/>
                <a:cs typeface="Poppins" pitchFamily="34" charset="0"/>
              </a:rPr>
              <a:t>comparing method</a:t>
            </a:r>
            <a:r>
              <a:rPr lang="en-US" sz="1400" dirty="0">
                <a:solidFill>
                  <a:srgbClr val="1B365D"/>
                </a:solidFill>
                <a:latin typeface="Poppins" pitchFamily="34" charset="0"/>
                <a:ea typeface="Poppins" pitchFamily="34" charset="-122"/>
                <a:cs typeface="Poppins" pitchFamily="34" charset="0"/>
              </a:rPr>
              <a:t> on cases with one right answer</a:t>
            </a:r>
            <a:endParaRPr lang="en-US" sz="1450" dirty="0"/>
          </a:p>
        </p:txBody>
      </p:sp>
      <p:pic>
        <p:nvPicPr>
          <p:cNvPr id="5" name="Image 0" descr="preencoded.png"/>
          <p:cNvPicPr>
            <a:picLocks noChangeAspect="1"/>
          </p:cNvPicPr>
          <p:nvPr/>
        </p:nvPicPr>
        <p:blipFill>
          <a:blip r:embed="rId3"/>
          <a:stretch>
            <a:fillRect/>
          </a:stretch>
        </p:blipFill>
        <p:spPr>
          <a:xfrm>
            <a:off x="5539641" y="3001566"/>
            <a:ext cx="3301917" cy="2159000"/>
          </a:xfrm>
          <a:prstGeom prst="rect">
            <a:avLst/>
          </a:prstGeom>
        </p:spPr>
      </p:pic>
    </p:spTree>
    <p:extLst>
      <p:ext uri="{BB962C8B-B14F-4D97-AF65-F5344CB8AC3E}">
        <p14:creationId xmlns:p14="http://schemas.microsoft.com/office/powerpoint/2010/main" val="747201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Comparing runs before and after a change</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One change, Web Search switched to Disabled, fixed the canteen case</a:t>
            </a:r>
            <a:endParaRPr lang="en-US" sz="2200" dirty="0"/>
          </a:p>
        </p:txBody>
      </p:sp>
      <p:sp>
        <p:nvSpPr>
          <p:cNvPr id="4" name="Text 2"/>
          <p:cNvSpPr/>
          <p:nvPr/>
        </p:nvSpPr>
        <p:spPr>
          <a:xfrm>
            <a:off x="609599" y="3089196"/>
            <a:ext cx="446253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Run the </a:t>
            </a:r>
            <a:r>
              <a:rPr lang="en-US" sz="1400" b="1" dirty="0">
                <a:solidFill>
                  <a:srgbClr val="1B365D"/>
                </a:solidFill>
                <a:latin typeface="Poppins" pitchFamily="34" charset="0"/>
                <a:ea typeface="Poppins" pitchFamily="34" charset="-122"/>
                <a:cs typeface="Poppins" pitchFamily="34" charset="0"/>
              </a:rPr>
              <a:t>unchanged agent twice</a:t>
            </a:r>
            <a:r>
              <a:rPr lang="en-US" sz="1400" dirty="0">
                <a:solidFill>
                  <a:srgbClr val="1B365D"/>
                </a:solidFill>
                <a:latin typeface="Poppins" pitchFamily="34" charset="0"/>
                <a:ea typeface="Poppins" pitchFamily="34" charset="-122"/>
                <a:cs typeface="Poppins" pitchFamily="34" charset="0"/>
              </a:rPr>
              <a:t> first: 86% and 71%, then 71% and 86%</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canteen case flipped on its own, and its activity listed </a:t>
            </a:r>
            <a:r>
              <a:rPr lang="en-US" sz="1400" b="1" dirty="0">
                <a:solidFill>
                  <a:srgbClr val="1B365D"/>
                </a:solidFill>
                <a:latin typeface="Poppins" pitchFamily="34" charset="0"/>
                <a:ea typeface="Poppins" pitchFamily="34" charset="-122"/>
                <a:cs typeface="Poppins" pitchFamily="34" charset="0"/>
              </a:rPr>
              <a:t>public web pages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One change: </a:t>
            </a:r>
            <a:r>
              <a:rPr lang="en-US" sz="1400" b="1" dirty="0">
                <a:solidFill>
                  <a:srgbClr val="1B365D"/>
                </a:solidFill>
                <a:latin typeface="Poppins" pitchFamily="34" charset="0"/>
                <a:ea typeface="Poppins" pitchFamily="34" charset="-122"/>
                <a:cs typeface="Poppins" pitchFamily="34" charset="0"/>
              </a:rPr>
              <a:t>Web Search</a:t>
            </a:r>
            <a:r>
              <a:rPr lang="en-US" sz="1400" dirty="0">
                <a:solidFill>
                  <a:srgbClr val="1B365D"/>
                </a:solidFill>
                <a:latin typeface="Poppins" pitchFamily="34" charset="0"/>
                <a:ea typeface="Poppins" pitchFamily="34" charset="-122"/>
                <a:cs typeface="Poppins" pitchFamily="34" charset="0"/>
              </a:rPr>
              <a:t> switched to Disabled on the planner</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Meaning match</a:t>
            </a:r>
            <a:r>
              <a:rPr lang="en-US" sz="1400" dirty="0">
                <a:solidFill>
                  <a:srgbClr val="1B365D"/>
                </a:solidFill>
                <a:latin typeface="Poppins" pitchFamily="34" charset="0"/>
                <a:ea typeface="Poppins" pitchFamily="34" charset="-122"/>
                <a:cs typeface="Poppins" pitchFamily="34" charset="0"/>
              </a:rPr>
              <a:t> held at 86% in both later runs, while Answer quality moved to 71% and 57%</a:t>
            </a:r>
            <a:endParaRPr lang="en-US" sz="1450" dirty="0"/>
          </a:p>
        </p:txBody>
      </p:sp>
      <p:pic>
        <p:nvPicPr>
          <p:cNvPr id="5" name="Image 0" descr="preencoded.png"/>
          <p:cNvPicPr>
            <a:picLocks noChangeAspect="1"/>
          </p:cNvPicPr>
          <p:nvPr/>
        </p:nvPicPr>
        <p:blipFill>
          <a:blip r:embed="rId3"/>
          <a:stretch>
            <a:fillRect/>
          </a:stretch>
        </p:blipFill>
        <p:spPr>
          <a:xfrm>
            <a:off x="5539641" y="2394446"/>
            <a:ext cx="5996830" cy="3373239"/>
          </a:xfrm>
          <a:prstGeom prst="rect">
            <a:avLst/>
          </a:prstGeom>
        </p:spPr>
      </p:pic>
    </p:spTree>
    <p:extLst>
      <p:ext uri="{BB962C8B-B14F-4D97-AF65-F5344CB8AC3E}">
        <p14:creationId xmlns:p14="http://schemas.microsoft.com/office/powerpoint/2010/main" val="2996817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t="12267" b="12267"/>
          <a:stretch>
            <a:fillRect/>
          </a:stretch>
        </p:blipFill>
        <p:spPr>
          <a:xfrm>
            <a:off x="6095848" y="0"/>
            <a:ext cx="6095848" cy="6858000"/>
          </a:xfrm>
          <a:prstGeom prst="rect">
            <a:avLst/>
          </a:prstGeom>
        </p:spPr>
      </p:pic>
      <p:sp>
        <p:nvSpPr>
          <p:cNvPr id="4" name="Text 0"/>
          <p:cNvSpPr/>
          <p:nvPr/>
        </p:nvSpPr>
        <p:spPr>
          <a:xfrm>
            <a:off x="609600" y="1313267"/>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Takeaways</a:t>
            </a:r>
            <a:endParaRPr lang="en-US" sz="3700" dirty="0"/>
          </a:p>
        </p:txBody>
      </p:sp>
      <p:sp>
        <p:nvSpPr>
          <p:cNvPr id="5" name="Text 1"/>
          <p:cNvSpPr/>
          <p:nvPr/>
        </p:nvSpPr>
        <p:spPr>
          <a:xfrm>
            <a:off x="609600" y="1956635"/>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What to carry into the GitHub Copilot agents module</a:t>
            </a:r>
            <a:endParaRPr lang="en-US" sz="2200" dirty="0"/>
          </a:p>
        </p:txBody>
      </p:sp>
      <p:sp>
        <p:nvSpPr>
          <p:cNvPr id="6" name="Text 2"/>
          <p:cNvSpPr/>
          <p:nvPr/>
        </p:nvSpPr>
        <p:spPr>
          <a:xfrm>
            <a:off x="609600" y="2812138"/>
            <a:ext cx="4824773"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An unattended run has nobody to ask: the </a:t>
            </a:r>
            <a:r>
              <a:rPr lang="en-US" sz="1400" b="1" dirty="0">
                <a:solidFill>
                  <a:srgbClr val="1B365D"/>
                </a:solidFill>
                <a:latin typeface="Poppins" pitchFamily="34" charset="0"/>
                <a:ea typeface="Poppins" pitchFamily="34" charset="-122"/>
                <a:cs typeface="Poppins" pitchFamily="34" charset="0"/>
              </a:rPr>
              <a:t>instructions</a:t>
            </a:r>
            <a:r>
              <a:rPr lang="en-US" sz="1400" dirty="0">
                <a:solidFill>
                  <a:srgbClr val="1B365D"/>
                </a:solidFill>
                <a:latin typeface="Poppins" pitchFamily="34" charset="0"/>
                <a:ea typeface="Poppins" pitchFamily="34" charset="-122"/>
                <a:cs typeface="Poppins" pitchFamily="34" charset="0"/>
              </a:rPr>
              <a:t> carry the whole job, the tools use maker credentials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Put reason only on the step that has to </a:t>
            </a:r>
            <a:r>
              <a:rPr lang="en-US" sz="1400" b="1" dirty="0">
                <a:solidFill>
                  <a:srgbClr val="1B365D"/>
                </a:solidFill>
                <a:latin typeface="Poppins" pitchFamily="34" charset="0"/>
                <a:ea typeface="Poppins" pitchFamily="34" charset="-122"/>
                <a:cs typeface="Poppins" pitchFamily="34" charset="0"/>
              </a:rPr>
              <a:t>weigh several rules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Route on </a:t>
            </a:r>
            <a:r>
              <a:rPr lang="en-US" sz="1400" b="1" dirty="0">
                <a:solidFill>
                  <a:srgbClr val="1B365D"/>
                </a:solidFill>
                <a:latin typeface="Poppins" pitchFamily="34" charset="0"/>
                <a:ea typeface="Poppins" pitchFamily="34" charset="-122"/>
                <a:cs typeface="Poppins" pitchFamily="34" charset="0"/>
              </a:rPr>
              <a:t>descriptions</a:t>
            </a:r>
            <a:r>
              <a:rPr lang="en-US" sz="1400" dirty="0">
                <a:solidFill>
                  <a:srgbClr val="1B365D"/>
                </a:solidFill>
                <a:latin typeface="Poppins" pitchFamily="34" charset="0"/>
                <a:ea typeface="Poppins" pitchFamily="34" charset="-122"/>
                <a:cs typeface="Poppins" pitchFamily="34" charset="0"/>
              </a:rPr>
              <a:t> that each claim one job, and prove every route in the activity map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Let developers own a </a:t>
            </a:r>
            <a:r>
              <a:rPr lang="en-US" sz="1400" b="1" dirty="0">
                <a:solidFill>
                  <a:srgbClr val="1B365D"/>
                </a:solidFill>
                <a:latin typeface="Poppins" pitchFamily="34" charset="0"/>
                <a:ea typeface="Poppins" pitchFamily="34" charset="-122"/>
                <a:cs typeface="Poppins" pitchFamily="34" charset="0"/>
              </a:rPr>
              <a:t>Foundry specialist</a:t>
            </a:r>
            <a:r>
              <a:rPr lang="en-US" sz="1400" dirty="0">
                <a:solidFill>
                  <a:srgbClr val="1B365D"/>
                </a:solidFill>
                <a:latin typeface="Poppins" pitchFamily="34" charset="0"/>
                <a:ea typeface="Poppins" pitchFamily="34" charset="-122"/>
                <a:cs typeface="Poppins" pitchFamily="34" charset="0"/>
              </a:rPr>
              <a:t> and connect it over the Activity Protocol</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Gate changes on a </a:t>
            </a:r>
            <a:r>
              <a:rPr lang="en-US" sz="1400" b="1" dirty="0">
                <a:solidFill>
                  <a:srgbClr val="1B365D"/>
                </a:solidFill>
                <a:latin typeface="Poppins" pitchFamily="34" charset="0"/>
                <a:ea typeface="Poppins" pitchFamily="34" charset="-122"/>
                <a:cs typeface="Poppins" pitchFamily="34" charset="0"/>
              </a:rPr>
              <a:t>test set</a:t>
            </a:r>
            <a:r>
              <a:rPr lang="en-US" sz="1400" dirty="0">
                <a:solidFill>
                  <a:srgbClr val="1B365D"/>
                </a:solidFill>
                <a:latin typeface="Poppins" pitchFamily="34" charset="0"/>
                <a:ea typeface="Poppins" pitchFamily="34" charset="-122"/>
                <a:cs typeface="Poppins" pitchFamily="34" charset="0"/>
              </a:rPr>
              <a:t> with a comparing method, one change per run</a:t>
            </a:r>
            <a:endParaRPr lang="en-US" sz="1450" dirty="0"/>
          </a:p>
        </p:txBody>
      </p:sp>
    </p:spTree>
    <p:extLst>
      <p:ext uri="{BB962C8B-B14F-4D97-AF65-F5344CB8AC3E}">
        <p14:creationId xmlns:p14="http://schemas.microsoft.com/office/powerpoint/2010/main" val="2302236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2034</Words>
  <Application>Microsoft Office PowerPoint</Application>
  <PresentationFormat>Widescreen</PresentationFormat>
  <Paragraphs>235</Paragraphs>
  <Slides>31</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Poppins Bold</vt:lpstr>
      <vt:lpstr>IBM Plex Sans</vt:lpstr>
      <vt:lpstr>Calibri</vt:lpstr>
      <vt:lpstr>Montserrat</vt:lpstr>
      <vt:lpstr>Montserrat Bold</vt:lpstr>
      <vt:lpstr>Poppins</vt:lpstr>
      <vt:lpstr>IBM Plex Sans Light</vt:lpstr>
      <vt:lpstr>Wingdings</vt: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2026-10-22T17:56:03Z</dcterms:created>
  <dcterms:modified xsi:type="dcterms:W3CDTF">2026-10-22T18:08:28Z</dcterms:modified>
</cp:coreProperties>
</file>