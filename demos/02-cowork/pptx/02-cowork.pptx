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502" r:id="rId2"/>
    <p:sldId id="503" r:id="rId3"/>
    <p:sldId id="504" r:id="rId4"/>
    <p:sldId id="505" r:id="rId5"/>
    <p:sldId id="256" r:id="rId6"/>
    <p:sldId id="257" r:id="rId7"/>
    <p:sldId id="506" r:id="rId8"/>
    <p:sldId id="258" r:id="rId9"/>
    <p:sldId id="259" r:id="rId10"/>
    <p:sldId id="260" r:id="rId11"/>
    <p:sldId id="507" r:id="rId12"/>
    <p:sldId id="261" r:id="rId13"/>
    <p:sldId id="262" r:id="rId14"/>
    <p:sldId id="263" r:id="rId15"/>
    <p:sldId id="508" r:id="rId16"/>
    <p:sldId id="264" r:id="rId17"/>
    <p:sldId id="265" r:id="rId18"/>
    <p:sldId id="266" r:id="rId19"/>
    <p:sldId id="509" r:id="rId20"/>
    <p:sldId id="267" r:id="rId21"/>
    <p:sldId id="268" r:id="rId22"/>
    <p:sldId id="269" r:id="rId23"/>
    <p:sldId id="510" r:id="rId24"/>
    <p:sldId id="270" r:id="rId25"/>
    <p:sldId id="271" r:id="rId26"/>
    <p:sldId id="272" r:id="rId27"/>
    <p:sldId id="511" r:id="rId28"/>
    <p:sldId id="273" r:id="rId29"/>
    <p:sldId id="274" r:id="rId30"/>
    <p:sldId id="275" r:id="rId31"/>
    <p:sldId id="276" r:id="rId32"/>
  </p:sldIdLst>
  <p:sldSz cx="12192000" cy="6858000"/>
  <p:notesSz cx="6858000" cy="12192000"/>
  <p:embeddedFontLst>
    <p:embeddedFont>
      <p:font typeface="Consolas" panose="020B0609020204030204" pitchFamily="49" charset="0"/>
      <p:regular r:id="rId34"/>
      <p:bold r:id="rId35"/>
      <p:italic r:id="rId36"/>
      <p:boldItalic r:id="rId37"/>
    </p:embeddedFont>
    <p:embeddedFont>
      <p:font typeface="IBM Plex Sans" panose="020B0503050203000203" pitchFamily="34" charset="0"/>
      <p:regular r:id="rId38"/>
    </p:embeddedFont>
    <p:embeddedFont>
      <p:font typeface="IBM Plex Sans Light" panose="020B0403050203000203" pitchFamily="34" charset="0"/>
      <p:regular r:id="rId39"/>
    </p:embeddedFont>
    <p:embeddedFont>
      <p:font typeface="Montserrat" panose="00000500000000000000" pitchFamily="2" charset="0"/>
      <p:regular r:id="rId40"/>
      <p:bold r:id="rId41"/>
      <p:italic r:id="rId42"/>
      <p:boldItalic r:id="rId43"/>
    </p:embeddedFont>
    <p:embeddedFont>
      <p:font typeface="Montserrat Bold" panose="00000800000000000000" pitchFamily="2" charset="0"/>
      <p:bold r:id="rId44"/>
    </p:embeddedFont>
    <p:embeddedFont>
      <p:font typeface="Poppins" panose="00000500000000000000" pitchFamily="2" charset="0"/>
      <p:regular r:id="rId45"/>
    </p:embeddedFont>
    <p:embeddedFont>
      <p:font typeface="Poppins Bold" panose="00000800000000000000" charset="0"/>
      <p:regular r:id="rId46"/>
    </p:embeddedFont>
    <p:embeddedFont>
      <p:font typeface="Poppins Light" panose="00000400000000000000" pitchFamily="2" charset="0"/>
      <p:regular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font" Target="fonts/font11.fntdata"/><Relationship Id="rId45" Type="http://schemas.openxmlformats.org/officeDocument/2006/relationships/font" Target="fonts/font12.fntdata"/><Relationship Id="rId46" Type="http://schemas.openxmlformats.org/officeDocument/2006/relationships/font" Target="fonts/font13.fntdata"/><Relationship Id="rId47" Type="http://schemas.openxmlformats.org/officeDocument/2006/relationships/font" Target="fonts/font14.fntdata"/><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927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4260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80910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covers Microsoft 365 Copilot Cowork, the agentic AI in Microsoft 365 that does work on your behalf. It has been generally available since June 2026, and access comes from a Copilot Credits spending policy rather than Frontier enrollment.</a:t>
            </a:r>
          </a:p>
          <a:p/>
          <a:p>
            <a:r>
              <a:t>Delegate: you describe an outcome in plain language, and Cowork plans and runs the steps across your apps. Most demos share one scenario: you are the Regional Manager for Northern Europe at Aurora Outdoor, a Nordic outdoor-gear retailer, closing out Q3.</a:t>
            </a:r>
          </a:p>
          <a:p/>
          <a:p>
            <a:r>
              <a:t>Extend: built-in and custom skills, scheduled prompts and plugins decide what Cowork can do and when it runs. The module adds them one topic at a time.</a:t>
            </a:r>
          </a:p>
          <a:p/>
          <a:p>
            <a:r>
              <a:t>Approve: Cowork pauses before anything is sent or saved, so you stay in the loop for every action that leaves a mark. The last topic covers approvals, risk levels and admin governance.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module before the first topic starts. The six topics fall into four phases, shown left to right in the diagram.</a:t>
            </a:r>
          </a:p>
          <a:p/>
          <a:p>
            <a:r>
              <a:t>Get started: topic 1 explains what Cowork is, how it differs from Copilot Chat, how an admin enables it, where to open it, what it remembers, which model and reasoning effort to choose, its core capabilities and how a typical task runs. Its two demos build a Q3 business review deck and book a meeting from live calendar data.</a:t>
            </a:r>
          </a:p>
          <a:p/>
          <a:p>
            <a:r>
              <a:t>Use and author skills: topic 2 covers the built-in skill catalog and the Workspace panel that shows Cowork's live work. Topic 3 teaches you to write your own skill in plain language as a `SKILL.md` file.</a:t>
            </a:r>
          </a:p>
          <a:p/>
          <a:p>
            <a:r>
              <a:t>Recurring work: topic 4 runs a prompt or custom skill on a schedule, or when an email or Teams message arrives. Sends and posts in those runs still wait for your approval.</a:t>
            </a:r>
          </a:p>
          <a:p/>
          <a:p>
            <a:r>
              <a:t>Extensible: topic 5 adds plugins from the Customize page and shows how to upload and share your own. Plugins bring in external data and expertise you cannot write yourself.</a:t>
            </a:r>
          </a:p>
          <a:p/>
          <a:p>
            <a:r>
              <a:t>Human control: topic 6 explains the approval model, risk levels, pausing a task and feedback. It ends with the controls admins use to govern Cowork.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sets Cowork apart from Copilot Chat, which the class already knows. Think of Chat as your AI thought partner and Cowork as your AI colleague who actually does the work.</a:t>
            </a:r>
          </a:p>
          <a:p/>
          <a:p>
            <a:r>
              <a:t>Copilot Chat: it gives fast, single-task support, a quick draft, answer or insight in seconds to minutes. You drive it one question at a time and merge the text yourself, the loop in the upper lane.</a:t>
            </a:r>
          </a:p>
          <a:p/>
          <a:p>
            <a:r>
              <a:t>Cowork: it completes multi-step work across apps and data, and a task can run from minutes to hours. You name the outcome, it breaks the goal into tasks, selects skills and acts in Outlook, Teams, Word, Excel and PowerPoint.</a:t>
            </a:r>
          </a:p>
          <a:p/>
          <a:p>
            <a:r>
              <a:t>Your job shifts: instead of asking good questions, you judge a plan before work starts and review what comes back. Use Cowork when you need Copilot to take action, not just suggest.</a:t>
            </a:r>
          </a:p>
          <a:p/>
          <a:p>
            <a:r>
              <a:t>Copilot Home: announced on September 25, 2026, it brings Chat and Cowork into one starting point and routes each request to Chat, Cowork or Code. Home and Code roll out through the Frontier program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anyone opens Cowork, a tenant admin enables a few things, and this is admin work rather than maker work. A user gets Cowork when a spending policy that selects Cowork covers them.</a:t>
            </a:r>
          </a:p>
          <a:p/>
          <a:p>
            <a:r>
              <a:t>Copilot license: every pilot user, and the admin account doing the setup, needs an active Microsoft 365 Copilot license. Global or Billing administrators create spending policies; AI or License administrators can edit them but not create them.</a:t>
            </a:r>
          </a:p>
          <a:p/>
          <a:p>
            <a:r>
              <a:t>Usage-based billing: a Global or Billing administrator opens Copilot &gt; Cost Management in the Microsoft 365 admin center and selects Get Started. Cowork is metered in Copilot Credits, not a per-user seat.</a:t>
            </a:r>
          </a:p>
          <a:p/>
          <a:p>
            <a:r>
              <a:t>Spending policy: scope it to your pilot group and select Cowork under Select agents and services. A one-credit limit grants access, and a per-user limit keeps one person from draining the whole budget.</a:t>
            </a:r>
          </a:p>
          <a:p/>
          <a:p>
            <a:r>
              <a:t>Optional settings: Anthropic models default to No users in the EU, EFTA and the UK and are excluded from the EU Data Boundary, so route that choice through compliance review. Frontier is needed only for the App skill and GPT 5.5.</a:t>
            </a:r>
          </a:p>
          <a:p/>
          <a:p>
            <a:r>
              <a:t>Discovery: the AI experiences enabled by usage-based billing setting controls visibility only. If Cowork still does not appear, first check whether the user is in scope of a spending policy that selects Cowork.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Cowork task follows five steps, and the first demo walks them on the Q3 business review for your VP, Elena Varga. The screenshot shows the finished deck in the PowerPoint preview, open on slide 2, the executive summary.</a:t>
            </a:r>
          </a:p>
          <a:p/>
          <a:p>
            <a:r>
              <a:t>Describe: you attach q2-review.pptx, q3-sales-by-region.xlsx and q3-regional-notes.docx and name the outcome without saying which file is for what. Cowork works out that the Q2 deck is the template, the workbook holds the figures and the notes carry the story.</a:t>
            </a:r>
          </a:p>
          <a:p/>
          <a:p>
            <a:r>
              <a:t>Watch: Cowork returns a numbered plan and waits, because you asked to see it first. After your go-ahead the Workspace panel adds Steps, and after several minutes the deck appears under Output.</a:t>
            </a:r>
          </a:p>
          <a:p/>
          <a:p>
            <a:r>
              <a:t>Steer: you redirect the plan like a colleague's outline, leading with the fleece returns across all four countries and closing with the six open roles. The executive summary in the screenshot keeps that order: it opens on the fleece returns and ends with the ask to fill the six open sales roles.</a:t>
            </a:r>
          </a:p>
          <a:p/>
          <a:p>
            <a:r>
              <a:t>Approve: sending the deck leaves your workspace, so Cowork holds it at a Send draft? card with a Medium risk badge even though the prompt said to send. In the demo the mail goes to your own address, standing in for Elena.</a:t>
            </a:r>
          </a:p>
          <a:p/>
          <a:p>
            <a:r>
              <a:t>Review: the speaker notes land in the same file, and Output still lists one deck rather than an original plus a copy. The preview hides the notes; Open in PowerPoint shows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opens the skills topic with what ships in the box and where you watch it work. Cowork chooses the skills from the task you describe, and you can also call one by name.</a:t>
            </a:r>
          </a:p>
          <a:p/>
          <a:p>
            <a:r>
              <a:t>Built-in skills: Word, Excel, PowerPoint, PDF, Email, Scheduling, Calendar Management, Meetings, Daily Briefing, Enterprise Search, Deep Research, Communications, Adaptive Cards and App (Frontier) ship with Cowork. Image generation ships too: it runs on ChatGPT Images 2.0, asks clarifying questions when a prompt lacks detail, and saves the image to your session and your OneDrive output folder. Every PowerPoint deck Cowork creates gets your organization's brand template.</a:t>
            </a:r>
          </a:p>
          <a:p/>
          <a:p>
            <a:r>
              <a:t>Workspace panel: Steps shows the plan with each step ticked when done, Output the files Cowork created and References the files you attached. Schedule lists scheduled prompts, and Permissions the actions you approved with don't ask again.</a:t>
            </a:r>
          </a:p>
          <a:p/>
          <a:p>
            <a:r>
              <a:t>Plugins: in the diagram the Excel skill builds the spreadsheet and the Email skill sends it, and each chip lights up as its step runs. In the market-brief demo, Deep Research and Web Search appear while Cowork researches, and Word joins them when it writes the brief.</a:t>
            </a:r>
          </a:p>
          <a:p/>
          <a:p>
            <a:r>
              <a:t>Which skill to steer: when a step stalls or produces the wrong output, the Plugins list tells you which skill was at work. Long steps such as Deep Research run for a few minutes as a background task.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Built-in skills are only the starting point. The diagram shows the six ways a skill reaches Cowork and the two ways it gets loaded: Cowork matches its description, or you call it by name.</a:t>
            </a:r>
          </a:p>
          <a:p/>
          <a:p>
            <a:r>
              <a:t>Create: Customize &gt; Add &gt; Create skill with Cowork starts a guided conversation, and you can also write a SKILL.md into OneDrive yourself. The next topic teaches both.</a:t>
            </a:r>
          </a:p>
          <a:p/>
          <a:p>
            <a:r>
              <a:t>Upload: Customize &gt; Add &gt; Upload takes a skill file, and a colleague can share a skill with you. The same Upload also takes a plugin package of your own.</a:t>
            </a:r>
          </a:p>
          <a:p/>
          <a:p>
            <a:r>
              <a:t>Plugins: they come from Discover, as admin-deployed plugins your IT organization rolls out, or as a package you upload. Plugins get their own topic later in the module.</a:t>
            </a:r>
          </a:p>
          <a:p/>
          <a:p>
            <a:r>
              <a:t>Reads each description: custom, uploaded and plugin skills appear in the same Plugins list and activate the same way. Cowork loads a skill when the work calls for it, so you rarely name one.</a:t>
            </a:r>
          </a:p>
          <a:p/>
          <a:p>
            <a:r>
              <a:t>Slash: to call a skill on purpose, type / in the composer and pick it from the Skills tab, where your own skills sit under Custom skills. Customize lists everything under Added, each with its own switch.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topic's demo, which prepares Aurora Outdoor's AW26 brand planning. The diagram follows its four prompts, with the skill each one uses and what it returns.</a:t>
            </a:r>
          </a:p>
          <a:p/>
          <a:p>
            <a:r>
              <a:t>Deep Research: the first prompt asks for the trends shaping premium outdoor brands, each with its source. The chat reads Working on 1 background task, and Deep Research and Web Search appear under Plugins.</a:t>
            </a:r>
          </a:p>
          <a:p/>
          <a:p>
            <a:r>
              <a:t>Gap analysis: the attached positioning document is held against the research in the same task. The repair programme aligns with the circular trend, while the missing sustainability metrics, the thin trail-running presence and the fleece sizing returns come back as exposed.</a:t>
            </a:r>
          </a:p>
          <a:p/>
          <a:p>
            <a:r>
              <a:t>Word: Cowork writes an executive summary, market trends, where Aurora stands and risks to watch, about two pages. Word joins Deep Research and Web Search under Plugins.</a:t>
            </a:r>
          </a:p>
          <a:p/>
          <a:p>
            <a:r>
              <a:t>Recommendations: the last prompt asks for a point of view, three moves in priority order with the first marked Top pick. In the class run the top pick was checking and backing up every environmental claim in market.</a:t>
            </a:r>
          </a:p>
          <a:p/>
          <a:p>
            <a:r>
              <a:t>PDF: one background task, Add recommendations and export PDF, saves the Word file and exports the PDF with the same name. No separate PDF entry appears under Plugins.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52836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a custom skill comes into being and when Cowork first sees it. A custom skill teaches Cowork your own recurring work in plain language, with no coding.</a:t>
            </a:r>
          </a:p>
          <a:p/>
          <a:p>
            <a:r>
              <a:t>Guided flow: Customize &gt; Add &gt; Create skill with Cowork starts a guided conversation, and Cowork saves the result.</a:t>
            </a:r>
          </a:p>
          <a:p/>
          <a:p>
            <a:r>
              <a:t>Ask in chat: describe the task you repeat and ask Cowork to build a skill for it. The result lands in the same folder as the other paths.</a:t>
            </a:r>
          </a:p>
          <a:p/>
          <a:p>
            <a:r>
              <a:t>Write it yourself: place a SKILL.md inside its own subfolder of Documents/Cowork/Skills/ in your OneDrive. A file written straight into OneDrive can take several minutes to sync, so reload Customize until it shows under Added.</a:t>
            </a:r>
          </a:p>
          <a:p/>
          <a:p>
            <a:r>
              <a:t>Discovers: Cowork finds your custom skills at the start of each conversation, up to 50 of them. A skill you just added shows up in the next new task, not in the one already open.</a:t>
            </a:r>
          </a:p>
          <a:p/>
          <a:p>
            <a:r>
              <a:t>Upload: Customize &gt; Add &gt; Upload takes a single .md up to 1 MB, or a .zip or .skill archive with SKILL.md at its root, up to 10 MB compressed. Share offers Only you or Specific users in your organization, and Re-share sends the latest version after an edit.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57533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takes apart the product-pitch skill from the first demo of the topic. A skill file has two parts: a YAML header with a name and a description, and plain-language instructions.</a:t>
            </a:r>
          </a:p>
          <a:p/>
          <a:p>
            <a:r>
              <a:t>Name: lowercase letters, numbers and hyphens, up to 64 characters, and it must match its folder, so product-pitch/ carries name: product-pitch. A mismatch is the most common reason a skill silently fails to load.</a:t>
            </a:r>
          </a:p>
          <a:p/>
          <a:p>
            <a:r>
              <a:t>Description: Cowork reads only the description to decide whether the skill applies, so it names the phrases you would actually type, such as build a pitch or turn this brief into a deck. A vague description like helps with reports rarely matches.</a:t>
            </a:r>
          </a:p>
          <a:p/>
          <a:p>
            <a:r>
              <a:t>Instructions: the body is the step-by-step recipe Cowork follows, up to 1 MB. This one fills seven cards in order and never invents pricing, order tiers or terms.</a:t>
            </a:r>
          </a:p>
          <a:p/>
          <a:p>
            <a:r>
              <a:t>Companion files: the diagram shows both demo skills, product-pitch naming pitch-deck-structure.pptx and meeting-prep naming meeting-brief-template.docx. Cowork reads the companion file whenever the skill runs.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143473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closes the topic with the loop the product-pitch demo follows once the skill is saved. The screenshot is the card Cowork holds before it writes your fixes into SKILL.md.</a:t>
            </a:r>
          </a:p>
          <a:p/>
          <a:p>
            <a:r>
              <a:t>Run it by name: start a new task, because discovery happens at the start of a conversation, and run the skill against aw26-market-brief.docx. Then ask Cowork to quote the line in the brief behind every claim on The shift, The gap and Why Aurora.</a:t>
            </a:r>
          </a:p>
          <a:p/>
          <a:p>
            <a:r>
              <a:t>Miss the skill: ask which pitch requests phrased the way you talk would fail to trigger it, such as a sell-in deck for your accounts. Tie each weak claim to the instruction that let it through.</a:t>
            </a:r>
          </a:p>
          <a:p/>
          <a:p>
            <a:r>
              <a:t>Edit file?: accept Cowork's offer to apply the fixes, and it holds an Edit file? card for SKILL.md at Medium risk, here with four text replacements, before it overwrites anything. Approve it with Approve once from the arrow beside Always allow Edit artifact; a new task started a few minutes later already uses the edited skill.</a:t>
            </a:r>
          </a:p>
          <a:p/>
          <a:p>
            <a:r>
              <a:t>Skill Report: Cowork scores every skill you create or update from 0 to 100 across trigger clarity, instruction specificity, scope boundaries and robustness, 25 points each. A low trigger clarity score usually points at the description.</a:t>
            </a:r>
          </a:p>
          <a:p/>
          <a:p>
            <a:r>
              <a:t>Fires without being named: ask for a partner deck for the AW26 trail-running capsule in your own words, and the step log reads Reviewed custom skill Product pitch. The commercial cards stay as bracketed placeholders until you supply the input, and in the class run the title card's promise did too.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51628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topic turns a prompt you would run once into work that repeats. Cowork runs it on a schedule or when something happens, and delivers the result without you.</a:t>
            </a:r>
          </a:p>
          <a:p/>
          <a:p>
            <a:r>
              <a:t>Schedule: write the prompt as usual, describing the full outcome, then set a recurrence of daily, weekly, monthly or a specific time. Asked in chat, Cowork proposes a Create recurring task? card, and you can have up to 25 scheduled prompts.</a:t>
            </a:r>
          </a:p>
          <a:p/>
          <a:p>
            <a:r>
              <a:t>Trigger: describe the trigger and the job in chat, and Cowork proposes a Set up trigger? card that you arm with Set up. Teams triggers can be limited to messages that mention you.</a:t>
            </a:r>
          </a:p>
          <a:p/>
          <a:p>
            <a:r>
              <a:t>Automations page: Add creates an automation directly, and templates such as Daily briefing and Weekly wrap start from a ready-made prompt. The filters All, Scheduled, Triggers and Paused sort the list, and event-driven tasks show Active, Draft or Paused.</a:t>
            </a:r>
          </a:p>
          <a:p/>
          <a:p>
            <a:r>
              <a:t>Enable switch: each automation shows its recurrence and next run, and its ... menu offers Edit, Run now, Pause or Resume, and Delete. A paused automation keeps its settings and does not run until you resume it.</a:t>
            </a:r>
          </a:p>
          <a:p/>
          <a:p>
            <a:r>
              <a:t>Custom skill: the skill carries your format and sources, the schedule or trigger carries the cadence. Point a schedule at a custom skill and you get repeatable, house-style output with no manual effort.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773431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five examples show the work worth handing over: the same output from the same sources, on a fixed rhythm or in response to a message. The first three run on a schedule, the last two on a trigger.</a:t>
            </a:r>
          </a:p>
          <a:p/>
          <a:p>
            <a:r>
              <a:t>Daily Briefing: every weekday at 8 AM, Cowork gathers today's meetings, unread priority emails and any documents shared with you since yesterday.</a:t>
            </a:r>
          </a:p>
          <a:p/>
          <a:p>
            <a:r>
              <a:t>Status report: every Friday at 4 PM, it summarizes your sent emails and calendar for the week into a Word status report for your manager. The topic's demo builds exactly this, and the send still waits for your approval.</a:t>
            </a:r>
          </a:p>
          <a:p/>
          <a:p>
            <a:r>
              <a:t>Monthly digest: on the first of the month, it compiles last month's project updates from the Marketing Teams channel into a one-page digest.</a:t>
            </a:r>
          </a:p>
          <a:p/>
          <a:p>
            <a:r>
              <a:t>Email trigger: whenever your manager emails you about supplier delays, Cowork summarizes the message and drafts a reply for your review.</a:t>
            </a:r>
          </a:p>
          <a:p/>
          <a:p>
            <a:r>
              <a:t>Teams trigger: when you are @mentioned in the Aurora Outdoor Operations channel, it emails you a one-line summary.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629359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what an automated task may do while you are not watching, on the weekly status report from the topic's demo. The screenshot is the card Cowork proposed when asked to run the weekly-status-report skill every Friday at 3 PM.</a:t>
            </a:r>
          </a:p>
          <a:p/>
          <a:p>
            <a:r>
              <a:t>Create recurring task?: check that Repeat reads Weekly, Friday, 3:00 PM and that Run in starts a new conversation for each run. Select Schedule, and Cowork confirms the first run date.</a:t>
            </a:r>
          </a:p>
          <a:p/>
          <a:p>
            <a:r>
              <a:t>Description: every run receives this text as its prompt, so read it before you schedule. In the class tenant it addresses the draft to you, because Elena Varga has no mailbox there.</a:t>
            </a:r>
          </a:p>
          <a:p/>
          <a:p>
            <a:r>
              <a:t>Run once now: leave it ticked to watch a first run and its approvals straight away, or clear it so the first run lands on Friday. After the demo, pause the task on the Automations page, because each run spends Copilot Credits.</a:t>
            </a:r>
          </a:p>
          <a:p/>
          <a:p>
            <a:r>
              <a:t>Drafts: each run writes a one-page Word report and saves an email that starts Hi Elena to your Drafts folder. New files in Output and a saved draft need no approval.</a:t>
            </a:r>
          </a:p>
          <a:p/>
          <a:p>
            <a:r>
              <a:t>Not approved: by default scheduled and event-driven tasks hold any send, post or change for your approval, and pre-authorizing actions when you create a task trades control for speed. Tasks run with your permissions, are rate-limited and are guarded against triggering themselves in a loop.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152784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Built-in skills handle common office tasks and custom skills capture your own recipes, but both live inside Microsoft 365. Plugins reach beyond it, and they come from Discover on the Customize page, from your admin, from a colleague or from a package you upload.</a:t>
            </a:r>
          </a:p>
          <a:p/>
          <a:p>
            <a:r>
              <a:t>Specialized expertise: a plugin can carry skills for financial analysis, legal research, or clinical and HR domain knowledge. Microsoft offers Dynamics 365 Customer Service, Sales and ERP, Fabric IQ and Business Applications in Work IQ, plus role-based plugins for Legal, Sales, Service and Education.</a:t>
            </a:r>
          </a:p>
          <a:p/>
          <a:p>
            <a:r>
              <a:t>MCP connectors: a plugin's connectors are MCP servers that reach CRM data, ticketing systems and third-party APIs. In the diagram they are the only part that crosses the Microsoft 365 line.</a:t>
            </a:r>
          </a:p>
          <a:p/>
          <a:p>
            <a:r>
              <a:t>Connect sign-in: each user completes a one-time Connect sign-in before a connector works for them.</a:t>
            </a:r>
          </a:p>
          <a:p/>
          <a:p>
            <a:r>
              <a:t>Widgets and admin rollout: an MCP app returns a UI that renders in the conversation. IT admins can roll plugins out to the whole organization, and those plugins show Managed by your organization.</a:t>
            </a:r>
          </a:p>
          <a:p/>
          <a:p>
            <a:r>
              <a:t>Plugins button: message center item MC1484008 (2026-09-30) replaces the Agents, Agents &amp; Skills and Customize buttons with one Plugins button as the rollout reaches your tenant. Until that change arrives, Cowork still shows Customize, and the Customize steps in this topic match your screen.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847689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demo steps out of the Aurora Outdoor scenario on purpose, because a plugin brings expertise from its own domain. You play a registered dietitian, and the screenshot is the packet Cowork compiled from a fictional client intake form.</a:t>
            </a:r>
          </a:p>
          <a:p/>
          <a:p>
            <a:r>
              <a:t>Upload: the dietitian plugin comes from the community awesome-copilot-cowork-plugins repository as a manifest.json, icon PNGs and a skills/ folder. Zip them with manifest.json at the root, upload under Customize &gt; Add &gt; Upload and keep Only you in the Publish dialog.</a:t>
            </a:r>
          </a:p>
          <a:p/>
          <a:p>
            <a:r>
              <a:t>Two skills: clinical-nutrition calculates energy and protein needs and interprets the labs, and dietary-communication turns that into a plain-language handout. The handout keeps the client's West African dishes and gives amounts in cups and spoons.</a:t>
            </a:r>
          </a:p>
          <a:p/>
          <a:p>
            <a:r>
              <a:t>Plugins list: each plugin skill loads with a Reviewed custom skill step and appears under Plugins as dietitian (clinical-nutrition), next to the built-in Word. There is no separate mode to switch into.</a:t>
            </a:r>
          </a:p>
          <a:p/>
          <a:p>
            <a:r>
              <a:t>Word: the built-in Word skill compiles both drafts in a background task of around ten minutes. The bold DRAFT ONLY line sits directly under the title, and the client handout starts on its own page.</a:t>
            </a:r>
          </a:p>
          <a:p/>
          <a:p>
            <a:r>
              <a:t>Sharing: Only you and Specific users in your organization need no admin, while publishing to the whole organization waits for admin approval. Public store listings go through Partner Center.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620682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stays with the dietitian demo for one rule that travels with every plugin. Every skill in the dietitian plugin is for drafting only, and its output is not medical nutrition therapy.</a:t>
            </a:r>
          </a:p>
          <a:p/>
          <a:p>
            <a:r>
              <a:t>Review: before anything reaches a client, a registered dietitian reads every calculation, every lab interpretation and every handout claim, then approves or corrects it. The plugin speeds up the drafting; it does not replace the clinician.</a:t>
            </a:r>
          </a:p>
          <a:p/>
          <a:p>
            <a:r>
              <a:t>Disclaimer: the DRAFT ONLY line at the top of the packet keeps an unreviewed draft from being mistaken for approved advice. If Cowork buries it, ask for it as the first line before anything else.</a:t>
            </a:r>
          </a:p>
          <a:p/>
          <a:p>
            <a:r>
              <a:t>Effort: raising the reasoning effort to High or Max does not make clinical output more trustworthy. The dietitian's review is the control, not the effort level.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953061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Cowork acts on your behalf, but never behind your back. The screenshot is the card from the Work IQ scheduling demo, where Cowork booked a one-hour Agentic AI session on your own calendar.</a:t>
            </a:r>
          </a:p>
          <a:p/>
          <a:p>
            <a:r>
              <a:t>The card: before Cowork sends an email, posts in Teams, books or changes a meeting or edits an existing file, it pauses and shows what it will write. Here that is the date, the title, the attendees and the agenda, all still editable.</a:t>
            </a:r>
          </a:p>
          <a:p/>
          <a:p>
            <a:r>
              <a:t>Approve once: the action button, here Save, approves that one action, and Cancel skips it while Cowork carries on. When several approvals are pending, Approve All (n) releases every one of them.</a:t>
            </a:r>
          </a:p>
          <a:p/>
          <a:p>
            <a:r>
              <a:t>More options: the arrow approves and skips similar prompts for the rest of the session; for email and Teams it offers Only to a recipient, Only to a domain, or Always allow. The Permissions section of the Workspace panel lets you review or revoke those choices.</a:t>
            </a:r>
          </a:p>
          <a:p/>
          <a:p>
            <a:r>
              <a:t>Risk levels: creating or updating an event, editing a file or mailing yourself shows Medium, while mail to other people or a Teams post shows High. The indicator on the card is the authority: the review deck sent to your own address showed Medium.</a:t>
            </a:r>
          </a:p>
          <a:p/>
          <a:p>
            <a:r>
              <a:t>No approval: new files in the task's Output and an email saved to your Drafts folder need no approval, so a prompt that ends with do not send stops at a draft. The follow-up package demo of this topic relies on that: it saves the partner email as a draft with no approval, then books the follow-up call through a medium-risk approval.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750194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are never locked out while Cowork works. The diagram shows where each control stops a running task, measured against the step it is in.</a:t>
            </a:r>
          </a:p>
          <a:p/>
          <a:p>
            <a:r>
              <a:t>Pause (soft): Cowork finishes the step it is on, then pauses.</a:t>
            </a:r>
          </a:p>
          <a:p/>
          <a:p>
            <a:r>
              <a:t>Pause (hard): the task stops immediately, in the middle of the step.</a:t>
            </a:r>
          </a:p>
          <a:p/>
          <a:p>
            <a:r>
              <a:t>Resume and Cancel: Resume continues the paused task. Cancel clears the current task.</a:t>
            </a:r>
          </a:p>
          <a:p/>
          <a:p>
            <a:r>
              <a:t>Queued messages: anything you send while Cowork works is queued and can redirect it.</a:t>
            </a:r>
          </a:p>
          <a:p/>
          <a:p>
            <a:r>
              <a:t>Feedback: rate responses and previewed documents with thumbs up or thumbs down, and leave inline comments on a message to explain what should change. General feedback goes through the header menu.</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290427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Control does not stop at the individual user. Admins decide whether Cowork is available at all, to whom, and what it may reach.</a:t>
            </a:r>
          </a:p>
          <a:p/>
          <a:p>
            <a:r>
              <a:t>Cost management: a spending policy under Copilot &gt; Cost management &gt; Configuration grants access when its scope includes the user and it selects Cowork, and to block a user you remove them from the scope. Model profiles there hold a Cowork-only set of at least two models, and Consumption splits Copilot Credits by policy, user and service, never by task.</a:t>
            </a:r>
          </a:p>
          <a:p/>
          <a:p>
            <a:r>
              <a:t>Visibility: the discovery setting AI experiences enabled by usage-based billing controls only who sees Cowork, not who can use it. The Agents &gt; All agents control from the preview has no effect on access any more.</a:t>
            </a:r>
          </a:p>
          <a:p/>
          <a:p>
            <a:r>
              <a:t>Cowork settings: the tenant setting Cowork Browsing is off by default. Turn on Allow browser access, limit it to security groups and review the audit log, which records each browser task.</a:t>
            </a:r>
          </a:p>
          <a:p/>
          <a:p>
            <a:r>
              <a:t>Agents &gt; Tools: deploy plugins to everyone or to groups and allow or block them there. Org-wide sharing needs admin approval, and no single setting turns off sharing with specific people.</a:t>
            </a:r>
          </a:p>
          <a:p/>
          <a:p>
            <a:r>
              <a:t>Reports and Purview: the Cowork usage report shows active users, total tasks and scheduled versus user-initiated tasks, and it refreshes once a day. Purview supports Cowork for DSPM, auditing, sensitivity labels, DLP, Insider Risk Management, Communication Compliance, eDiscovery and Data Lifecycle Management.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419776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closing slide collects what the module covered, one point per phase of the path. Each point was practised in at least one demo, most of them on the Aurora Outdoor Q3 close.</a:t>
            </a:r>
          </a:p>
          <a:p/>
          <a:p>
            <a:r>
              <a:t>Describe the outcome: Cowork plans and runs the steps across your apps. Your part is to judge the plan and steer it, as in the Q3 review deck.</a:t>
            </a:r>
          </a:p>
          <a:p/>
          <a:p>
            <a:r>
              <a:t>Spending policy: a user can open Cowork once a spending policy that selects Cowork covers them, even with a one-credit limit. Start with a small pilot group and strict limits, then expand once you have seen real consumption.</a:t>
            </a:r>
          </a:p>
          <a:p/>
          <a:p>
            <a:r>
              <a:t>Skills: Cowork loads the right built-in skills on its own and lists them under Plugins in the Workspace panel. A custom SKILL.md like product-pitch captures a job you repeat, and you tune it until it fires without being named.</a:t>
            </a:r>
          </a:p>
          <a:p/>
          <a:p>
            <a:r>
              <a:t>Schedules, triggers and plugins: a prompt or custom skill can run every Friday or when an email or Teams message arrives. Plugins such as dietitian bring expertise you cannot write yourself.</a:t>
            </a:r>
          </a:p>
          <a:p/>
          <a:p>
            <a:r>
              <a:t>You approve: Cowork pauses before anything that leaves your workspace, and a scheduled run still stops at a draft. Admins govern access, browsing and plugins for the whole organization.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47238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568740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82073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2173256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49953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2</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Microsoft 365 Copilot Cowork</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Delegate multi-step work across Microsoft 365</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412916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Getting Started with Cowork</a:t>
            </a:r>
          </a:p>
          <a:p>
            <a:pPr>
              <a:lnSpc>
                <a:spcPct val="95000"/>
              </a:lnSpc>
              <a:spcBef>
                <a:spcPts val="600"/>
              </a:spcBef>
            </a:pPr>
            <a:r>
              <a:rPr sz="1200" b="0">
                <a:solidFill>
                  <a:srgbClr val="595F67"/>
                </a:solidFill>
                <a:latin typeface="Poppins"/>
              </a:rPr>
              <a:t>What Cowork is, setup, and how a task runs</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Understanding Skills: Built-in Skills &amp; the Side Panel</a:t>
            </a:r>
          </a:p>
          <a:p>
            <a:pPr>
              <a:lnSpc>
                <a:spcPct val="95000"/>
              </a:lnSpc>
              <a:spcBef>
                <a:spcPts val="600"/>
              </a:spcBef>
            </a:pPr>
            <a:r>
              <a:rPr sz="1200" b="0">
                <a:solidFill>
                  <a:srgbClr val="595F67"/>
                </a:solidFill>
                <a:latin typeface="Poppins"/>
              </a:rPr>
              <a:t>The built-in catalog and the Workspace panel</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Creating Custom Skills with SKILL.md</a:t>
            </a:r>
          </a:p>
          <a:p>
            <a:pPr>
              <a:lnSpc>
                <a:spcPct val="95000"/>
              </a:lnSpc>
              <a:spcBef>
                <a:spcPts val="600"/>
              </a:spcBef>
            </a:pPr>
            <a:r>
              <a:rPr sz="1200" b="0">
                <a:solidFill>
                  <a:srgbClr val="595F67"/>
                </a:solidFill>
                <a:latin typeface="Poppins"/>
              </a:rPr>
              <a:t>Your own skills in plain language</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Scheduled Prompts &amp; Event-Driven Tasks</a:t>
            </a:r>
          </a:p>
          <a:p>
            <a:pPr>
              <a:lnSpc>
                <a:spcPct val="95000"/>
              </a:lnSpc>
              <a:spcBef>
                <a:spcPts val="600"/>
              </a:spcBef>
            </a:pPr>
            <a:r>
              <a:rPr sz="1200" b="0">
                <a:solidFill>
                  <a:srgbClr val="595F67"/>
                </a:solidFill>
                <a:latin typeface="Poppins"/>
              </a:rPr>
              <a:t>On a schedule or when a message arrives</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Extending Cowork with Plugins</a:t>
            </a:r>
          </a:p>
          <a:p>
            <a:pPr>
              <a:lnSpc>
                <a:spcPct val="95000"/>
              </a:lnSpc>
              <a:spcBef>
                <a:spcPts val="600"/>
              </a:spcBef>
            </a:pPr>
            <a:r>
              <a:rPr sz="1200" b="0">
                <a:solidFill>
                  <a:srgbClr val="595F67"/>
                </a:solidFill>
                <a:latin typeface="Poppins"/>
              </a:rPr>
              <a:t>Outside data and expertise from plugins</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Human-in-the-Loop: Approving Actions &amp; Staying in Control</a:t>
            </a:r>
          </a:p>
          <a:p>
            <a:pPr>
              <a:lnSpc>
                <a:spcPct val="95000"/>
              </a:lnSpc>
              <a:spcBef>
                <a:spcPts val="600"/>
              </a:spcBef>
            </a:pPr>
            <a:r>
              <a:rPr sz="1200" b="0">
                <a:solidFill>
                  <a:srgbClr val="595F67"/>
                </a:solidFill>
                <a:latin typeface="Poppins"/>
              </a:rPr>
              <a:t>Approvals, risk levels, and governance</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930868"/>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Microsoft 365 Copilot Cowork</a:t>
            </a:r>
            <a:endParaRPr lang="en-US" sz="3700" dirty="0"/>
          </a:p>
        </p:txBody>
      </p:sp>
      <p:sp>
        <p:nvSpPr>
          <p:cNvPr id="4" name="Text 1"/>
          <p:cNvSpPr/>
          <p:nvPr/>
        </p:nvSpPr>
        <p:spPr>
          <a:xfrm>
            <a:off x="609600" y="3086363"/>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Delegate multi-step work across Microsoft 365</a:t>
            </a:r>
            <a:endParaRPr lang="en-US" sz="2950" dirty="0"/>
          </a:p>
        </p:txBody>
      </p:sp>
      <p:sp>
        <p:nvSpPr>
          <p:cNvPr id="5" name="Text 2"/>
          <p:cNvSpPr/>
          <p:nvPr/>
        </p:nvSpPr>
        <p:spPr>
          <a:xfrm>
            <a:off x="609600" y="3941866"/>
            <a:ext cx="4824773" cy="1190625"/>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Delegate</a:t>
            </a:r>
            <a:r>
              <a:rPr lang="en-US" sz="1400" dirty="0">
                <a:solidFill>
                  <a:srgbClr val="1B365D"/>
                </a:solidFill>
                <a:latin typeface="Poppins Light" pitchFamily="34" charset="0"/>
                <a:ea typeface="Poppins Light" pitchFamily="34" charset="-122"/>
                <a:cs typeface="Poppins Light" pitchFamily="34" charset="0"/>
              </a:rPr>
              <a:t> an outcome in plain language, and Cowork plans and runs the steps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Extend</a:t>
            </a:r>
            <a:r>
              <a:rPr lang="en-US" sz="1400" dirty="0">
                <a:solidFill>
                  <a:srgbClr val="1B365D"/>
                </a:solidFill>
                <a:latin typeface="Poppins Light" pitchFamily="34" charset="0"/>
                <a:ea typeface="Poppins Light" pitchFamily="34" charset="-122"/>
                <a:cs typeface="Poppins Light" pitchFamily="34" charset="0"/>
              </a:rPr>
              <a:t> it with skills, schedules and plugins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Approve</a:t>
            </a:r>
            <a:r>
              <a:rPr lang="en-US" sz="1400" dirty="0">
                <a:solidFill>
                  <a:srgbClr val="1B365D"/>
                </a:solidFill>
                <a:latin typeface="Poppins Light" pitchFamily="34" charset="0"/>
                <a:ea typeface="Poppins Light" pitchFamily="34" charset="-122"/>
                <a:cs typeface="Poppins Light" pitchFamily="34" charset="0"/>
              </a:rPr>
              <a:t> before anything is sent or saved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4915754"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Overview</a:t>
            </a:r>
            <a:endParaRPr lang="en-US" sz="3700" dirty="0"/>
          </a:p>
        </p:txBody>
      </p:sp>
      <p:sp>
        <p:nvSpPr>
          <p:cNvPr id="3" name="Text 1"/>
          <p:cNvSpPr/>
          <p:nvPr/>
        </p:nvSpPr>
        <p:spPr>
          <a:xfrm>
            <a:off x="609599" y="1100568"/>
            <a:ext cx="4915754"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path through six topics</a:t>
            </a:r>
            <a:endParaRPr lang="en-US" sz="2950" dirty="0"/>
          </a:p>
        </p:txBody>
      </p:sp>
      <p:sp>
        <p:nvSpPr>
          <p:cNvPr id="4" name="Text 2"/>
          <p:cNvSpPr/>
          <p:nvPr/>
        </p:nvSpPr>
        <p:spPr>
          <a:xfrm>
            <a:off x="609599" y="2187461"/>
            <a:ext cx="4915754"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Get started</a:t>
            </a:r>
            <a:r>
              <a:rPr lang="en-US" sz="1400" dirty="0">
                <a:solidFill>
                  <a:srgbClr val="1B365D"/>
                </a:solidFill>
                <a:latin typeface="Poppins Light" pitchFamily="34" charset="0"/>
                <a:ea typeface="Poppins Light" pitchFamily="34" charset="-122"/>
                <a:cs typeface="Poppins Light" pitchFamily="34" charset="0"/>
              </a:rPr>
              <a:t>: what Cowork is, how it differs from Chat, tenant setup and how a task runs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Use and author skills</a:t>
            </a:r>
            <a:r>
              <a:rPr lang="en-US" sz="1400" dirty="0">
                <a:solidFill>
                  <a:srgbClr val="1B365D"/>
                </a:solidFill>
                <a:latin typeface="Poppins Light" pitchFamily="34" charset="0"/>
                <a:ea typeface="Poppins Light" pitchFamily="34" charset="-122"/>
                <a:cs typeface="Poppins Light" pitchFamily="34" charset="0"/>
              </a:rPr>
              <a:t>: the built-in catalog, the Workspace panel and your own </a:t>
            </a:r>
            <a:r>
              <a:rPr lang="en-US" sz="1400" dirty="0">
                <a:solidFill>
                  <a:srgbClr val="1B365D"/>
                </a:solidFill>
                <a:highlight>
                  <a:srgbClr val="F2F2F2"/>
                </a:highlight>
                <a:latin typeface="Consolas" pitchFamily="34" charset="0"/>
                <a:ea typeface="Consolas" pitchFamily="34" charset="-122"/>
                <a:cs typeface="Consolas" pitchFamily="34" charset="0"/>
              </a:rPr>
              <a:t>SKILL.md</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Make the work </a:t>
            </a:r>
            <a:r>
              <a:rPr lang="en-US" sz="1400" b="1" dirty="0">
                <a:solidFill>
                  <a:srgbClr val="1B365D"/>
                </a:solidFill>
                <a:latin typeface="Poppins Bold" pitchFamily="34" charset="0"/>
                <a:ea typeface="Poppins Bold" pitchFamily="34" charset="-122"/>
                <a:cs typeface="Poppins Bold" pitchFamily="34" charset="0"/>
              </a:rPr>
              <a:t>recurring</a:t>
            </a:r>
            <a:r>
              <a:rPr lang="en-US" sz="1400" dirty="0">
                <a:solidFill>
                  <a:srgbClr val="1B365D"/>
                </a:solidFill>
                <a:latin typeface="Poppins Light" pitchFamily="34" charset="0"/>
                <a:ea typeface="Poppins Light" pitchFamily="34" charset="-122"/>
                <a:cs typeface="Poppins Light" pitchFamily="34" charset="0"/>
              </a:rPr>
              <a:t> with scheduled prompts and event-driven tasks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Make it </a:t>
            </a:r>
            <a:r>
              <a:rPr lang="en-US" sz="1400" b="1" dirty="0">
                <a:solidFill>
                  <a:srgbClr val="1B365D"/>
                </a:solidFill>
                <a:latin typeface="Poppins Bold" pitchFamily="34" charset="0"/>
                <a:ea typeface="Poppins Bold" pitchFamily="34" charset="-122"/>
                <a:cs typeface="Poppins Bold" pitchFamily="34" charset="0"/>
              </a:rPr>
              <a:t>extensible</a:t>
            </a:r>
            <a:r>
              <a:rPr lang="en-US" sz="1400" dirty="0">
                <a:solidFill>
                  <a:srgbClr val="1B365D"/>
                </a:solidFill>
                <a:latin typeface="Poppins Light" pitchFamily="34" charset="0"/>
                <a:ea typeface="Poppins Light" pitchFamily="34" charset="-122"/>
                <a:cs typeface="Poppins Light" pitchFamily="34" charset="0"/>
              </a:rPr>
              <a:t> with plugins that add external data and expertise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Keep it under </a:t>
            </a:r>
            <a:r>
              <a:rPr lang="en-US" sz="1400" b="1" dirty="0">
                <a:solidFill>
                  <a:srgbClr val="1B365D"/>
                </a:solidFill>
                <a:latin typeface="Poppins Bold" pitchFamily="34" charset="0"/>
                <a:ea typeface="Poppins Bold" pitchFamily="34" charset="-122"/>
                <a:cs typeface="Poppins Bold" pitchFamily="34" charset="0"/>
              </a:rPr>
              <a:t>human control</a:t>
            </a:r>
            <a:r>
              <a:rPr lang="en-US" sz="1400" dirty="0">
                <a:solidFill>
                  <a:srgbClr val="1B365D"/>
                </a:solidFill>
                <a:latin typeface="Poppins Light" pitchFamily="34" charset="0"/>
                <a:ea typeface="Poppins Light" pitchFamily="34" charset="-122"/>
                <a:cs typeface="Poppins Light" pitchFamily="34" charset="0"/>
              </a:rPr>
              <a:t> with approvals, risk levels and governance</a:t>
            </a:r>
            <a:endParaRPr lang="en-US" sz="1450" dirty="0"/>
          </a:p>
        </p:txBody>
      </p:sp>
      <p:pic>
        <p:nvPicPr>
          <p:cNvPr id="5" name="Image 0" descr="preencoded.png"/>
          <p:cNvPicPr>
            <a:picLocks noChangeAspect="1"/>
          </p:cNvPicPr>
          <p:nvPr/>
        </p:nvPicPr>
        <p:blipFill>
          <a:blip r:embed="rId3"/>
          <a:stretch>
            <a:fillRect/>
          </a:stretch>
        </p:blipFill>
        <p:spPr>
          <a:xfrm>
            <a:off x="5992861" y="1869777"/>
            <a:ext cx="5543610" cy="31183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Getting Started with Cowork</a:t>
            </a:r>
          </a:p>
          <a:p>
            <a:pPr>
              <a:lnSpc>
                <a:spcPct val="95000"/>
              </a:lnSpc>
              <a:spcBef>
                <a:spcPts val="1400"/>
              </a:spcBef>
            </a:pPr>
            <a:r>
              <a:rPr sz="2000" b="0">
                <a:solidFill>
                  <a:srgbClr val="595F67"/>
                </a:solidFill>
                <a:latin typeface="Poppins"/>
              </a:rPr>
              <a:t>What Cowork is, setup, and how a task runs</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Cowork and Copilot Chat</a:t>
            </a:r>
            <a:endParaRPr lang="en-US" sz="265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Who plans the work</a:t>
            </a:r>
            <a:endParaRPr lang="en-US" sz="2100" dirty="0"/>
          </a:p>
        </p:txBody>
      </p:sp>
      <p:pic>
        <p:nvPicPr>
          <p:cNvPr id="4" name="Image 0" descr="preencoded.png"/>
          <p:cNvPicPr>
            <a:picLocks noChangeAspect="1"/>
          </p:cNvPicPr>
          <p:nvPr/>
        </p:nvPicPr>
        <p:blipFill>
          <a:blip r:embed="rId3"/>
          <a:stretch>
            <a:fillRect/>
          </a:stretch>
        </p:blipFill>
        <p:spPr>
          <a:xfrm>
            <a:off x="661475" y="1472704"/>
            <a:ext cx="8151509" cy="4585295"/>
          </a:xfrm>
          <a:prstGeom prst="rect">
            <a:avLst/>
          </a:prstGeom>
        </p:spPr>
      </p:pic>
      <p:sp>
        <p:nvSpPr>
          <p:cNvPr id="5" name="Text 2"/>
          <p:cNvSpPr/>
          <p:nvPr/>
        </p:nvSpPr>
        <p:spPr>
          <a:xfrm>
            <a:off x="609600" y="6173719"/>
            <a:ext cx="11176000" cy="162123"/>
          </a:xfrm>
          <a:prstGeom prst="rect">
            <a:avLst/>
          </a:prstGeom>
          <a:noFill/>
          <a:ln/>
        </p:spPr>
        <p:txBody>
          <a:bodyPr wrap="none" lIns="0" tIns="0" rIns="0" bIns="0" rtlCol="0" anchor="t"/>
          <a:lstStyle/>
          <a:p>
            <a:pPr marL="213360" indent="-213360" algn="l">
              <a:lnSpc>
                <a:spcPct val="100000"/>
              </a:lnSpc>
              <a:buSzPct val="100000"/>
              <a:buChar char="•"/>
            </a:pPr>
            <a:r>
              <a:rPr lang="en-US" sz="1050" dirty="0">
                <a:solidFill>
                  <a:srgbClr val="1B365D"/>
                </a:solidFill>
                <a:latin typeface="Poppins Light" pitchFamily="34" charset="0"/>
                <a:ea typeface="Poppins Light" pitchFamily="34" charset="-122"/>
                <a:cs typeface="Poppins Light" pitchFamily="34" charset="0"/>
              </a:rPr>
              <a:t>In Chat you ask </a:t>
            </a:r>
            <a:r>
              <a:rPr lang="en-US" sz="1050" b="1" dirty="0">
                <a:solidFill>
                  <a:srgbClr val="1B365D"/>
                </a:solidFill>
                <a:latin typeface="Poppins Bold" pitchFamily="34" charset="0"/>
                <a:ea typeface="Poppins Bold" pitchFamily="34" charset="-122"/>
                <a:cs typeface="Poppins Bold" pitchFamily="34" charset="0"/>
              </a:rPr>
              <a:t>one question at a time</a:t>
            </a:r>
            <a:r>
              <a:rPr lang="en-US" sz="1050" dirty="0">
                <a:solidFill>
                  <a:srgbClr val="1B365D"/>
                </a:solidFill>
                <a:latin typeface="Poppins Light" pitchFamily="34" charset="0"/>
                <a:ea typeface="Poppins Light" pitchFamily="34" charset="-122"/>
                <a:cs typeface="Poppins Light" pitchFamily="34" charset="0"/>
              </a:rPr>
              <a:t>; in Cowork you </a:t>
            </a:r>
            <a:r>
              <a:rPr lang="en-US" sz="1050" b="1" dirty="0">
                <a:solidFill>
                  <a:srgbClr val="1B365D"/>
                </a:solidFill>
                <a:latin typeface="Poppins Bold" pitchFamily="34" charset="0"/>
                <a:ea typeface="Poppins Bold" pitchFamily="34" charset="-122"/>
                <a:cs typeface="Poppins Bold" pitchFamily="34" charset="0"/>
              </a:rPr>
              <a:t>describe the outcome</a:t>
            </a:r>
            <a:r>
              <a:rPr lang="en-US" sz="1050" dirty="0">
                <a:solidFill>
                  <a:srgbClr val="1B365D"/>
                </a:solidFill>
                <a:latin typeface="Poppins Light" pitchFamily="34" charset="0"/>
                <a:ea typeface="Poppins Light" pitchFamily="34" charset="-122"/>
                <a:cs typeface="Poppins Light" pitchFamily="34" charset="0"/>
              </a:rPr>
              <a:t>, and it plans and acts across Microsoft 365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4915754"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Setting up Cowork access</a:t>
            </a:r>
            <a:endParaRPr lang="en-US" sz="3700" dirty="0"/>
          </a:p>
        </p:txBody>
      </p:sp>
      <p:sp>
        <p:nvSpPr>
          <p:cNvPr id="3" name="Text 1"/>
          <p:cNvSpPr/>
          <p:nvPr/>
        </p:nvSpPr>
        <p:spPr>
          <a:xfrm>
            <a:off x="609599" y="1612695"/>
            <a:ext cx="4915754"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 spending policy that selects Cowork</a:t>
            </a:r>
            <a:endParaRPr lang="en-US" sz="2950" dirty="0"/>
          </a:p>
        </p:txBody>
      </p:sp>
      <p:sp>
        <p:nvSpPr>
          <p:cNvPr id="4" name="Text 2"/>
          <p:cNvSpPr/>
          <p:nvPr/>
        </p:nvSpPr>
        <p:spPr>
          <a:xfrm>
            <a:off x="609599" y="2760483"/>
            <a:ext cx="4915754"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Every pilot user and the setup admin need a </a:t>
            </a:r>
            <a:r>
              <a:rPr lang="en-US" sz="1400" b="1" dirty="0">
                <a:solidFill>
                  <a:srgbClr val="1B365D"/>
                </a:solidFill>
                <a:latin typeface="Poppins Bold" pitchFamily="34" charset="0"/>
                <a:ea typeface="Poppins Bold" pitchFamily="34" charset="-122"/>
                <a:cs typeface="Poppins Bold" pitchFamily="34" charset="0"/>
              </a:rPr>
              <a:t>Microsoft 365 Copilot license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Turn on </a:t>
            </a:r>
            <a:r>
              <a:rPr lang="en-US" sz="1400" b="1" dirty="0">
                <a:solidFill>
                  <a:srgbClr val="1B365D"/>
                </a:solidFill>
                <a:latin typeface="Poppins Bold" pitchFamily="34" charset="0"/>
                <a:ea typeface="Poppins Bold" pitchFamily="34" charset="-122"/>
                <a:cs typeface="Poppins Bold" pitchFamily="34" charset="0"/>
              </a:rPr>
              <a:t>usage-based billing</a:t>
            </a:r>
            <a:r>
              <a:rPr lang="en-US" sz="1400" dirty="0">
                <a:solidFill>
                  <a:srgbClr val="1B365D"/>
                </a:solidFill>
                <a:latin typeface="Poppins Light" pitchFamily="34" charset="0"/>
                <a:ea typeface="Poppins Light" pitchFamily="34" charset="-122"/>
                <a:cs typeface="Poppins Light" pitchFamily="34" charset="0"/>
              </a:rPr>
              <a:t> under Copilot &gt; Cost Management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 </a:t>
            </a:r>
            <a:r>
              <a:rPr lang="en-US" sz="1400" b="1" dirty="0">
                <a:solidFill>
                  <a:srgbClr val="1B365D"/>
                </a:solidFill>
                <a:latin typeface="Poppins Bold" pitchFamily="34" charset="0"/>
                <a:ea typeface="Poppins Bold" pitchFamily="34" charset="-122"/>
                <a:cs typeface="Poppins Bold" pitchFamily="34" charset="0"/>
              </a:rPr>
              <a:t>spending policy</a:t>
            </a:r>
            <a:r>
              <a:rPr lang="en-US" sz="1400" dirty="0">
                <a:solidFill>
                  <a:srgbClr val="1B365D"/>
                </a:solidFill>
                <a:latin typeface="Poppins Light" pitchFamily="34" charset="0"/>
                <a:ea typeface="Poppins Light" pitchFamily="34" charset="-122"/>
                <a:cs typeface="Poppins Light" pitchFamily="34" charset="0"/>
              </a:rPr>
              <a:t> scoped to the pilot group with Cowork selected grants access; one credit is enough</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Anthropic models</a:t>
            </a:r>
            <a:r>
              <a:rPr lang="en-US" sz="1400" dirty="0">
                <a:solidFill>
                  <a:srgbClr val="1B365D"/>
                </a:solidFill>
                <a:latin typeface="Poppins Light" pitchFamily="34" charset="0"/>
                <a:ea typeface="Poppins Light" pitchFamily="34" charset="-122"/>
                <a:cs typeface="Poppins Light" pitchFamily="34" charset="0"/>
              </a:rPr>
              <a:t> and </a:t>
            </a:r>
            <a:r>
              <a:rPr lang="en-US" sz="1400" b="1" dirty="0">
                <a:solidFill>
                  <a:srgbClr val="1B365D"/>
                </a:solidFill>
                <a:latin typeface="Poppins Bold" pitchFamily="34" charset="0"/>
                <a:ea typeface="Poppins Bold" pitchFamily="34" charset="-122"/>
                <a:cs typeface="Poppins Bold" pitchFamily="34" charset="0"/>
              </a:rPr>
              <a:t>Frontier</a:t>
            </a:r>
            <a:r>
              <a:rPr lang="en-US" sz="1400" dirty="0">
                <a:solidFill>
                  <a:srgbClr val="1B365D"/>
                </a:solidFill>
                <a:latin typeface="Poppins Light" pitchFamily="34" charset="0"/>
                <a:ea typeface="Poppins Light" pitchFamily="34" charset="-122"/>
                <a:cs typeface="Poppins Light" pitchFamily="34" charset="0"/>
              </a:rPr>
              <a:t> are optional for access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a:t>
            </a:r>
            <a:r>
              <a:rPr lang="en-US" sz="1400" b="1" dirty="0">
                <a:solidFill>
                  <a:srgbClr val="1B365D"/>
                </a:solidFill>
                <a:latin typeface="Poppins Bold" pitchFamily="34" charset="0"/>
                <a:ea typeface="Poppins Bold" pitchFamily="34" charset="-122"/>
                <a:cs typeface="Poppins Bold" pitchFamily="34" charset="0"/>
              </a:rPr>
              <a:t>discovery</a:t>
            </a:r>
            <a:r>
              <a:rPr lang="en-US" sz="1400" dirty="0">
                <a:solidFill>
                  <a:srgbClr val="1B365D"/>
                </a:solidFill>
                <a:latin typeface="Poppins Light" pitchFamily="34" charset="0"/>
                <a:ea typeface="Poppins Light" pitchFamily="34" charset="-122"/>
                <a:cs typeface="Poppins Light" pitchFamily="34" charset="0"/>
              </a:rPr>
              <a:t> setting controls visibility only</a:t>
            </a:r>
            <a:endParaRPr lang="en-US" sz="1450" dirty="0"/>
          </a:p>
        </p:txBody>
      </p:sp>
      <p:pic>
        <p:nvPicPr>
          <p:cNvPr id="5" name="Image 0" descr="preencoded.png"/>
          <p:cNvPicPr>
            <a:picLocks noChangeAspect="1"/>
          </p:cNvPicPr>
          <p:nvPr/>
        </p:nvPicPr>
        <p:blipFill>
          <a:blip r:embed="rId3"/>
          <a:stretch>
            <a:fillRect/>
          </a:stretch>
        </p:blipFill>
        <p:spPr>
          <a:xfrm>
            <a:off x="5992861" y="2442798"/>
            <a:ext cx="5543610" cy="31183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4927958"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 typical Cowork interaction</a:t>
            </a:r>
            <a:endParaRPr lang="en-US" sz="3500" dirty="0"/>
          </a:p>
        </p:txBody>
      </p:sp>
      <p:sp>
        <p:nvSpPr>
          <p:cNvPr id="3" name="Text 1"/>
          <p:cNvSpPr/>
          <p:nvPr/>
        </p:nvSpPr>
        <p:spPr>
          <a:xfrm>
            <a:off x="609599" y="1612695"/>
            <a:ext cx="4927958"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Q3 review deck from brief to approved send</a:t>
            </a:r>
            <a:endParaRPr lang="en-US" sz="2800" dirty="0"/>
          </a:p>
        </p:txBody>
      </p:sp>
      <p:sp>
        <p:nvSpPr>
          <p:cNvPr id="4" name="Text 2"/>
          <p:cNvSpPr/>
          <p:nvPr/>
        </p:nvSpPr>
        <p:spPr>
          <a:xfrm>
            <a:off x="609599" y="3092141"/>
            <a:ext cx="4927958" cy="2689225"/>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Describe</a:t>
            </a:r>
            <a:r>
              <a:rPr lang="en-US" sz="1400" dirty="0">
                <a:solidFill>
                  <a:srgbClr val="1B365D"/>
                </a:solidFill>
                <a:latin typeface="Poppins Light" pitchFamily="34" charset="0"/>
                <a:ea typeface="Poppins Light" pitchFamily="34" charset="-122"/>
                <a:cs typeface="Poppins Light" pitchFamily="34" charset="0"/>
              </a:rPr>
              <a:t> the outcome: three attached files and one brief for the Q3 review</a:t>
            </a:r>
            <a:endParaRPr lang="en-US" sz="1400" dirty="0"/>
          </a:p>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Watch</a:t>
            </a:r>
            <a:r>
              <a:rPr lang="en-US" sz="1400" dirty="0">
                <a:solidFill>
                  <a:srgbClr val="1B365D"/>
                </a:solidFill>
                <a:latin typeface="Poppins Light" pitchFamily="34" charset="0"/>
                <a:ea typeface="Poppins Light" pitchFamily="34" charset="-122"/>
                <a:cs typeface="Poppins Light" pitchFamily="34" charset="0"/>
              </a:rPr>
              <a:t> the numbered plan, then the steps as Cowork builds the deck</a:t>
            </a:r>
            <a:endParaRPr lang="en-US" sz="1400" dirty="0"/>
          </a:p>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Steer</a:t>
            </a:r>
            <a:r>
              <a:rPr lang="en-US" sz="1400" dirty="0">
                <a:solidFill>
                  <a:srgbClr val="1B365D"/>
                </a:solidFill>
                <a:latin typeface="Poppins Light" pitchFamily="34" charset="0"/>
                <a:ea typeface="Poppins Light" pitchFamily="34" charset="-122"/>
                <a:cs typeface="Poppins Light" pitchFamily="34" charset="0"/>
              </a:rPr>
              <a:t> the plan: open with the fleece returns, close with the six open roles</a:t>
            </a:r>
            <a:endParaRPr lang="en-US" sz="1400" dirty="0"/>
          </a:p>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Approve</a:t>
            </a:r>
            <a:r>
              <a:rPr lang="en-US" sz="1400" dirty="0">
                <a:solidFill>
                  <a:srgbClr val="1B365D"/>
                </a:solidFill>
                <a:latin typeface="Poppins Light" pitchFamily="34" charset="0"/>
                <a:ea typeface="Poppins Light" pitchFamily="34" charset="-122"/>
                <a:cs typeface="Poppins Light" pitchFamily="34" charset="0"/>
              </a:rPr>
              <a:t> the send at a Send draft? card marked Medium risk</a:t>
            </a:r>
            <a:endParaRPr lang="en-US" sz="1400" dirty="0"/>
          </a:p>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Review</a:t>
            </a:r>
            <a:r>
              <a:rPr lang="en-US" sz="1400" dirty="0">
                <a:solidFill>
                  <a:srgbClr val="1B365D"/>
                </a:solidFill>
                <a:latin typeface="Poppins Light" pitchFamily="34" charset="0"/>
                <a:ea typeface="Poppins Light" pitchFamily="34" charset="-122"/>
                <a:cs typeface="Poppins Light" pitchFamily="34" charset="0"/>
              </a:rPr>
              <a:t> the deck under Output, with speaker notes saved in the same file</a:t>
            </a:r>
            <a:endParaRPr lang="en-US" sz="1400" dirty="0"/>
          </a:p>
        </p:txBody>
      </p:sp>
      <p:pic>
        <p:nvPicPr>
          <p:cNvPr id="5" name="Image 0" descr="preencoded.png"/>
          <p:cNvPicPr>
            <a:picLocks noChangeAspect="1"/>
          </p:cNvPicPr>
          <p:nvPr/>
        </p:nvPicPr>
        <p:blipFill>
          <a:blip r:embed="rId3"/>
          <a:stretch>
            <a:fillRect/>
          </a:stretch>
        </p:blipFill>
        <p:spPr>
          <a:xfrm>
            <a:off x="5982046" y="2442798"/>
            <a:ext cx="5276619" cy="37191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Understanding Skills: Built-in Skills &amp; the Side Panel</a:t>
            </a:r>
          </a:p>
          <a:p>
            <a:pPr>
              <a:lnSpc>
                <a:spcPct val="95000"/>
              </a:lnSpc>
              <a:spcBef>
                <a:spcPts val="1400"/>
              </a:spcBef>
            </a:pPr>
            <a:r>
              <a:rPr sz="2000" b="0">
                <a:solidFill>
                  <a:srgbClr val="595F67"/>
                </a:solidFill>
                <a:latin typeface="Poppins"/>
              </a:rPr>
              <a:t>The built-in catalog and the Workspace panel</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446961"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Built-in skills and the Workspace panel</a:t>
            </a:r>
            <a:endParaRPr lang="en-US" sz="2700" dirty="0"/>
          </a:p>
        </p:txBody>
      </p:sp>
      <p:sp>
        <p:nvSpPr>
          <p:cNvPr id="3" name="Text 1"/>
          <p:cNvSpPr/>
          <p:nvPr/>
        </p:nvSpPr>
        <p:spPr>
          <a:xfrm>
            <a:off x="609600" y="1100568"/>
            <a:ext cx="9446961"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Cowork picks the skills; the panel shows them at work</a:t>
            </a:r>
            <a:endParaRPr lang="en-US" sz="2150" dirty="0"/>
          </a:p>
        </p:txBody>
      </p:sp>
      <p:pic>
        <p:nvPicPr>
          <p:cNvPr id="4" name="Image 0" descr="preencoded.png"/>
          <p:cNvPicPr>
            <a:picLocks noChangeAspect="1"/>
          </p:cNvPicPr>
          <p:nvPr/>
        </p:nvPicPr>
        <p:blipFill>
          <a:blip r:embed="rId3"/>
          <a:stretch>
            <a:fillRect/>
          </a:stretch>
        </p:blipFill>
        <p:spPr>
          <a:xfrm>
            <a:off x="2135035" y="1448891"/>
            <a:ext cx="7921526" cy="4455914"/>
          </a:xfrm>
          <a:prstGeom prst="rect">
            <a:avLst/>
          </a:prstGeom>
        </p:spPr>
      </p:pic>
      <p:sp>
        <p:nvSpPr>
          <p:cNvPr id="5" name="Text 2"/>
          <p:cNvSpPr/>
          <p:nvPr/>
        </p:nvSpPr>
        <p:spPr>
          <a:xfrm>
            <a:off x="609600" y="6060162"/>
            <a:ext cx="9446961" cy="385763"/>
          </a:xfrm>
          <a:prstGeom prst="rect">
            <a:avLst/>
          </a:prstGeom>
          <a:noFill/>
          <a:ln/>
        </p:spPr>
        <p:txBody>
          <a:bodyPr wrap="square" lIns="0" tIns="0" rIns="0" bIns="0" rtlCol="0" anchor="t">
            <a:normAutofit/>
          </a:bodyPr>
          <a:lstStyle/>
          <a:p>
            <a:pPr marL="213360" indent="-213360" algn="l">
              <a:lnSpc>
                <a:spcPct val="117000"/>
              </a:lnSpc>
              <a:buSzPct val="100000"/>
              <a:buChar char="•"/>
            </a:pPr>
            <a:r>
              <a:rPr lang="en-US" sz="1050" dirty="0">
                <a:solidFill>
                  <a:srgbClr val="1B365D"/>
                </a:solidFill>
                <a:latin typeface="Poppins Light" pitchFamily="34" charset="0"/>
                <a:ea typeface="Poppins Light" pitchFamily="34" charset="-122"/>
                <a:cs typeface="Poppins Light" pitchFamily="34" charset="0"/>
              </a:rPr>
              <a:t>Each skill Cowork loads for a step appears under </a:t>
            </a:r>
            <a:r>
              <a:rPr lang="en-US" sz="1050" b="1" dirty="0">
                <a:solidFill>
                  <a:srgbClr val="1B365D"/>
                </a:solidFill>
                <a:latin typeface="Poppins Bold" pitchFamily="34" charset="0"/>
                <a:ea typeface="Poppins Bold" pitchFamily="34" charset="-122"/>
                <a:cs typeface="Poppins Bold" pitchFamily="34" charset="0"/>
              </a:rPr>
              <a:t>Plugins</a:t>
            </a:r>
            <a:r>
              <a:rPr lang="en-US" sz="1050" dirty="0">
                <a:solidFill>
                  <a:srgbClr val="1B365D"/>
                </a:solidFill>
                <a:latin typeface="Poppins Light" pitchFamily="34" charset="0"/>
                <a:ea typeface="Poppins Light" pitchFamily="34" charset="-122"/>
                <a:cs typeface="Poppins Light" pitchFamily="34" charset="0"/>
              </a:rPr>
              <a:t> in the Workspace panel, beside Steps, Output and References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4927958"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Where skills come from</a:t>
            </a:r>
            <a:endParaRPr lang="en-US" sz="3500" dirty="0"/>
          </a:p>
        </p:txBody>
      </p:sp>
      <p:sp>
        <p:nvSpPr>
          <p:cNvPr id="3" name="Text 1"/>
          <p:cNvSpPr/>
          <p:nvPr/>
        </p:nvSpPr>
        <p:spPr>
          <a:xfrm>
            <a:off x="609599" y="1612695"/>
            <a:ext cx="4927958"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Built-in, custom and plugin skills load the same way</a:t>
            </a:r>
            <a:endParaRPr lang="en-US" sz="2800" dirty="0"/>
          </a:p>
        </p:txBody>
      </p:sp>
      <p:sp>
        <p:nvSpPr>
          <p:cNvPr id="4" name="Text 2"/>
          <p:cNvSpPr/>
          <p:nvPr/>
        </p:nvSpPr>
        <p:spPr>
          <a:xfrm>
            <a:off x="609599" y="2716647"/>
            <a:ext cx="4927958" cy="2695575"/>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Create</a:t>
            </a:r>
            <a:r>
              <a:rPr lang="en-US" sz="1400" dirty="0">
                <a:solidFill>
                  <a:srgbClr val="1B365D"/>
                </a:solidFill>
                <a:latin typeface="Poppins Light" pitchFamily="34" charset="0"/>
                <a:ea typeface="Poppins Light" pitchFamily="34" charset="-122"/>
                <a:cs typeface="Poppins Light" pitchFamily="34" charset="0"/>
              </a:rPr>
              <a:t> a skill with Customize &gt; Add &gt; Create skill with Cowork, or as a </a:t>
            </a:r>
            <a:r>
              <a:rPr lang="en-US" sz="1400" dirty="0">
                <a:solidFill>
                  <a:srgbClr val="1B365D"/>
                </a:solidFill>
                <a:highlight>
                  <a:srgbClr val="F2F2F2"/>
                </a:highlight>
                <a:latin typeface="Consolas" pitchFamily="34" charset="0"/>
                <a:ea typeface="Consolas" pitchFamily="34" charset="-122"/>
                <a:cs typeface="Consolas" pitchFamily="34" charset="0"/>
              </a:rPr>
              <a:t>SKILL.md</a:t>
            </a:r>
            <a:r>
              <a:rPr lang="en-US" sz="1400" dirty="0">
                <a:solidFill>
                  <a:srgbClr val="1B365D"/>
                </a:solidFill>
                <a:latin typeface="Poppins Light" pitchFamily="34" charset="0"/>
                <a:ea typeface="Poppins Light" pitchFamily="34" charset="-122"/>
                <a:cs typeface="Poppins Light" pitchFamily="34" charset="0"/>
              </a:rPr>
              <a:t> in OneDrive</a:t>
            </a:r>
            <a:endParaRPr lang="en-US" sz="1400" dirty="0"/>
          </a:p>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Upload</a:t>
            </a:r>
            <a:r>
              <a:rPr lang="en-US" sz="1400" dirty="0">
                <a:solidFill>
                  <a:srgbClr val="1B365D"/>
                </a:solidFill>
                <a:latin typeface="Poppins Light" pitchFamily="34" charset="0"/>
                <a:ea typeface="Poppins Light" pitchFamily="34" charset="-122"/>
                <a:cs typeface="Poppins Light" pitchFamily="34" charset="0"/>
              </a:rPr>
              <a:t> a skill file with Customize &gt; Add &gt; Upload, or use one a colleague shares</a:t>
            </a:r>
            <a:endParaRPr lang="en-US" sz="1400" dirty="0"/>
          </a:p>
          <a:p>
            <a:pPr marL="284480" indent="-284480" algn="l">
              <a:lnSpc>
                <a:spcPct val="114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Plugins</a:t>
            </a:r>
            <a:r>
              <a:rPr lang="en-US" sz="1400" dirty="0">
                <a:solidFill>
                  <a:srgbClr val="1B365D"/>
                </a:solidFill>
                <a:latin typeface="Poppins Light" pitchFamily="34" charset="0"/>
                <a:ea typeface="Poppins Light" pitchFamily="34" charset="-122"/>
                <a:cs typeface="Poppins Light" pitchFamily="34" charset="0"/>
              </a:rPr>
              <a:t> come from Discover, from your IT organization, or as your own uploaded package</a:t>
            </a:r>
            <a:endParaRPr lang="en-US" sz="1400" dirty="0"/>
          </a:p>
          <a:p>
            <a:pPr marL="284480" indent="-284480" algn="l">
              <a:lnSpc>
                <a:spcPct val="114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Cowork </a:t>
            </a:r>
            <a:r>
              <a:rPr lang="en-US" sz="1400" b="1" dirty="0">
                <a:solidFill>
                  <a:srgbClr val="1B365D"/>
                </a:solidFill>
                <a:latin typeface="Poppins Bold" pitchFamily="34" charset="0"/>
                <a:ea typeface="Poppins Bold" pitchFamily="34" charset="-122"/>
                <a:cs typeface="Poppins Bold" pitchFamily="34" charset="0"/>
              </a:rPr>
              <a:t>reads each description</a:t>
            </a:r>
            <a:r>
              <a:rPr lang="en-US" sz="1400" dirty="0">
                <a:solidFill>
                  <a:srgbClr val="1B365D"/>
                </a:solidFill>
                <a:latin typeface="Poppins Light" pitchFamily="34" charset="0"/>
                <a:ea typeface="Poppins Light" pitchFamily="34" charset="-122"/>
                <a:cs typeface="Poppins Light" pitchFamily="34" charset="0"/>
              </a:rPr>
              <a:t> and loads the skill when the work calls for it</a:t>
            </a:r>
            <a:endParaRPr lang="en-US" sz="1400" dirty="0"/>
          </a:p>
          <a:p>
            <a:pPr marL="284480" indent="-284480" algn="l">
              <a:lnSpc>
                <a:spcPct val="114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Type </a:t>
            </a:r>
            <a:r>
              <a:rPr lang="en-US" sz="1400" b="1" dirty="0">
                <a:solidFill>
                  <a:srgbClr val="1B365D"/>
                </a:solidFill>
                <a:latin typeface="Poppins Bold" pitchFamily="34" charset="0"/>
                <a:ea typeface="Poppins Bold" pitchFamily="34" charset="-122"/>
                <a:cs typeface="Poppins Bold" pitchFamily="34" charset="0"/>
              </a:rPr>
              <a:t>/</a:t>
            </a:r>
            <a:r>
              <a:rPr lang="en-US" sz="1400" dirty="0">
                <a:solidFill>
                  <a:srgbClr val="1B365D"/>
                </a:solidFill>
                <a:latin typeface="Poppins Light" pitchFamily="34" charset="0"/>
                <a:ea typeface="Poppins Light" pitchFamily="34" charset="-122"/>
                <a:cs typeface="Poppins Light" pitchFamily="34" charset="0"/>
              </a:rPr>
              <a:t> in the composer to call a skill by name from the Skills tab</a:t>
            </a:r>
            <a:endParaRPr lang="en-US" sz="1400" dirty="0"/>
          </a:p>
        </p:txBody>
      </p:sp>
      <p:pic>
        <p:nvPicPr>
          <p:cNvPr id="5" name="Image 0" descr="preencoded.png"/>
          <p:cNvPicPr>
            <a:picLocks noChangeAspect="1"/>
          </p:cNvPicPr>
          <p:nvPr/>
        </p:nvPicPr>
        <p:blipFill>
          <a:blip r:embed="rId3"/>
          <a:stretch>
            <a:fillRect/>
          </a:stretch>
        </p:blipFill>
        <p:spPr>
          <a:xfrm>
            <a:off x="5982046" y="2442798"/>
            <a:ext cx="5276619" cy="29681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Producing a market brief</a:t>
            </a:r>
            <a:endParaRPr lang="en-US" sz="32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Deep Research, your positioning, then a Word brief and a PDF</a:t>
            </a:r>
            <a:endParaRPr lang="en-US" sz="1400" dirty="0"/>
          </a:p>
        </p:txBody>
      </p:sp>
      <p:sp>
        <p:nvSpPr>
          <p:cNvPr id="4" name="Text 2"/>
          <p:cNvSpPr/>
          <p:nvPr/>
        </p:nvSpPr>
        <p:spPr>
          <a:xfrm>
            <a:off x="609600" y="2703697"/>
            <a:ext cx="4964767"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Deep Research</a:t>
            </a:r>
            <a:r>
              <a:rPr lang="en-US" sz="1400" dirty="0">
                <a:solidFill>
                  <a:srgbClr val="1B365D"/>
                </a:solidFill>
                <a:latin typeface="Poppins" pitchFamily="34" charset="0"/>
                <a:ea typeface="Poppins" pitchFamily="34" charset="-122"/>
                <a:cs typeface="Poppins" pitchFamily="34" charset="0"/>
              </a:rPr>
              <a:t> surveys the European outdoor market in a background task of about four minutes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0"/>
              </a:rPr>
              <a:t>internal-positioning.docx</a:t>
            </a:r>
            <a:r>
              <a:rPr lang="en-US" sz="1400" dirty="0">
                <a:solidFill>
                  <a:srgbClr val="1B365D"/>
                </a:solidFill>
                <a:latin typeface="Poppins" pitchFamily="34" charset="0"/>
                <a:ea typeface="Poppins" pitchFamily="34" charset="-122"/>
                <a:cs typeface="Poppins" pitchFamily="34" charset="0"/>
              </a:rPr>
              <a:t> turns the trends into an </a:t>
            </a:r>
            <a:r>
              <a:rPr lang="en-US" sz="1400" b="1" dirty="0">
                <a:solidFill>
                  <a:srgbClr val="1B365D"/>
                </a:solidFill>
                <a:latin typeface="Poppins Bold" pitchFamily="34" charset="0"/>
                <a:ea typeface="Poppins Bold" pitchFamily="34" charset="-122"/>
                <a:cs typeface="Poppins Bold" pitchFamily="34" charset="0"/>
              </a:rPr>
              <a:t>aligned and exposed</a:t>
            </a:r>
            <a:r>
              <a:rPr lang="en-US" sz="1400" dirty="0">
                <a:solidFill>
                  <a:srgbClr val="1B365D"/>
                </a:solidFill>
                <a:latin typeface="Poppins" pitchFamily="34" charset="0"/>
                <a:ea typeface="Poppins" pitchFamily="34" charset="-122"/>
                <a:cs typeface="Poppins" pitchFamily="34" charset="0"/>
              </a:rPr>
              <a:t> gap analysis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Word</a:t>
            </a:r>
            <a:r>
              <a:rPr lang="en-US" sz="1400" dirty="0">
                <a:solidFill>
                  <a:srgbClr val="1B365D"/>
                </a:solidFill>
                <a:latin typeface="Poppins" pitchFamily="34" charset="0"/>
                <a:ea typeface="Poppins" pitchFamily="34" charset="-122"/>
                <a:cs typeface="Poppins" pitchFamily="34" charset="0"/>
              </a:rPr>
              <a:t> skill writes AW26 Market Brief - Aurora Outdoor in four sections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Recommendations</a:t>
            </a:r>
            <a:r>
              <a:rPr lang="en-US" sz="1400" dirty="0">
                <a:solidFill>
                  <a:srgbClr val="1B365D"/>
                </a:solidFill>
                <a:latin typeface="Poppins" pitchFamily="34" charset="0"/>
                <a:ea typeface="Poppins" pitchFamily="34" charset="-122"/>
                <a:cs typeface="Poppins" pitchFamily="34" charset="0"/>
              </a:rPr>
              <a:t> rank three moves and mark one Top pick</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One background task saves the </a:t>
            </a:r>
            <a:r>
              <a:rPr lang="en-US" sz="1400" dirty="0">
                <a:solidFill>
                  <a:srgbClr val="1B365D"/>
                </a:solidFill>
                <a:highlight>
                  <a:srgbClr val="F2F2F2"/>
                </a:highlight>
                <a:latin typeface="Consolas" pitchFamily="34" charset="0"/>
                <a:ea typeface="Consolas" pitchFamily="34" charset="-122"/>
                <a:cs typeface="Consolas" pitchFamily="34" charset="0"/>
              </a:rPr>
              <a:t>.docx</a:t>
            </a:r>
            <a:r>
              <a:rPr lang="en-US" sz="1400" dirty="0">
                <a:solidFill>
                  <a:srgbClr val="1B365D"/>
                </a:solidFill>
                <a:latin typeface="Poppins" pitchFamily="34" charset="0"/>
                <a:ea typeface="Poppins" pitchFamily="34" charset="-122"/>
                <a:cs typeface="Poppins" pitchFamily="34" charset="0"/>
              </a:rPr>
              <a:t> and exports the </a:t>
            </a:r>
            <a:r>
              <a:rPr lang="en-US" sz="1400" b="1" dirty="0">
                <a:solidFill>
                  <a:srgbClr val="1B365D"/>
                </a:solidFill>
                <a:latin typeface="Poppins Bold" pitchFamily="34" charset="0"/>
                <a:ea typeface="Poppins Bold" pitchFamily="34" charset="-122"/>
                <a:cs typeface="Poppins Bold" pitchFamily="34" charset="0"/>
              </a:rPr>
              <a:t>PDF</a:t>
            </a:r>
            <a:r>
              <a:rPr lang="en-US" sz="1400" dirty="0">
                <a:solidFill>
                  <a:srgbClr val="1B365D"/>
                </a:solidFill>
                <a:latin typeface="Poppins" pitchFamily="34" charset="0"/>
                <a:ea typeface="Poppins" pitchFamily="34" charset="-122"/>
                <a:cs typeface="Poppins" pitchFamily="34" charset="0"/>
              </a:rPr>
              <a:t> for leadership</a:t>
            </a:r>
            <a:endParaRPr lang="en-US" sz="1400" dirty="0"/>
          </a:p>
        </p:txBody>
      </p:sp>
      <p:pic>
        <p:nvPicPr>
          <p:cNvPr id="5" name="Image 0" descr="preencoded.png"/>
          <p:cNvPicPr>
            <a:picLocks noChangeAspect="1"/>
          </p:cNvPicPr>
          <p:nvPr/>
        </p:nvPicPr>
        <p:blipFill>
          <a:blip r:embed="rId3"/>
          <a:stretch>
            <a:fillRect/>
          </a:stretch>
        </p:blipFill>
        <p:spPr>
          <a:xfrm>
            <a:off x="5879060" y="2284016"/>
            <a:ext cx="5906245" cy="3322340"/>
          </a:xfrm>
          <a:prstGeom prst="rect">
            <a:avLst/>
          </a:prstGeom>
        </p:spPr>
      </p:pic>
    </p:spTree>
    <p:extLst>
      <p:ext uri="{BB962C8B-B14F-4D97-AF65-F5344CB8AC3E}">
        <p14:creationId xmlns:p14="http://schemas.microsoft.com/office/powerpoint/2010/main" val="570753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Creating Custom Skills with SKILL.md</a:t>
            </a:r>
          </a:p>
          <a:p>
            <a:pPr>
              <a:lnSpc>
                <a:spcPct val="95000"/>
              </a:lnSpc>
              <a:spcBef>
                <a:spcPts val="1400"/>
              </a:spcBef>
            </a:pPr>
            <a:r>
              <a:rPr sz="2000" b="0">
                <a:solidFill>
                  <a:srgbClr val="595F67"/>
                </a:solidFill>
                <a:latin typeface="Poppins"/>
              </a:rPr>
              <a:t>Your own skills in plain language</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Three ways to create a skill</a:t>
            </a:r>
            <a:endParaRPr lang="en-US" sz="32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Every path ends in one OneDrive folder</a:t>
            </a:r>
            <a:endParaRPr lang="en-US" sz="1400" dirty="0"/>
          </a:p>
        </p:txBody>
      </p:sp>
      <p:sp>
        <p:nvSpPr>
          <p:cNvPr id="4" name="Text 2"/>
          <p:cNvSpPr/>
          <p:nvPr/>
        </p:nvSpPr>
        <p:spPr>
          <a:xfrm>
            <a:off x="609600" y="2828506"/>
            <a:ext cx="4964767" cy="24364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Guided flow</a:t>
            </a:r>
            <a:r>
              <a:rPr lang="en-US" sz="1400" dirty="0">
                <a:solidFill>
                  <a:srgbClr val="1B365D"/>
                </a:solidFill>
                <a:latin typeface="Poppins" pitchFamily="34" charset="0"/>
                <a:ea typeface="Poppins" pitchFamily="34" charset="-122"/>
                <a:cs typeface="Poppins" pitchFamily="34" charset="0"/>
              </a:rPr>
              <a:t>: Customize &gt; Add &gt; Create skill with Cowork</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Ask in chat</a:t>
            </a:r>
            <a:r>
              <a:rPr lang="en-US" sz="1400" dirty="0">
                <a:solidFill>
                  <a:srgbClr val="1B365D"/>
                </a:solidFill>
                <a:latin typeface="Poppins" pitchFamily="34" charset="0"/>
                <a:ea typeface="Poppins" pitchFamily="34" charset="-122"/>
                <a:cs typeface="Poppins" pitchFamily="34" charset="0"/>
              </a:rPr>
              <a:t>: describe the task you repeat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Write it yourself</a:t>
            </a:r>
            <a:r>
              <a:rPr lang="en-US" sz="1400" dirty="0">
                <a:solidFill>
                  <a:srgbClr val="1B365D"/>
                </a:solidFill>
                <a:latin typeface="Poppins" pitchFamily="34" charset="0"/>
                <a:ea typeface="Poppins" pitchFamily="34" charset="-122"/>
                <a:cs typeface="Poppins" pitchFamily="34" charset="0"/>
              </a:rPr>
              <a:t>: a </a:t>
            </a:r>
            <a:r>
              <a:rPr lang="en-US" sz="1400" dirty="0">
                <a:solidFill>
                  <a:srgbClr val="1B365D"/>
                </a:solidFill>
                <a:highlight>
                  <a:srgbClr val="F2F2F2"/>
                </a:highlight>
                <a:latin typeface="Consolas" pitchFamily="34" charset="0"/>
                <a:ea typeface="Consolas" pitchFamily="34" charset="-122"/>
                <a:cs typeface="Consolas" pitchFamily="34" charset="0"/>
              </a:rPr>
              <a:t>SKILL.md</a:t>
            </a:r>
            <a:r>
              <a:rPr lang="en-US" sz="1400" dirty="0">
                <a:solidFill>
                  <a:srgbClr val="1B365D"/>
                </a:solidFill>
                <a:latin typeface="Poppins" pitchFamily="34" charset="0"/>
                <a:ea typeface="Poppins" pitchFamily="34" charset="-122"/>
                <a:cs typeface="Poppins" pitchFamily="34" charset="0"/>
              </a:rPr>
              <a:t> in its own folder under </a:t>
            </a:r>
            <a:r>
              <a:rPr lang="en-US" sz="1400" dirty="0">
                <a:solidFill>
                  <a:srgbClr val="1B365D"/>
                </a:solidFill>
                <a:highlight>
                  <a:srgbClr val="F2F2F2"/>
                </a:highlight>
                <a:latin typeface="Consolas" pitchFamily="34" charset="0"/>
                <a:ea typeface="Consolas" pitchFamily="34" charset="-122"/>
                <a:cs typeface="Consolas" pitchFamily="34" charset="0"/>
              </a:rPr>
              <a:t>Documents/Cowork/Skills/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Cowork </a:t>
            </a:r>
            <a:r>
              <a:rPr lang="en-US" sz="1400" b="1" dirty="0">
                <a:solidFill>
                  <a:srgbClr val="1B365D"/>
                </a:solidFill>
                <a:latin typeface="Poppins Bold" pitchFamily="34" charset="0"/>
                <a:ea typeface="Poppins Bold" pitchFamily="34" charset="-122"/>
                <a:cs typeface="Poppins Bold" pitchFamily="34" charset="0"/>
              </a:rPr>
              <a:t>discovers</a:t>
            </a:r>
            <a:r>
              <a:rPr lang="en-US" sz="1400" dirty="0">
                <a:solidFill>
                  <a:srgbClr val="1B365D"/>
                </a:solidFill>
                <a:latin typeface="Poppins" pitchFamily="34" charset="0"/>
                <a:ea typeface="Poppins" pitchFamily="34" charset="-122"/>
                <a:cs typeface="Poppins" pitchFamily="34" charset="0"/>
              </a:rPr>
              <a:t> your skills at the start of each conversation, up to 50</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Upload</a:t>
            </a:r>
            <a:r>
              <a:rPr lang="en-US" sz="1400" dirty="0">
                <a:solidFill>
                  <a:srgbClr val="1B365D"/>
                </a:solidFill>
                <a:latin typeface="Poppins" pitchFamily="34" charset="0"/>
                <a:ea typeface="Poppins" pitchFamily="34" charset="-122"/>
                <a:cs typeface="Poppins" pitchFamily="34" charset="0"/>
              </a:rPr>
              <a:t> a </a:t>
            </a:r>
            <a:r>
              <a:rPr lang="en-US" sz="1400" dirty="0">
                <a:solidFill>
                  <a:srgbClr val="1B365D"/>
                </a:solidFill>
                <a:highlight>
                  <a:srgbClr val="F2F2F2"/>
                </a:highlight>
                <a:latin typeface="Consolas" pitchFamily="34" charset="0"/>
                <a:ea typeface="Consolas" pitchFamily="34" charset="-122"/>
                <a:cs typeface="Consolas" pitchFamily="34" charset="0"/>
              </a:rPr>
              <a:t>.md</a:t>
            </a:r>
            <a:r>
              <a:rPr lang="en-US" sz="1400" dirty="0">
                <a:solidFill>
                  <a:srgbClr val="1B365D"/>
                </a:solidFill>
                <a:latin typeface="Poppins" pitchFamily="34" charset="0"/>
                <a:ea typeface="Poppins" pitchFamily="34" charset="-122"/>
                <a:cs typeface="Poppins" pitchFamily="34" charset="0"/>
              </a:rPr>
              <a:t>, </a:t>
            </a:r>
            <a:r>
              <a:rPr lang="en-US" sz="1400" dirty="0">
                <a:solidFill>
                  <a:srgbClr val="1B365D"/>
                </a:solidFill>
                <a:highlight>
                  <a:srgbClr val="F2F2F2"/>
                </a:highlight>
                <a:latin typeface="Consolas" pitchFamily="34" charset="0"/>
                <a:ea typeface="Consolas" pitchFamily="34" charset="-122"/>
                <a:cs typeface="Consolas" pitchFamily="34" charset="0"/>
              </a:rPr>
              <a:t>.zip</a:t>
            </a:r>
            <a:r>
              <a:rPr lang="en-US" sz="1400" dirty="0">
                <a:solidFill>
                  <a:srgbClr val="1B365D"/>
                </a:solidFill>
                <a:latin typeface="Poppins" pitchFamily="34" charset="0"/>
                <a:ea typeface="Poppins" pitchFamily="34" charset="-122"/>
                <a:cs typeface="Poppins" pitchFamily="34" charset="0"/>
              </a:rPr>
              <a:t> or </a:t>
            </a:r>
            <a:r>
              <a:rPr lang="en-US" sz="1400" dirty="0">
                <a:solidFill>
                  <a:srgbClr val="1B365D"/>
                </a:solidFill>
                <a:highlight>
                  <a:srgbClr val="F2F2F2"/>
                </a:highlight>
                <a:latin typeface="Consolas" pitchFamily="34" charset="0"/>
                <a:ea typeface="Consolas" pitchFamily="34" charset="-122"/>
                <a:cs typeface="Consolas" pitchFamily="34" charset="0"/>
              </a:rPr>
              <a:t>.skill</a:t>
            </a:r>
            <a:r>
              <a:rPr lang="en-US" sz="1400" dirty="0">
                <a:solidFill>
                  <a:srgbClr val="1B365D"/>
                </a:solidFill>
                <a:latin typeface="Poppins" pitchFamily="34" charset="0"/>
                <a:ea typeface="Poppins" pitchFamily="34" charset="-122"/>
                <a:cs typeface="Poppins" pitchFamily="34" charset="0"/>
              </a:rPr>
              <a:t> file and share it with specific users</a:t>
            </a:r>
            <a:endParaRPr lang="en-US" sz="1400" dirty="0"/>
          </a:p>
        </p:txBody>
      </p:sp>
      <p:pic>
        <p:nvPicPr>
          <p:cNvPr id="5" name="Image 0" descr="preencoded.png"/>
          <p:cNvPicPr>
            <a:picLocks noChangeAspect="1"/>
          </p:cNvPicPr>
          <p:nvPr/>
        </p:nvPicPr>
        <p:blipFill>
          <a:blip r:embed="rId3"/>
          <a:stretch>
            <a:fillRect/>
          </a:stretch>
        </p:blipFill>
        <p:spPr>
          <a:xfrm>
            <a:off x="5879060" y="2284016"/>
            <a:ext cx="5906245" cy="3322340"/>
          </a:xfrm>
          <a:prstGeom prst="rect">
            <a:avLst/>
          </a:prstGeom>
        </p:spPr>
      </p:pic>
    </p:spTree>
    <p:extLst>
      <p:ext uri="{BB962C8B-B14F-4D97-AF65-F5344CB8AC3E}">
        <p14:creationId xmlns:p14="http://schemas.microsoft.com/office/powerpoint/2010/main" val="3369207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Anatomy of a SKILL.md</a:t>
            </a:r>
            <a:endParaRPr lang="en-US" sz="32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A YAML header plus plain-language instructions</a:t>
            </a:r>
            <a:endParaRPr lang="en-US" sz="1400" dirty="0"/>
          </a:p>
        </p:txBody>
      </p:sp>
      <p:sp>
        <p:nvSpPr>
          <p:cNvPr id="4" name="Shape 2"/>
          <p:cNvSpPr/>
          <p:nvPr/>
        </p:nvSpPr>
        <p:spPr>
          <a:xfrm>
            <a:off x="406400" y="2717800"/>
            <a:ext cx="7747000" cy="2946400"/>
          </a:xfrm>
          <a:prstGeom prst="rect">
            <a:avLst/>
          </a:prstGeom>
          <a:solidFill>
            <a:srgbClr val="F2F2F2"/>
          </a:solidFill>
          <a:ln/>
        </p:spPr>
        <p:txBody>
          <a:bodyPr/>
          <a:lstStyle/>
          <a:p>
            <a:endParaRPr/>
          </a:p>
        </p:txBody>
      </p:sp>
      <p:sp>
        <p:nvSpPr>
          <p:cNvPr id="5" name="Text 3"/>
          <p:cNvSpPr/>
          <p:nvPr/>
        </p:nvSpPr>
        <p:spPr>
          <a:xfrm>
            <a:off x="609600" y="1549400"/>
            <a:ext cx="7340600" cy="1066800"/>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The </a:t>
            </a:r>
            <a:r>
              <a:rPr lang="en-US" sz="1400" b="1" dirty="0">
                <a:solidFill>
                  <a:srgbClr val="000000"/>
                </a:solidFill>
                <a:latin typeface="Poppins Bold" pitchFamily="34" charset="0"/>
                <a:ea typeface="Poppins Bold" pitchFamily="34" charset="-122"/>
                <a:cs typeface="Poppins Bold" pitchFamily="34" charset="0"/>
              </a:rPr>
              <a:t>name</a:t>
            </a:r>
            <a:r>
              <a:rPr lang="en-US" sz="1400" dirty="0">
                <a:solidFill>
                  <a:srgbClr val="000000"/>
                </a:solidFill>
                <a:latin typeface="Poppins" pitchFamily="34" charset="0"/>
                <a:ea typeface="Poppins" pitchFamily="34" charset="-122"/>
                <a:cs typeface="Poppins" pitchFamily="34" charset="0"/>
              </a:rPr>
              <a:t> matches its folder, and the </a:t>
            </a:r>
            <a:r>
              <a:rPr lang="en-US" sz="1400" b="1" dirty="0">
                <a:solidFill>
                  <a:srgbClr val="000000"/>
                </a:solidFill>
                <a:latin typeface="Poppins Bold" pitchFamily="34" charset="0"/>
                <a:ea typeface="Poppins Bold" pitchFamily="34" charset="-122"/>
                <a:cs typeface="Poppins Bold" pitchFamily="34" charset="0"/>
              </a:rPr>
              <a:t>description</a:t>
            </a:r>
            <a:r>
              <a:rPr lang="en-US" sz="1400" dirty="0">
                <a:solidFill>
                  <a:srgbClr val="000000"/>
                </a:solidFill>
                <a:latin typeface="Poppins" pitchFamily="34" charset="0"/>
                <a:ea typeface="Poppins" pitchFamily="34" charset="-122"/>
                <a:cs typeface="Poppins" pitchFamily="34" charset="0"/>
              </a:rPr>
              <a:t> is what Cowork reads to decide when the skill applies</a:t>
            </a:r>
            <a:endParaRPr lang="en-US" sz="1400" dirty="0"/>
          </a:p>
          <a:p>
            <a:pPr marL="284480" indent="-284480" algn="l">
              <a:lnSpc>
                <a:spcPct val="117000"/>
              </a:lnSpc>
              <a:buSzPct val="100000"/>
              <a:buChar char="•"/>
            </a:pPr>
            <a:r>
              <a:rPr lang="en-US" sz="1400" b="1" dirty="0">
                <a:solidFill>
                  <a:srgbClr val="000000"/>
                </a:solidFill>
                <a:latin typeface="Poppins Bold" pitchFamily="34" charset="0"/>
                <a:ea typeface="Poppins Bold" pitchFamily="34" charset="-122"/>
                <a:cs typeface="Poppins Bold" pitchFamily="34" charset="0"/>
              </a:rPr>
              <a:t>Companion files</a:t>
            </a:r>
            <a:r>
              <a:rPr lang="en-US" sz="1400" dirty="0">
                <a:solidFill>
                  <a:srgbClr val="000000"/>
                </a:solidFill>
                <a:latin typeface="Poppins" pitchFamily="34" charset="0"/>
                <a:ea typeface="Poppins" pitchFamily="34" charset="-122"/>
                <a:cs typeface="Poppins" pitchFamily="34" charset="0"/>
              </a:rPr>
              <a:t> sit beside </a:t>
            </a:r>
            <a:r>
              <a:rPr lang="en-US" sz="1400" dirty="0">
                <a:solidFill>
                  <a:srgbClr val="000000"/>
                </a:solidFill>
                <a:highlight>
                  <a:srgbClr val="F2F2F2"/>
                </a:highlight>
                <a:latin typeface="Consolas" pitchFamily="34" charset="0"/>
                <a:ea typeface="Consolas" pitchFamily="34" charset="-122"/>
                <a:cs typeface="Consolas" pitchFamily="34" charset="0"/>
              </a:rPr>
              <a:t>SKILL.md</a:t>
            </a:r>
            <a:r>
              <a:rPr lang="en-US" sz="1400" dirty="0">
                <a:solidFill>
                  <a:srgbClr val="000000"/>
                </a:solidFill>
                <a:latin typeface="Poppins" pitchFamily="34" charset="0"/>
                <a:ea typeface="Poppins" pitchFamily="34" charset="-122"/>
                <a:cs typeface="Poppins" pitchFamily="34" charset="0"/>
              </a:rPr>
              <a:t>, up to 20 files and 10 MB, each named in the instructions</a:t>
            </a:r>
            <a:endParaRPr lang="en-US" sz="1400" dirty="0"/>
          </a:p>
        </p:txBody>
      </p:sp>
      <p:sp>
        <p:nvSpPr>
          <p:cNvPr id="6" name="Shape 4"/>
          <p:cNvSpPr/>
          <p:nvPr/>
        </p:nvSpPr>
        <p:spPr>
          <a:xfrm>
            <a:off x="609600" y="2819400"/>
            <a:ext cx="7340600" cy="2743200"/>
          </a:xfrm>
          <a:prstGeom prst="roundRect">
            <a:avLst>
              <a:gd name="adj" fmla="val 2333"/>
            </a:avLst>
          </a:prstGeom>
          <a:solidFill>
            <a:srgbClr val="F2F2F2"/>
          </a:solidFill>
          <a:ln/>
        </p:spPr>
        <p:txBody>
          <a:bodyPr/>
          <a:lstStyle/>
          <a:p>
            <a:endParaRPr/>
          </a:p>
        </p:txBody>
      </p:sp>
      <p:sp>
        <p:nvSpPr>
          <p:cNvPr id="7" name="Text 5"/>
          <p:cNvSpPr/>
          <p:nvPr/>
        </p:nvSpPr>
        <p:spPr>
          <a:xfrm>
            <a:off x="787400" y="2895600"/>
            <a:ext cx="6985000" cy="261620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005CC5"/>
                </a:solidFill>
                <a:latin typeface="Consolas" pitchFamily="34" charset="0"/>
                <a:ea typeface="Consolas" pitchFamily="34" charset="-122"/>
                <a:cs typeface="Consolas" pitchFamily="34" charset="0"/>
              </a:rPr>
              <a:t>---</a:t>
            </a:r>
            <a:endParaRPr lang="en-US" sz="1400" dirty="0"/>
          </a:p>
          <a:p>
            <a:pPr marL="0" indent="0" algn="l">
              <a:lnSpc>
                <a:spcPct val="133000"/>
              </a:lnSpc>
              <a:buNone/>
            </a:pPr>
            <a:r>
              <a:rPr lang="en-US" sz="1200" dirty="0">
                <a:solidFill>
                  <a:srgbClr val="005CC5"/>
                </a:solidFill>
                <a:latin typeface="Consolas" pitchFamily="34" charset="0"/>
                <a:ea typeface="Consolas" pitchFamily="34" charset="-122"/>
                <a:cs typeface="Consolas" pitchFamily="34" charset="0"/>
              </a:rPr>
              <a:t>name: product-pitch</a:t>
            </a:r>
            <a:endParaRPr lang="en-US" sz="1400" dirty="0"/>
          </a:p>
          <a:p>
            <a:pPr marL="0" indent="0" algn="l">
              <a:lnSpc>
                <a:spcPct val="133000"/>
              </a:lnSpc>
              <a:buNone/>
            </a:pPr>
            <a:r>
              <a:rPr lang="en-US" sz="1200" dirty="0">
                <a:solidFill>
                  <a:srgbClr val="005CC5"/>
                </a:solidFill>
                <a:latin typeface="Consolas" pitchFamily="34" charset="0"/>
                <a:ea typeface="Consolas" pitchFamily="34" charset="-122"/>
                <a:cs typeface="Consolas" pitchFamily="34" charset="0"/>
              </a:rPr>
              <a:t>description: Turns a market brief, research report, or product document into a wholesale partner pitch deck in Aurora Outdoor house structure, with every claim traced back to a named source. Use whenever I say build a pitch, pitch this to partners, turn this brief into a deck, or name a range or season to pitch.</a:t>
            </a:r>
            <a:endParaRPr lang="en-US" sz="1400" dirty="0"/>
          </a:p>
          <a:p>
            <a:pPr marL="0" indent="0" algn="l">
              <a:lnSpc>
                <a:spcPct val="133000"/>
              </a:lnSpc>
              <a:buNone/>
            </a:pPr>
            <a:r>
              <a:rPr lang="en-US" sz="1200" dirty="0">
                <a:solidFill>
                  <a:srgbClr val="005CC5"/>
                </a:solidFill>
                <a:latin typeface="Consolas" pitchFamily="34" charset="0"/>
                <a:ea typeface="Consolas" pitchFamily="34" charset="-122"/>
                <a:cs typeface="Consolas" pitchFamily="34" charset="0"/>
              </a:rPr>
              <a:t>---</a:t>
            </a:r>
            <a:endParaRPr lang="en-US" sz="1400" dirty="0"/>
          </a:p>
          <a:p>
            <a:pPr marL="0" indent="0" algn="l">
              <a:lnSpc>
                <a:spcPct val="133000"/>
              </a:lnSpc>
              <a:buNone/>
            </a:pPr>
            <a:endParaRPr lang="en-US" sz="1400" dirty="0"/>
          </a:p>
          <a:p>
            <a:pPr marL="0" indent="0" algn="l">
              <a:lnSpc>
                <a:spcPct val="133000"/>
              </a:lnSpc>
              <a:buNone/>
            </a:pPr>
            <a:r>
              <a:rPr lang="en-US" sz="1200" dirty="0">
                <a:solidFill>
                  <a:srgbClr val="005CC5"/>
                </a:solidFill>
                <a:latin typeface="Consolas" pitchFamily="34" charset="0"/>
                <a:ea typeface="Consolas" pitchFamily="34" charset="-122"/>
                <a:cs typeface="Consolas" pitchFamily="34" charset="0"/>
              </a:rPr>
              <a:t>Produce a seven-card partner pitch deck in the house structure defined by pitch-deck-structure.pptx, which sits in this skill folder.</a:t>
            </a:r>
            <a:endParaRPr lang="en-US" sz="1400" dirty="0"/>
          </a:p>
        </p:txBody>
      </p:sp>
      <p:pic>
        <p:nvPicPr>
          <p:cNvPr id="8" name="Image 0" descr="preencoded.png"/>
          <p:cNvPicPr>
            <a:picLocks noChangeAspect="1"/>
          </p:cNvPicPr>
          <p:nvPr/>
        </p:nvPicPr>
        <p:blipFill>
          <a:blip r:embed="rId3"/>
          <a:stretch>
            <a:fillRect/>
          </a:stretch>
        </p:blipFill>
        <p:spPr>
          <a:xfrm>
            <a:off x="8462949" y="1602696"/>
            <a:ext cx="3322356" cy="1868785"/>
          </a:xfrm>
          <a:prstGeom prst="rect">
            <a:avLst/>
          </a:prstGeom>
        </p:spPr>
      </p:pic>
    </p:spTree>
    <p:extLst>
      <p:ext uri="{BB962C8B-B14F-4D97-AF65-F5344CB8AC3E}">
        <p14:creationId xmlns:p14="http://schemas.microsoft.com/office/powerpoint/2010/main" val="2021697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Running and tuning a skill</a:t>
            </a:r>
            <a:endParaRPr lang="en-US" sz="32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From the first run to a skill that triggers on its own</a:t>
            </a:r>
            <a:endParaRPr lang="en-US" sz="1400" dirty="0"/>
          </a:p>
        </p:txBody>
      </p:sp>
      <p:sp>
        <p:nvSpPr>
          <p:cNvPr id="4" name="Text 2"/>
          <p:cNvSpPr/>
          <p:nvPr/>
        </p:nvSpPr>
        <p:spPr>
          <a:xfrm>
            <a:off x="609600" y="2703697"/>
            <a:ext cx="4964767"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Run it by name</a:t>
            </a:r>
            <a:r>
              <a:rPr lang="en-US" sz="1400" dirty="0">
                <a:solidFill>
                  <a:srgbClr val="1B365D"/>
                </a:solidFill>
                <a:latin typeface="Poppins" pitchFamily="34" charset="0"/>
                <a:ea typeface="Poppins" pitchFamily="34" charset="-122"/>
                <a:cs typeface="Poppins" pitchFamily="34" charset="0"/>
              </a:rPr>
              <a:t> in a new task, then check every claim against the source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Ask which phrasings </a:t>
            </a:r>
            <a:r>
              <a:rPr lang="en-US" sz="1400" b="1" dirty="0">
                <a:solidFill>
                  <a:srgbClr val="1B365D"/>
                </a:solidFill>
                <a:latin typeface="Poppins Bold" pitchFamily="34" charset="0"/>
                <a:ea typeface="Poppins Bold" pitchFamily="34" charset="-122"/>
                <a:cs typeface="Poppins Bold" pitchFamily="34" charset="0"/>
              </a:rPr>
              <a:t>miss the skill</a:t>
            </a:r>
            <a:r>
              <a:rPr lang="en-US" sz="1400" dirty="0">
                <a:solidFill>
                  <a:srgbClr val="1B365D"/>
                </a:solidFill>
                <a:latin typeface="Poppins" pitchFamily="34" charset="0"/>
                <a:ea typeface="Poppins" pitchFamily="34" charset="-122"/>
                <a:cs typeface="Poppins" pitchFamily="34" charset="0"/>
              </a:rPr>
              <a:t> and which instruction let weak claims through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Cowork folds the fixes into </a:t>
            </a:r>
            <a:r>
              <a:rPr lang="en-US" sz="1400" dirty="0">
                <a:solidFill>
                  <a:srgbClr val="1B365D"/>
                </a:solidFill>
                <a:highlight>
                  <a:srgbClr val="F2F2F2"/>
                </a:highlight>
                <a:latin typeface="Consolas" pitchFamily="34" charset="0"/>
                <a:ea typeface="Consolas" pitchFamily="34" charset="-122"/>
                <a:cs typeface="Consolas" pitchFamily="34" charset="0"/>
              </a:rPr>
              <a:t>SKILL.md</a:t>
            </a:r>
            <a:r>
              <a:rPr lang="en-US" sz="1400" dirty="0">
                <a:solidFill>
                  <a:srgbClr val="1B365D"/>
                </a:solidFill>
                <a:latin typeface="Poppins" pitchFamily="34" charset="0"/>
                <a:ea typeface="Poppins" pitchFamily="34" charset="-122"/>
                <a:cs typeface="Poppins" pitchFamily="34" charset="0"/>
              </a:rPr>
              <a:t> through an </a:t>
            </a:r>
            <a:r>
              <a:rPr lang="en-US" sz="1400" b="1" dirty="0">
                <a:solidFill>
                  <a:srgbClr val="1B365D"/>
                </a:solidFill>
                <a:latin typeface="Poppins Bold" pitchFamily="34" charset="0"/>
                <a:ea typeface="Poppins Bold" pitchFamily="34" charset="-122"/>
                <a:cs typeface="Poppins Bold" pitchFamily="34" charset="0"/>
              </a:rPr>
              <a:t>Edit file?</a:t>
            </a:r>
            <a:r>
              <a:rPr lang="en-US" sz="1400" dirty="0">
                <a:solidFill>
                  <a:srgbClr val="1B365D"/>
                </a:solidFill>
                <a:latin typeface="Poppins" pitchFamily="34" charset="0"/>
                <a:ea typeface="Poppins" pitchFamily="34" charset="-122"/>
                <a:cs typeface="Poppins" pitchFamily="34" charset="0"/>
              </a:rPr>
              <a:t> card at Medium risk</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Skill Report</a:t>
            </a:r>
            <a:r>
              <a:rPr lang="en-US" sz="1400" dirty="0">
                <a:solidFill>
                  <a:srgbClr val="1B365D"/>
                </a:solidFill>
                <a:latin typeface="Poppins" pitchFamily="34" charset="0"/>
                <a:ea typeface="Poppins" pitchFamily="34" charset="-122"/>
                <a:cs typeface="Poppins" pitchFamily="34" charset="0"/>
              </a:rPr>
              <a:t> scores the skill out of 100; 70 counts as ready to share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Done when it </a:t>
            </a:r>
            <a:r>
              <a:rPr lang="en-US" sz="1400" b="1" dirty="0">
                <a:solidFill>
                  <a:srgbClr val="1B365D"/>
                </a:solidFill>
                <a:latin typeface="Poppins Bold" pitchFamily="34" charset="0"/>
                <a:ea typeface="Poppins Bold" pitchFamily="34" charset="-122"/>
                <a:cs typeface="Poppins Bold" pitchFamily="34" charset="0"/>
              </a:rPr>
              <a:t>fires without being named</a:t>
            </a:r>
            <a:r>
              <a:rPr lang="en-US" sz="1400" dirty="0">
                <a:solidFill>
                  <a:srgbClr val="1B365D"/>
                </a:solidFill>
                <a:latin typeface="Poppins" pitchFamily="34" charset="0"/>
                <a:ea typeface="Poppins" pitchFamily="34" charset="-122"/>
                <a:cs typeface="Poppins" pitchFamily="34" charset="0"/>
              </a:rPr>
              <a:t> and saves Aurora Trail Capsule AW26.pptx</a:t>
            </a:r>
            <a:endParaRPr lang="en-US" sz="1400" dirty="0"/>
          </a:p>
        </p:txBody>
      </p:sp>
      <p:pic>
        <p:nvPicPr>
          <p:cNvPr id="5" name="Image 0" descr="preencoded.png"/>
          <p:cNvPicPr>
            <a:picLocks noChangeAspect="1"/>
          </p:cNvPicPr>
          <p:nvPr/>
        </p:nvPicPr>
        <p:blipFill>
          <a:blip r:embed="rId3"/>
          <a:stretch>
            <a:fillRect/>
          </a:stretch>
        </p:blipFill>
        <p:spPr>
          <a:xfrm>
            <a:off x="5879060" y="2937073"/>
            <a:ext cx="5906245" cy="2016224"/>
          </a:xfrm>
          <a:prstGeom prst="rect">
            <a:avLst/>
          </a:prstGeom>
        </p:spPr>
      </p:pic>
    </p:spTree>
    <p:extLst>
      <p:ext uri="{BB962C8B-B14F-4D97-AF65-F5344CB8AC3E}">
        <p14:creationId xmlns:p14="http://schemas.microsoft.com/office/powerpoint/2010/main" val="694359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Scheduled Prompts &amp; Event-Driven Tasks</a:t>
            </a:r>
          </a:p>
          <a:p>
            <a:pPr>
              <a:lnSpc>
                <a:spcPct val="95000"/>
              </a:lnSpc>
              <a:spcBef>
                <a:spcPts val="1400"/>
              </a:spcBef>
            </a:pPr>
            <a:r>
              <a:rPr sz="2000" b="0">
                <a:solidFill>
                  <a:srgbClr val="595F67"/>
                </a:solidFill>
                <a:latin typeface="Poppins"/>
              </a:rPr>
              <a:t>On a schedule or when a message arrives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Schedules and triggers</a:t>
            </a:r>
            <a:endParaRPr lang="en-US" sz="32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Repeat a prompt on a cadence or when something happens</a:t>
            </a:r>
            <a:endParaRPr lang="en-US" sz="1400" dirty="0"/>
          </a:p>
        </p:txBody>
      </p:sp>
      <p:sp>
        <p:nvSpPr>
          <p:cNvPr id="4" name="Text 2"/>
          <p:cNvSpPr/>
          <p:nvPr/>
        </p:nvSpPr>
        <p:spPr>
          <a:xfrm>
            <a:off x="609600" y="2578888"/>
            <a:ext cx="4964767" cy="29150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schedule</a:t>
            </a:r>
            <a:r>
              <a:rPr lang="en-US" sz="1400" dirty="0">
                <a:solidFill>
                  <a:srgbClr val="1B365D"/>
                </a:solidFill>
                <a:latin typeface="Poppins" pitchFamily="34" charset="0"/>
                <a:ea typeface="Poppins" pitchFamily="34" charset="-122"/>
                <a:cs typeface="Poppins" pitchFamily="34" charset="0"/>
              </a:rPr>
              <a:t> repeats a prompt daily, weekly, monthly or at a set time, up to 25 of them</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trigger</a:t>
            </a:r>
            <a:r>
              <a:rPr lang="en-US" sz="1400" dirty="0">
                <a:solidFill>
                  <a:srgbClr val="1B365D"/>
                </a:solidFill>
                <a:latin typeface="Poppins" pitchFamily="34" charset="0"/>
                <a:ea typeface="Poppins" pitchFamily="34" charset="-122"/>
                <a:cs typeface="Poppins" pitchFamily="34" charset="0"/>
              </a:rPr>
              <a:t> starts the task when an email, a Teams channel message or a Teams chat message arrives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Automations</a:t>
            </a:r>
            <a:r>
              <a:rPr lang="en-US" sz="1400" dirty="0">
                <a:solidFill>
                  <a:srgbClr val="1B365D"/>
                </a:solidFill>
                <a:latin typeface="Poppins" pitchFamily="34" charset="0"/>
                <a:ea typeface="Poppins" pitchFamily="34" charset="-122"/>
                <a:cs typeface="Poppins" pitchFamily="34" charset="0"/>
              </a:rPr>
              <a:t> page offers Add, templates such as Daily briefing, and the filters Scheduled, Triggers and Paused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automation has an </a:t>
            </a:r>
            <a:r>
              <a:rPr lang="en-US" sz="1400" b="1" dirty="0">
                <a:solidFill>
                  <a:srgbClr val="1B365D"/>
                </a:solidFill>
                <a:latin typeface="Poppins Bold" pitchFamily="34" charset="0"/>
                <a:ea typeface="Poppins Bold" pitchFamily="34" charset="-122"/>
                <a:cs typeface="Poppins Bold" pitchFamily="34" charset="0"/>
              </a:rPr>
              <a:t>Enable</a:t>
            </a:r>
            <a:r>
              <a:rPr lang="en-US" sz="1400" dirty="0">
                <a:solidFill>
                  <a:srgbClr val="1B365D"/>
                </a:solidFill>
                <a:latin typeface="Poppins" pitchFamily="34" charset="0"/>
                <a:ea typeface="Poppins" pitchFamily="34" charset="-122"/>
                <a:cs typeface="Poppins" pitchFamily="34" charset="0"/>
              </a:rPr>
              <a:t> switch and a ... menu to edit, run now, pause or delete it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custom skill</a:t>
            </a:r>
            <a:r>
              <a:rPr lang="en-US" sz="1400" dirty="0">
                <a:solidFill>
                  <a:srgbClr val="1B365D"/>
                </a:solidFill>
                <a:latin typeface="Poppins" pitchFamily="34" charset="0"/>
                <a:ea typeface="Poppins" pitchFamily="34" charset="-122"/>
                <a:cs typeface="Poppins" pitchFamily="34" charset="0"/>
              </a:rPr>
              <a:t> decides how the work is done; the schedule or trigger decides when</a:t>
            </a:r>
            <a:endParaRPr lang="en-US" sz="1400" dirty="0"/>
          </a:p>
        </p:txBody>
      </p:sp>
      <p:pic>
        <p:nvPicPr>
          <p:cNvPr id="5" name="Image 0" descr="preencoded.png"/>
          <p:cNvPicPr>
            <a:picLocks noChangeAspect="1"/>
          </p:cNvPicPr>
          <p:nvPr/>
        </p:nvPicPr>
        <p:blipFill>
          <a:blip r:embed="rId3"/>
          <a:stretch>
            <a:fillRect/>
          </a:stretch>
        </p:blipFill>
        <p:spPr>
          <a:xfrm>
            <a:off x="5879060" y="2284016"/>
            <a:ext cx="5906245" cy="3322340"/>
          </a:xfrm>
          <a:prstGeom prst="rect">
            <a:avLst/>
          </a:prstGeom>
        </p:spPr>
      </p:pic>
    </p:spTree>
    <p:extLst>
      <p:ext uri="{BB962C8B-B14F-4D97-AF65-F5344CB8AC3E}">
        <p14:creationId xmlns:p14="http://schemas.microsoft.com/office/powerpoint/2010/main" val="3844768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FFFFFF"/>
          </a:solidFill>
          <a:ln/>
        </p:spPr>
        <p:txBody>
          <a:bodyPr/>
          <a:lstStyle/>
          <a:p>
            <a:endParaRPr/>
          </a:p>
        </p:txBody>
      </p:sp>
      <p:sp>
        <p:nvSpPr>
          <p:cNvPr id="3" name="Text 1"/>
          <p:cNvSpPr/>
          <p:nvPr/>
        </p:nvSpPr>
        <p:spPr>
          <a:xfrm>
            <a:off x="609600" y="1195478"/>
            <a:ext cx="5079858"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Good candidates for automation</a:t>
            </a:r>
            <a:endParaRPr lang="en-US" sz="3200" dirty="0"/>
          </a:p>
        </p:txBody>
      </p:sp>
      <p:sp>
        <p:nvSpPr>
          <p:cNvPr id="4" name="Text 2"/>
          <p:cNvSpPr/>
          <p:nvPr/>
        </p:nvSpPr>
        <p:spPr>
          <a:xfrm>
            <a:off x="609600" y="2254023"/>
            <a:ext cx="5181448" cy="696922"/>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Recurring reports and incoming messages</a:t>
            </a:r>
            <a:endParaRPr lang="en-US" sz="1400" dirty="0"/>
          </a:p>
        </p:txBody>
      </p:sp>
      <p:sp>
        <p:nvSpPr>
          <p:cNvPr id="5" name="Text 3"/>
          <p:cNvSpPr/>
          <p:nvPr/>
        </p:nvSpPr>
        <p:spPr>
          <a:xfrm>
            <a:off x="609600" y="3179545"/>
            <a:ext cx="5079858"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Every weekday at 8 AM, a </a:t>
            </a:r>
            <a:r>
              <a:rPr lang="en-US" sz="1400" b="1" dirty="0">
                <a:solidFill>
                  <a:srgbClr val="000000"/>
                </a:solidFill>
                <a:latin typeface="Poppins Bold" pitchFamily="34" charset="0"/>
                <a:ea typeface="Poppins Bold" pitchFamily="34" charset="-122"/>
                <a:cs typeface="Poppins Bold" pitchFamily="34" charset="0"/>
              </a:rPr>
              <a:t>Daily Briefing</a:t>
            </a:r>
            <a:r>
              <a:rPr lang="en-US" sz="1400" dirty="0">
                <a:solidFill>
                  <a:srgbClr val="000000"/>
                </a:solidFill>
                <a:latin typeface="Poppins" pitchFamily="34" charset="0"/>
                <a:ea typeface="Poppins" pitchFamily="34" charset="-122"/>
                <a:cs typeface="Poppins" pitchFamily="34" charset="0"/>
              </a:rPr>
              <a:t> of meetings, priority emails and newly shared documents</a:t>
            </a:r>
            <a:endParaRPr lang="en-US" sz="1400" dirty="0"/>
          </a:p>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Every Friday at 4 PM, a Word </a:t>
            </a:r>
            <a:r>
              <a:rPr lang="en-US" sz="1400" b="1" dirty="0">
                <a:solidFill>
                  <a:srgbClr val="000000"/>
                </a:solidFill>
                <a:latin typeface="Poppins Bold" pitchFamily="34" charset="0"/>
                <a:ea typeface="Poppins Bold" pitchFamily="34" charset="-122"/>
                <a:cs typeface="Poppins Bold" pitchFamily="34" charset="0"/>
              </a:rPr>
              <a:t>status report</a:t>
            </a:r>
            <a:r>
              <a:rPr lang="en-US" sz="1400" dirty="0">
                <a:solidFill>
                  <a:srgbClr val="000000"/>
                </a:solidFill>
                <a:latin typeface="Poppins" pitchFamily="34" charset="0"/>
                <a:ea typeface="Poppins" pitchFamily="34" charset="-122"/>
                <a:cs typeface="Poppins" pitchFamily="34" charset="0"/>
              </a:rPr>
              <a:t> on your week for your manager</a:t>
            </a:r>
            <a:endParaRPr lang="en-US" sz="1400" dirty="0"/>
          </a:p>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On the first of the month, a one-page </a:t>
            </a:r>
            <a:r>
              <a:rPr lang="en-US" sz="1400" b="1" dirty="0">
                <a:solidFill>
                  <a:srgbClr val="000000"/>
                </a:solidFill>
                <a:latin typeface="Poppins Bold" pitchFamily="34" charset="0"/>
                <a:ea typeface="Poppins Bold" pitchFamily="34" charset="-122"/>
                <a:cs typeface="Poppins Bold" pitchFamily="34" charset="0"/>
              </a:rPr>
              <a:t>digest</a:t>
            </a:r>
            <a:r>
              <a:rPr lang="en-US" sz="1400" dirty="0">
                <a:solidFill>
                  <a:srgbClr val="000000"/>
                </a:solidFill>
                <a:latin typeface="Poppins" pitchFamily="34" charset="0"/>
                <a:ea typeface="Poppins" pitchFamily="34" charset="-122"/>
                <a:cs typeface="Poppins" pitchFamily="34" charset="0"/>
              </a:rPr>
              <a:t> of the Marketing Teams channel</a:t>
            </a:r>
            <a:endParaRPr lang="en-US" sz="1400" dirty="0"/>
          </a:p>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When your manager emails about supplier delays, a </a:t>
            </a:r>
            <a:r>
              <a:rPr lang="en-US" sz="1400" b="1" dirty="0">
                <a:solidFill>
                  <a:srgbClr val="000000"/>
                </a:solidFill>
                <a:latin typeface="Poppins Bold" pitchFamily="34" charset="0"/>
                <a:ea typeface="Poppins Bold" pitchFamily="34" charset="-122"/>
                <a:cs typeface="Poppins Bold" pitchFamily="34" charset="0"/>
              </a:rPr>
              <a:t>summary and draft reply</a:t>
            </a:r>
            <a:r>
              <a:rPr lang="en-US" sz="1400" dirty="0">
                <a:solidFill>
                  <a:srgbClr val="000000"/>
                </a:solidFill>
                <a:latin typeface="Poppins" pitchFamily="34" charset="0"/>
                <a:ea typeface="Poppins" pitchFamily="34" charset="-122"/>
                <a:cs typeface="Poppins" pitchFamily="34" charset="0"/>
              </a:rPr>
              <a:t> for your review</a:t>
            </a:r>
            <a:endParaRPr lang="en-US" sz="1400" dirty="0"/>
          </a:p>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When you are @mentioned in the Aurora Outdoor Operations channel, a </a:t>
            </a:r>
            <a:r>
              <a:rPr lang="en-US" sz="1400" b="1" dirty="0">
                <a:solidFill>
                  <a:srgbClr val="000000"/>
                </a:solidFill>
                <a:latin typeface="Poppins Bold" pitchFamily="34" charset="0"/>
                <a:ea typeface="Poppins Bold" pitchFamily="34" charset="-122"/>
                <a:cs typeface="Poppins Bold" pitchFamily="34" charset="0"/>
              </a:rPr>
              <a:t>one-line summary</a:t>
            </a:r>
            <a:r>
              <a:rPr lang="en-US" sz="1400" dirty="0">
                <a:solidFill>
                  <a:srgbClr val="000000"/>
                </a:solidFill>
                <a:latin typeface="Poppins" pitchFamily="34" charset="0"/>
                <a:ea typeface="Poppins" pitchFamily="34" charset="-122"/>
                <a:cs typeface="Poppins" pitchFamily="34" charset="0"/>
              </a:rPr>
              <a:t> by email</a:t>
            </a:r>
            <a:endParaRPr lang="en-US" sz="1400" dirty="0"/>
          </a:p>
        </p:txBody>
      </p:sp>
      <p:pic>
        <p:nvPicPr>
          <p:cNvPr id="6"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2068015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Approvals in automated tasks</a:t>
            </a:r>
            <a:endParaRPr lang="en-US" sz="32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weekly status report runs every Friday; the send waits for you</a:t>
            </a:r>
            <a:endParaRPr lang="en-US" sz="1400" dirty="0"/>
          </a:p>
        </p:txBody>
      </p:sp>
      <p:sp>
        <p:nvSpPr>
          <p:cNvPr id="4" name="Text 2"/>
          <p:cNvSpPr/>
          <p:nvPr/>
        </p:nvSpPr>
        <p:spPr>
          <a:xfrm>
            <a:off x="609600" y="2703697"/>
            <a:ext cx="4964767"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Create recurring task?</a:t>
            </a:r>
            <a:r>
              <a:rPr lang="en-US" sz="1400" dirty="0">
                <a:solidFill>
                  <a:srgbClr val="1B365D"/>
                </a:solidFill>
                <a:latin typeface="Poppins" pitchFamily="34" charset="0"/>
                <a:ea typeface="Poppins" pitchFamily="34" charset="-122"/>
                <a:cs typeface="Poppins" pitchFamily="34" charset="0"/>
              </a:rPr>
              <a:t> sets the name, Weekly, Friday, 3:00 PM, and a new conversation per run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pitchFamily="34" charset="0"/>
                <a:ea typeface="Poppins" pitchFamily="34" charset="-122"/>
                <a:cs typeface="Poppins" pitchFamily="34" charset="0"/>
              </a:rPr>
              <a:t> is the prompt every run receives, including where the draft goes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Run once now</a:t>
            </a:r>
            <a:r>
              <a:rPr lang="en-US" sz="1400" dirty="0">
                <a:solidFill>
                  <a:srgbClr val="1B365D"/>
                </a:solidFill>
                <a:latin typeface="Poppins" pitchFamily="34" charset="0"/>
                <a:ea typeface="Poppins" pitchFamily="34" charset="-122"/>
                <a:cs typeface="Poppins" pitchFamily="34" charset="0"/>
              </a:rPr>
              <a:t> is ticked by default; clear it so the first run waits for Friday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run leaves the report under Output and a </a:t>
            </a:r>
            <a:r>
              <a:rPr lang="en-US" sz="1400" b="1" dirty="0">
                <a:solidFill>
                  <a:srgbClr val="1B365D"/>
                </a:solidFill>
                <a:latin typeface="Poppins Bold" pitchFamily="34" charset="0"/>
                <a:ea typeface="Poppins Bold" pitchFamily="34" charset="-122"/>
                <a:cs typeface="Poppins Bold" pitchFamily="34" charset="0"/>
              </a:rPr>
              <a:t>Hi Elena</a:t>
            </a:r>
            <a:r>
              <a:rPr lang="en-US" sz="1400" dirty="0">
                <a:solidFill>
                  <a:srgbClr val="1B365D"/>
                </a:solidFill>
                <a:latin typeface="Poppins" pitchFamily="34" charset="0"/>
                <a:ea typeface="Poppins" pitchFamily="34" charset="-122"/>
                <a:cs typeface="Poppins" pitchFamily="34" charset="0"/>
              </a:rPr>
              <a:t> email in your Drafts folder</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Scheduling the run does not approve the send</a:t>
            </a:r>
            <a:r>
              <a:rPr lang="en-US" sz="1400" dirty="0">
                <a:solidFill>
                  <a:srgbClr val="1B365D"/>
                </a:solidFill>
                <a:latin typeface="Poppins" pitchFamily="34" charset="0"/>
                <a:ea typeface="Poppins" pitchFamily="34" charset="-122"/>
                <a:cs typeface="Poppins" pitchFamily="34" charset="0"/>
              </a:rPr>
              <a:t>: nothing leaves until you say so</a:t>
            </a:r>
            <a:endParaRPr lang="en-US" sz="1400" dirty="0"/>
          </a:p>
        </p:txBody>
      </p:sp>
      <p:pic>
        <p:nvPicPr>
          <p:cNvPr id="5" name="Image 0" descr="preencoded.png"/>
          <p:cNvPicPr>
            <a:picLocks noChangeAspect="1"/>
          </p:cNvPicPr>
          <p:nvPr/>
        </p:nvPicPr>
        <p:blipFill>
          <a:blip r:embed="rId3"/>
          <a:stretch>
            <a:fillRect/>
          </a:stretch>
        </p:blipFill>
        <p:spPr>
          <a:xfrm>
            <a:off x="5879060" y="2178943"/>
            <a:ext cx="5906245" cy="3532485"/>
          </a:xfrm>
          <a:prstGeom prst="rect">
            <a:avLst/>
          </a:prstGeom>
        </p:spPr>
      </p:pic>
    </p:spTree>
    <p:extLst>
      <p:ext uri="{BB962C8B-B14F-4D97-AF65-F5344CB8AC3E}">
        <p14:creationId xmlns:p14="http://schemas.microsoft.com/office/powerpoint/2010/main" val="3687662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Extending Cowork with Plugins</a:t>
            </a:r>
          </a:p>
          <a:p>
            <a:pPr>
              <a:lnSpc>
                <a:spcPct val="95000"/>
              </a:lnSpc>
              <a:spcBef>
                <a:spcPts val="1400"/>
              </a:spcBef>
            </a:pPr>
            <a:r>
              <a:rPr sz="2000" b="0">
                <a:solidFill>
                  <a:srgbClr val="595F67"/>
                </a:solidFill>
                <a:latin typeface="Poppins"/>
              </a:rPr>
              <a:t>Outside data and expertise from plugins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What plugins add</a:t>
            </a:r>
            <a:endParaRPr lang="en-US" sz="4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Skills and connectors that reach beyond Microsoft 365</a:t>
            </a:r>
            <a:endParaRPr lang="en-US" sz="2000" dirty="0"/>
          </a:p>
        </p:txBody>
      </p:sp>
      <p:sp>
        <p:nvSpPr>
          <p:cNvPr id="4" name="Text 2"/>
          <p:cNvSpPr/>
          <p:nvPr/>
        </p:nvSpPr>
        <p:spPr>
          <a:xfrm>
            <a:off x="609600" y="2680587"/>
            <a:ext cx="4221438" cy="29150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Skills with </a:t>
            </a:r>
            <a:r>
              <a:rPr lang="en-US" sz="1400" b="1" dirty="0">
                <a:solidFill>
                  <a:srgbClr val="1B365D"/>
                </a:solidFill>
                <a:latin typeface="Poppins Bold" pitchFamily="34" charset="0"/>
                <a:ea typeface="Poppins Bold" pitchFamily="34" charset="-122"/>
                <a:cs typeface="Poppins Bold" pitchFamily="34" charset="0"/>
              </a:rPr>
              <a:t>specialized expertise</a:t>
            </a:r>
            <a:r>
              <a:rPr lang="en-US" sz="1400" dirty="0">
                <a:solidFill>
                  <a:srgbClr val="1B365D"/>
                </a:solidFill>
                <a:latin typeface="Poppins" pitchFamily="34" charset="0"/>
                <a:ea typeface="Poppins" pitchFamily="34" charset="-122"/>
                <a:cs typeface="Poppins" pitchFamily="34" charset="0"/>
              </a:rPr>
              <a:t>: financial analysis, legal research, clinical or HR knowledge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MCP connectors</a:t>
            </a:r>
            <a:r>
              <a:rPr lang="en-US" sz="1400" dirty="0">
                <a:solidFill>
                  <a:srgbClr val="1B365D"/>
                </a:solidFill>
                <a:latin typeface="Poppins" pitchFamily="34" charset="0"/>
                <a:ea typeface="Poppins" pitchFamily="34" charset="-122"/>
                <a:cs typeface="Poppins" pitchFamily="34" charset="0"/>
              </a:rPr>
              <a:t> reach CRM data, ticketing systems and third-party APIs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user completes a one-time </a:t>
            </a:r>
            <a:r>
              <a:rPr lang="en-US" sz="1400" b="1" dirty="0">
                <a:solidFill>
                  <a:srgbClr val="1B365D"/>
                </a:solidFill>
                <a:latin typeface="Poppins Bold" pitchFamily="34" charset="0"/>
                <a:ea typeface="Poppins Bold" pitchFamily="34" charset="-122"/>
                <a:cs typeface="Poppins Bold" pitchFamily="34" charset="0"/>
              </a:rPr>
              <a:t>Connect</a:t>
            </a:r>
            <a:r>
              <a:rPr lang="en-US" sz="1400" dirty="0">
                <a:solidFill>
                  <a:srgbClr val="1B365D"/>
                </a:solidFill>
                <a:latin typeface="Poppins" pitchFamily="34" charset="0"/>
                <a:ea typeface="Poppins" pitchFamily="34" charset="-122"/>
                <a:cs typeface="Poppins" pitchFamily="34" charset="0"/>
              </a:rPr>
              <a:t> sign-in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An </a:t>
            </a:r>
            <a:r>
              <a:rPr lang="en-US" sz="1400" b="1" dirty="0">
                <a:solidFill>
                  <a:srgbClr val="1B365D"/>
                </a:solidFill>
                <a:latin typeface="Poppins Bold" pitchFamily="34" charset="0"/>
                <a:ea typeface="Poppins Bold" pitchFamily="34" charset="-122"/>
                <a:cs typeface="Poppins Bold" pitchFamily="34" charset="0"/>
              </a:rPr>
              <a:t>MCP app</a:t>
            </a:r>
            <a:r>
              <a:rPr lang="en-US" sz="1400" dirty="0">
                <a:solidFill>
                  <a:srgbClr val="1B365D"/>
                </a:solidFill>
                <a:latin typeface="Poppins" pitchFamily="34" charset="0"/>
                <a:ea typeface="Poppins" pitchFamily="34" charset="-122"/>
                <a:cs typeface="Poppins" pitchFamily="34" charset="0"/>
              </a:rPr>
              <a:t> returns an interactive widget into the conversation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Plugins your admin rolls out show </a:t>
            </a:r>
            <a:r>
              <a:rPr lang="en-US" sz="1400" b="1" dirty="0">
                <a:solidFill>
                  <a:srgbClr val="1B365D"/>
                </a:solidFill>
                <a:latin typeface="Poppins Bold" pitchFamily="34" charset="0"/>
                <a:ea typeface="Poppins Bold" pitchFamily="34" charset="-122"/>
                <a:cs typeface="Poppins Bold" pitchFamily="34" charset="0"/>
              </a:rPr>
              <a:t>Managed by your organization</a:t>
            </a:r>
            <a:endParaRPr lang="en-US" sz="1400" dirty="0"/>
          </a:p>
        </p:txBody>
      </p:sp>
      <p:pic>
        <p:nvPicPr>
          <p:cNvPr id="5" name="Image 0" descr="preencoded.png"/>
          <p:cNvPicPr>
            <a:picLocks noChangeAspect="1"/>
          </p:cNvPicPr>
          <p:nvPr/>
        </p:nvPicPr>
        <p:blipFill>
          <a:blip r:embed="rId3"/>
          <a:stretch>
            <a:fillRect/>
          </a:stretch>
        </p:blipFill>
        <p:spPr>
          <a:xfrm>
            <a:off x="5135732" y="2169517"/>
            <a:ext cx="6674973" cy="3754735"/>
          </a:xfrm>
          <a:prstGeom prst="rect">
            <a:avLst/>
          </a:prstGeom>
        </p:spPr>
      </p:pic>
    </p:spTree>
    <p:extLst>
      <p:ext uri="{BB962C8B-B14F-4D97-AF65-F5344CB8AC3E}">
        <p14:creationId xmlns:p14="http://schemas.microsoft.com/office/powerpoint/2010/main" val="2463948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Where plugins fit</a:t>
            </a:r>
            <a:endParaRPr lang="en-US" sz="4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The dietitian plugin's skills beside the built-in Word skill</a:t>
            </a:r>
            <a:endParaRPr lang="en-US" sz="2000" dirty="0"/>
          </a:p>
        </p:txBody>
      </p:sp>
      <p:sp>
        <p:nvSpPr>
          <p:cNvPr id="4" name="Text 2"/>
          <p:cNvSpPr/>
          <p:nvPr/>
        </p:nvSpPr>
        <p:spPr>
          <a:xfrm>
            <a:off x="609600" y="2181350"/>
            <a:ext cx="4221438" cy="3163888"/>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Upload</a:t>
            </a:r>
            <a:r>
              <a:rPr lang="en-US" sz="1400" dirty="0">
                <a:solidFill>
                  <a:srgbClr val="1B365D"/>
                </a:solidFill>
                <a:latin typeface="Poppins" pitchFamily="34" charset="0"/>
                <a:ea typeface="Poppins" pitchFamily="34" charset="-122"/>
                <a:cs typeface="Poppins" pitchFamily="34" charset="0"/>
              </a:rPr>
              <a:t> the dietitian package under Customize &gt; Add &gt; Upload and publish it to Only you</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Its skills </a:t>
            </a:r>
            <a:r>
              <a:rPr lang="en-US" sz="1400" b="1" dirty="0">
                <a:solidFill>
                  <a:srgbClr val="1B365D"/>
                </a:solidFill>
                <a:latin typeface="Poppins Bold" pitchFamily="34" charset="0"/>
                <a:ea typeface="Poppins Bold" pitchFamily="34" charset="-122"/>
                <a:cs typeface="Poppins Bold" pitchFamily="34" charset="0"/>
              </a:rPr>
              <a:t>clinical-nutrition</a:t>
            </a:r>
            <a:r>
              <a:rPr lang="en-US" sz="1400" dirty="0">
                <a:solidFill>
                  <a:srgbClr val="1B365D"/>
                </a:solidFill>
                <a:latin typeface="Poppins" pitchFamily="34" charset="0"/>
                <a:ea typeface="Poppins" pitchFamily="34" charset="-122"/>
                <a:cs typeface="Poppins" pitchFamily="34" charset="0"/>
              </a:rPr>
              <a:t> and </a:t>
            </a:r>
            <a:r>
              <a:rPr lang="en-US" sz="1400" b="1" dirty="0">
                <a:solidFill>
                  <a:srgbClr val="1B365D"/>
                </a:solidFill>
                <a:latin typeface="Poppins Bold" pitchFamily="34" charset="0"/>
                <a:ea typeface="Poppins Bold" pitchFamily="34" charset="-122"/>
                <a:cs typeface="Poppins Bold" pitchFamily="34" charset="0"/>
              </a:rPr>
              <a:t>dietary-communication</a:t>
            </a:r>
            <a:r>
              <a:rPr lang="en-US" sz="1400" dirty="0">
                <a:solidFill>
                  <a:srgbClr val="1B365D"/>
                </a:solidFill>
                <a:latin typeface="Poppins" pitchFamily="34" charset="0"/>
                <a:ea typeface="Poppins" pitchFamily="34" charset="-122"/>
                <a:cs typeface="Poppins" pitchFamily="34" charset="0"/>
              </a:rPr>
              <a:t> draft the assessment and the client handout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loads with a </a:t>
            </a:r>
            <a:r>
              <a:rPr lang="en-US" sz="1400" b="1" dirty="0">
                <a:solidFill>
                  <a:srgbClr val="1B365D"/>
                </a:solidFill>
                <a:latin typeface="Poppins Bold" pitchFamily="34" charset="0"/>
                <a:ea typeface="Poppins Bold" pitchFamily="34" charset="-122"/>
                <a:cs typeface="Poppins Bold" pitchFamily="34" charset="0"/>
              </a:rPr>
              <a:t>Reviewed custom skill</a:t>
            </a:r>
            <a:r>
              <a:rPr lang="en-US" sz="1400" dirty="0">
                <a:solidFill>
                  <a:srgbClr val="1B365D"/>
                </a:solidFill>
                <a:latin typeface="Poppins" pitchFamily="34" charset="0"/>
                <a:ea typeface="Poppins" pitchFamily="34" charset="-122"/>
                <a:cs typeface="Poppins" pitchFamily="34" charset="0"/>
              </a:rPr>
              <a:t> step and joins </a:t>
            </a:r>
            <a:r>
              <a:rPr lang="en-US" sz="1400" b="1" dirty="0">
                <a:solidFill>
                  <a:srgbClr val="1B365D"/>
                </a:solidFill>
                <a:latin typeface="Poppins Bold" pitchFamily="34" charset="0"/>
                <a:ea typeface="Poppins Bold" pitchFamily="34" charset="-122"/>
                <a:cs typeface="Poppins Bold" pitchFamily="34" charset="0"/>
              </a:rPr>
              <a:t>Plugins</a:t>
            </a:r>
            <a:r>
              <a:rPr lang="en-US" sz="1400" dirty="0">
                <a:solidFill>
                  <a:srgbClr val="1B365D"/>
                </a:solidFill>
                <a:latin typeface="Poppins" pitchFamily="34" charset="0"/>
                <a:ea typeface="Poppins" pitchFamily="34" charset="-122"/>
                <a:cs typeface="Poppins" pitchFamily="34" charset="0"/>
              </a:rPr>
              <a:t> next to the built-in Word</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Word</a:t>
            </a:r>
            <a:r>
              <a:rPr lang="en-US" sz="1400" dirty="0">
                <a:solidFill>
                  <a:srgbClr val="1B365D"/>
                </a:solidFill>
                <a:latin typeface="Poppins" pitchFamily="34" charset="0"/>
                <a:ea typeface="Poppins" pitchFamily="34" charset="-122"/>
                <a:cs typeface="Poppins" pitchFamily="34" charset="0"/>
              </a:rPr>
              <a:t> compiles both drafts into Client Nutrition Packet - NUT-2041, the DRAFT ONLY line on top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Sharing with specific people needs </a:t>
            </a:r>
            <a:r>
              <a:rPr lang="en-US" sz="1400" b="1" dirty="0">
                <a:solidFill>
                  <a:srgbClr val="1B365D"/>
                </a:solidFill>
                <a:latin typeface="Poppins Bold" pitchFamily="34" charset="0"/>
                <a:ea typeface="Poppins Bold" pitchFamily="34" charset="-122"/>
                <a:cs typeface="Poppins Bold" pitchFamily="34" charset="0"/>
              </a:rPr>
              <a:t>no admin</a:t>
            </a:r>
            <a:r>
              <a:rPr lang="en-US" sz="1400" dirty="0">
                <a:solidFill>
                  <a:srgbClr val="1B365D"/>
                </a:solidFill>
                <a:latin typeface="Poppins" pitchFamily="34" charset="0"/>
                <a:ea typeface="Poppins" pitchFamily="34" charset="-122"/>
                <a:cs typeface="Poppins" pitchFamily="34" charset="0"/>
              </a:rPr>
              <a:t>; the whole organization waits for admin approval</a:t>
            </a:r>
            <a:endParaRPr lang="en-US" sz="1400" dirty="0"/>
          </a:p>
        </p:txBody>
      </p:sp>
      <p:pic>
        <p:nvPicPr>
          <p:cNvPr id="5" name="Image 0" descr="preencoded.png"/>
          <p:cNvPicPr>
            <a:picLocks noChangeAspect="1"/>
          </p:cNvPicPr>
          <p:nvPr/>
        </p:nvPicPr>
        <p:blipFill>
          <a:blip r:embed="rId3"/>
          <a:stretch>
            <a:fillRect/>
          </a:stretch>
        </p:blipFill>
        <p:spPr>
          <a:xfrm>
            <a:off x="5135732" y="2317948"/>
            <a:ext cx="6674973" cy="3457873"/>
          </a:xfrm>
          <a:prstGeom prst="rect">
            <a:avLst/>
          </a:prstGeom>
        </p:spPr>
      </p:pic>
    </p:spTree>
    <p:extLst>
      <p:ext uri="{BB962C8B-B14F-4D97-AF65-F5344CB8AC3E}">
        <p14:creationId xmlns:p14="http://schemas.microsoft.com/office/powerpoint/2010/main" val="3714681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Reviewing plugin output</a:t>
            </a:r>
            <a:endParaRPr lang="en-US" sz="4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The plugin drafts; the dietitian decides</a:t>
            </a:r>
            <a:endParaRPr lang="en-US" sz="2000" dirty="0"/>
          </a:p>
        </p:txBody>
      </p:sp>
      <p:sp>
        <p:nvSpPr>
          <p:cNvPr id="4" name="Text 2"/>
          <p:cNvSpPr/>
          <p:nvPr/>
        </p:nvSpPr>
        <p:spPr>
          <a:xfrm>
            <a:off x="609600" y="3803821"/>
            <a:ext cx="7188004" cy="170676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B365D"/>
                </a:solidFill>
                <a:latin typeface="Poppins" pitchFamily="34" charset="0"/>
                <a:ea typeface="Poppins" pitchFamily="34" charset="-122"/>
                <a:cs typeface="Poppins" pitchFamily="34" charset="0"/>
              </a:rPr>
              <a:t>A registered dietitian reviews and approves every packet before any of it reaches a client</a:t>
            </a:r>
            <a:endParaRPr lang="en-US" sz="3200" dirty="0"/>
          </a:p>
        </p:txBody>
      </p:sp>
      <p:pic>
        <p:nvPicPr>
          <p:cNvPr id="5" name="Image 0" descr="preencoded.png"/>
          <p:cNvPicPr>
            <a:picLocks noChangeAspect="1"/>
          </p:cNvPicPr>
          <p:nvPr/>
        </p:nvPicPr>
        <p:blipFill>
          <a:blip r:embed="rId3"/>
          <a:stretch>
            <a:fillRect/>
          </a:stretch>
        </p:blipFill>
        <p:spPr>
          <a:xfrm>
            <a:off x="8102397" y="1616670"/>
            <a:ext cx="3708307" cy="4860330"/>
          </a:xfrm>
          <a:prstGeom prst="rect">
            <a:avLst/>
          </a:prstGeom>
        </p:spPr>
      </p:pic>
    </p:spTree>
    <p:extLst>
      <p:ext uri="{BB962C8B-B14F-4D97-AF65-F5344CB8AC3E}">
        <p14:creationId xmlns:p14="http://schemas.microsoft.com/office/powerpoint/2010/main" val="448397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Human-in-the-Loop: Approving Actions &amp; Staying in Control</a:t>
            </a:r>
          </a:p>
          <a:p>
            <a:pPr>
              <a:lnSpc>
                <a:spcPct val="95000"/>
              </a:lnSpc>
              <a:spcBef>
                <a:spcPts val="1400"/>
              </a:spcBef>
            </a:pPr>
            <a:r>
              <a:rPr sz="2000" b="0">
                <a:solidFill>
                  <a:srgbClr val="595F67"/>
                </a:solidFill>
                <a:latin typeface="Poppins"/>
              </a:rPr>
              <a:t>Approvals, risk levels, and governance</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The approval model</a:t>
            </a:r>
            <a:endParaRPr lang="en-US" sz="4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Cowork pauses before anything that leaves your workspace</a:t>
            </a:r>
            <a:endParaRPr lang="en-US" sz="2000" dirty="0"/>
          </a:p>
        </p:txBody>
      </p:sp>
      <p:sp>
        <p:nvSpPr>
          <p:cNvPr id="4" name="Text 2"/>
          <p:cNvSpPr/>
          <p:nvPr/>
        </p:nvSpPr>
        <p:spPr>
          <a:xfrm>
            <a:off x="609600" y="2680537"/>
            <a:ext cx="4221438" cy="29150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card names the action as a question, here </a:t>
            </a:r>
            <a:r>
              <a:rPr lang="en-US" sz="1400" b="1" dirty="0">
                <a:solidFill>
                  <a:srgbClr val="1B365D"/>
                </a:solidFill>
                <a:latin typeface="Poppins Bold" pitchFamily="34" charset="0"/>
                <a:ea typeface="Poppins Bold" pitchFamily="34" charset="-122"/>
                <a:cs typeface="Poppins Bold" pitchFamily="34" charset="0"/>
              </a:rPr>
              <a:t>Create calendar event?</a:t>
            </a:r>
            <a:r>
              <a:rPr lang="en-US" sz="1400" dirty="0">
                <a:solidFill>
                  <a:srgbClr val="1B365D"/>
                </a:solidFill>
                <a:latin typeface="Poppins" pitchFamily="34" charset="0"/>
                <a:ea typeface="Poppins" pitchFamily="34" charset="-122"/>
                <a:cs typeface="Poppins" pitchFamily="34" charset="0"/>
              </a:rPr>
              <a:t>, and shows what it will write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Save</a:t>
            </a:r>
            <a:r>
              <a:rPr lang="en-US" sz="1400" dirty="0">
                <a:solidFill>
                  <a:srgbClr val="1B365D"/>
                </a:solidFill>
                <a:latin typeface="Poppins" pitchFamily="34" charset="0"/>
                <a:ea typeface="Poppins" pitchFamily="34" charset="-122"/>
                <a:cs typeface="Poppins" pitchFamily="34" charset="0"/>
              </a:rPr>
              <a:t> approves this one action, and the task records Approved 1 action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arrow beside it offers </a:t>
            </a:r>
            <a:r>
              <a:rPr lang="en-US" sz="1400" b="1" dirty="0">
                <a:solidFill>
                  <a:srgbClr val="1B365D"/>
                </a:solidFill>
                <a:latin typeface="Poppins Bold" pitchFamily="34" charset="0"/>
                <a:ea typeface="Poppins Bold" pitchFamily="34" charset="-122"/>
                <a:cs typeface="Poppins Bold" pitchFamily="34" charset="0"/>
              </a:rPr>
              <a:t>Always allow Create event</a:t>
            </a:r>
            <a:r>
              <a:rPr lang="en-US" sz="1400" dirty="0">
                <a:solidFill>
                  <a:srgbClr val="1B365D"/>
                </a:solidFill>
                <a:latin typeface="Poppins" pitchFamily="34" charset="0"/>
                <a:ea typeface="Poppins" pitchFamily="34" charset="-122"/>
                <a:cs typeface="Poppins" pitchFamily="34" charset="0"/>
              </a:rPr>
              <a:t> for the rest of the session</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Medium risk</a:t>
            </a:r>
            <a:r>
              <a:rPr lang="en-US" sz="1400" dirty="0">
                <a:solidFill>
                  <a:srgbClr val="1B365D"/>
                </a:solidFill>
                <a:latin typeface="Poppins" pitchFamily="34" charset="0"/>
                <a:ea typeface="Poppins" pitchFamily="34" charset="-122"/>
                <a:cs typeface="Poppins" pitchFamily="34" charset="0"/>
              </a:rPr>
              <a:t> changes your content or calendar; </a:t>
            </a:r>
            <a:r>
              <a:rPr lang="en-US" sz="1400" b="1" dirty="0">
                <a:solidFill>
                  <a:srgbClr val="1B365D"/>
                </a:solidFill>
                <a:latin typeface="Poppins Bold" pitchFamily="34" charset="0"/>
                <a:ea typeface="Poppins Bold" pitchFamily="34" charset="-122"/>
                <a:cs typeface="Poppins Bold" pitchFamily="34" charset="0"/>
              </a:rPr>
              <a:t>high risk</a:t>
            </a:r>
            <a:r>
              <a:rPr lang="en-US" sz="1400" dirty="0">
                <a:solidFill>
                  <a:srgbClr val="1B365D"/>
                </a:solidFill>
                <a:latin typeface="Poppins" pitchFamily="34" charset="0"/>
                <a:ea typeface="Poppins" pitchFamily="34" charset="-122"/>
                <a:cs typeface="Poppins" pitchFamily="34" charset="0"/>
              </a:rPr>
              <a:t> reaches other people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New files in Output and saved drafts need </a:t>
            </a:r>
            <a:r>
              <a:rPr lang="en-US" sz="1400" b="1" dirty="0">
                <a:solidFill>
                  <a:srgbClr val="1B365D"/>
                </a:solidFill>
                <a:latin typeface="Poppins Bold" pitchFamily="34" charset="0"/>
                <a:ea typeface="Poppins Bold" pitchFamily="34" charset="-122"/>
                <a:cs typeface="Poppins Bold" pitchFamily="34" charset="0"/>
              </a:rPr>
              <a:t>no approval</a:t>
            </a:r>
            <a:endParaRPr lang="en-US" sz="1400" dirty="0"/>
          </a:p>
        </p:txBody>
      </p:sp>
      <p:pic>
        <p:nvPicPr>
          <p:cNvPr id="5" name="Image 0" descr="preencoded.png"/>
          <p:cNvPicPr>
            <a:picLocks noChangeAspect="1"/>
          </p:cNvPicPr>
          <p:nvPr/>
        </p:nvPicPr>
        <p:blipFill>
          <a:blip r:embed="rId3"/>
          <a:stretch>
            <a:fillRect/>
          </a:stretch>
        </p:blipFill>
        <p:spPr>
          <a:xfrm>
            <a:off x="5135732" y="2162274"/>
            <a:ext cx="6674973" cy="3769122"/>
          </a:xfrm>
          <a:prstGeom prst="rect">
            <a:avLst/>
          </a:prstGeom>
        </p:spPr>
      </p:pic>
    </p:spTree>
    <p:extLst>
      <p:ext uri="{BB962C8B-B14F-4D97-AF65-F5344CB8AC3E}">
        <p14:creationId xmlns:p14="http://schemas.microsoft.com/office/powerpoint/2010/main" val="922385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Steering an active task</a:t>
            </a:r>
            <a:endParaRPr lang="en-US" sz="4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Pause, resume or cancel while Cowork works</a:t>
            </a:r>
            <a:endParaRPr lang="en-US" sz="2000" dirty="0"/>
          </a:p>
        </p:txBody>
      </p:sp>
      <p:sp>
        <p:nvSpPr>
          <p:cNvPr id="4" name="Text 2"/>
          <p:cNvSpPr/>
          <p:nvPr/>
        </p:nvSpPr>
        <p:spPr>
          <a:xfrm>
            <a:off x="609600" y="2930205"/>
            <a:ext cx="4221438" cy="24173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Pause (soft)</a:t>
            </a:r>
            <a:r>
              <a:rPr lang="en-US" sz="1400" dirty="0">
                <a:solidFill>
                  <a:srgbClr val="1B365D"/>
                </a:solidFill>
                <a:latin typeface="Poppins" pitchFamily="34" charset="0"/>
                <a:ea typeface="Poppins" pitchFamily="34" charset="-122"/>
                <a:cs typeface="Poppins" pitchFamily="34" charset="0"/>
              </a:rPr>
              <a:t> finishes the current step, then pauses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Pause (hard)</a:t>
            </a:r>
            <a:r>
              <a:rPr lang="en-US" sz="1400" dirty="0">
                <a:solidFill>
                  <a:srgbClr val="1B365D"/>
                </a:solidFill>
                <a:latin typeface="Poppins" pitchFamily="34" charset="0"/>
                <a:ea typeface="Poppins" pitchFamily="34" charset="-122"/>
                <a:cs typeface="Poppins" pitchFamily="34" charset="0"/>
              </a:rPr>
              <a:t> stops immediately, mid-step</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Resume</a:t>
            </a:r>
            <a:r>
              <a:rPr lang="en-US" sz="1400" dirty="0">
                <a:solidFill>
                  <a:srgbClr val="1B365D"/>
                </a:solidFill>
                <a:latin typeface="Poppins" pitchFamily="34" charset="0"/>
                <a:ea typeface="Poppins" pitchFamily="34" charset="-122"/>
                <a:cs typeface="Poppins" pitchFamily="34" charset="0"/>
              </a:rPr>
              <a:t> continues a paused task, Cancel clears the current one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Queued messages</a:t>
            </a:r>
            <a:r>
              <a:rPr lang="en-US" sz="1400" dirty="0">
                <a:solidFill>
                  <a:srgbClr val="1B365D"/>
                </a:solidFill>
                <a:latin typeface="Poppins" pitchFamily="34" charset="0"/>
                <a:ea typeface="Poppins" pitchFamily="34" charset="-122"/>
                <a:cs typeface="Poppins" pitchFamily="34" charset="0"/>
              </a:rPr>
              <a:t> sent while Cowork works can redirect it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Rate responses and previewed documents with </a:t>
            </a:r>
            <a:r>
              <a:rPr lang="en-US" sz="1400" b="1" dirty="0">
                <a:solidFill>
                  <a:srgbClr val="1B365D"/>
                </a:solidFill>
                <a:latin typeface="Poppins Bold" pitchFamily="34" charset="0"/>
                <a:ea typeface="Poppins Bold" pitchFamily="34" charset="-122"/>
                <a:cs typeface="Poppins Bold" pitchFamily="34" charset="0"/>
              </a:rPr>
              <a:t>thumbs up or down</a:t>
            </a:r>
            <a:r>
              <a:rPr lang="en-US" sz="1400" dirty="0">
                <a:solidFill>
                  <a:srgbClr val="1B365D"/>
                </a:solidFill>
                <a:latin typeface="Poppins" pitchFamily="34" charset="0"/>
                <a:ea typeface="Poppins" pitchFamily="34" charset="-122"/>
                <a:cs typeface="Poppins" pitchFamily="34" charset="0"/>
              </a:rPr>
              <a:t>, or comment inline</a:t>
            </a:r>
            <a:endParaRPr lang="en-US" sz="1400" dirty="0"/>
          </a:p>
        </p:txBody>
      </p:sp>
      <p:pic>
        <p:nvPicPr>
          <p:cNvPr id="5" name="Image 0" descr="preencoded.png"/>
          <p:cNvPicPr>
            <a:picLocks noChangeAspect="1"/>
          </p:cNvPicPr>
          <p:nvPr/>
        </p:nvPicPr>
        <p:blipFill>
          <a:blip r:embed="rId3"/>
          <a:stretch>
            <a:fillRect/>
          </a:stretch>
        </p:blipFill>
        <p:spPr>
          <a:xfrm>
            <a:off x="5135732" y="2169517"/>
            <a:ext cx="6674973" cy="3754735"/>
          </a:xfrm>
          <a:prstGeom prst="rect">
            <a:avLst/>
          </a:prstGeom>
        </p:spPr>
      </p:pic>
    </p:spTree>
    <p:extLst>
      <p:ext uri="{BB962C8B-B14F-4D97-AF65-F5344CB8AC3E}">
        <p14:creationId xmlns:p14="http://schemas.microsoft.com/office/powerpoint/2010/main" val="292641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Governance for admins</a:t>
            </a:r>
            <a:endParaRPr lang="en-US" sz="4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Where each Cowork control lives</a:t>
            </a:r>
            <a:endParaRPr lang="en-US" sz="2000" dirty="0"/>
          </a:p>
        </p:txBody>
      </p:sp>
      <p:pic>
        <p:nvPicPr>
          <p:cNvPr id="4" name="Image 0" descr="preencoded.png"/>
          <p:cNvPicPr>
            <a:picLocks noChangeAspect="1"/>
          </p:cNvPicPr>
          <p:nvPr/>
        </p:nvPicPr>
        <p:blipFill>
          <a:blip r:embed="rId3"/>
          <a:stretch>
            <a:fillRect/>
          </a:stretch>
        </p:blipFill>
        <p:spPr>
          <a:xfrm>
            <a:off x="2709299" y="1648420"/>
            <a:ext cx="6773098" cy="3809901"/>
          </a:xfrm>
          <a:prstGeom prst="rect">
            <a:avLst/>
          </a:prstGeom>
        </p:spPr>
      </p:pic>
      <p:sp>
        <p:nvSpPr>
          <p:cNvPr id="5" name="Text 2"/>
          <p:cNvSpPr/>
          <p:nvPr/>
        </p:nvSpPr>
        <p:spPr>
          <a:xfrm>
            <a:off x="609600" y="5585321"/>
            <a:ext cx="11176000" cy="248841"/>
          </a:xfrm>
          <a:prstGeom prst="rect">
            <a:avLst/>
          </a:prstGeom>
          <a:noFill/>
          <a:ln/>
        </p:spPr>
        <p:txBody>
          <a:bodyPr wrap="none" lIns="0" tIns="0" rIns="0" bIns="0" rtlCol="0" anchor="t"/>
          <a:lstStyle/>
          <a:p>
            <a:pPr marL="0" indent="0" algn="l">
              <a:lnSpc>
                <a:spcPct val="117000"/>
              </a:lnSpc>
              <a:buNone/>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spending policy</a:t>
            </a:r>
            <a:r>
              <a:rPr lang="en-US" sz="1400" dirty="0">
                <a:solidFill>
                  <a:srgbClr val="1B365D"/>
                </a:solidFill>
                <a:latin typeface="Poppins" pitchFamily="34" charset="0"/>
                <a:ea typeface="Poppins" pitchFamily="34" charset="-122"/>
                <a:cs typeface="Poppins" pitchFamily="34" charset="0"/>
              </a:rPr>
              <a:t> grants access; browsing, plugins and reporting each have their own place in the admin center</a:t>
            </a:r>
            <a:endParaRPr lang="en-US" sz="1400" dirty="0"/>
          </a:p>
        </p:txBody>
      </p:sp>
    </p:spTree>
    <p:extLst>
      <p:ext uri="{BB962C8B-B14F-4D97-AF65-F5344CB8AC3E}">
        <p14:creationId xmlns:p14="http://schemas.microsoft.com/office/powerpoint/2010/main" val="3887107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FFFFFF"/>
          </a:solidFill>
          <a:ln/>
        </p:spPr>
        <p:txBody>
          <a:bodyPr/>
          <a:lstStyle/>
          <a:p>
            <a:endParaRPr/>
          </a:p>
        </p:txBody>
      </p:sp>
      <p:sp>
        <p:nvSpPr>
          <p:cNvPr id="3" name="Text 1"/>
          <p:cNvSpPr/>
          <p:nvPr/>
        </p:nvSpPr>
        <p:spPr>
          <a:xfrm>
            <a:off x="609600" y="1628898"/>
            <a:ext cx="510525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4800" dirty="0"/>
          </a:p>
        </p:txBody>
      </p:sp>
      <p:sp>
        <p:nvSpPr>
          <p:cNvPr id="4" name="Text 2"/>
          <p:cNvSpPr/>
          <p:nvPr/>
        </p:nvSpPr>
        <p:spPr>
          <a:xfrm>
            <a:off x="609600" y="2234371"/>
            <a:ext cx="510525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From a first task to staying in control</a:t>
            </a:r>
            <a:endParaRPr lang="en-US" sz="2000" dirty="0"/>
          </a:p>
        </p:txBody>
      </p:sp>
      <p:sp>
        <p:nvSpPr>
          <p:cNvPr id="5" name="Text 3"/>
          <p:cNvSpPr/>
          <p:nvPr/>
        </p:nvSpPr>
        <p:spPr>
          <a:xfrm>
            <a:off x="609600" y="2746125"/>
            <a:ext cx="5105257"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000000"/>
                </a:solidFill>
                <a:latin typeface="Poppins Bold" pitchFamily="34" charset="0"/>
                <a:ea typeface="Poppins Bold" pitchFamily="34" charset="-122"/>
                <a:cs typeface="Poppins Bold" pitchFamily="34" charset="0"/>
              </a:rPr>
              <a:t>Describe the outcome</a:t>
            </a:r>
            <a:r>
              <a:rPr lang="en-US" sz="1400" dirty="0">
                <a:solidFill>
                  <a:srgbClr val="000000"/>
                </a:solidFill>
                <a:latin typeface="Poppins" pitchFamily="34" charset="0"/>
                <a:ea typeface="Poppins" pitchFamily="34" charset="-122"/>
                <a:cs typeface="Poppins" pitchFamily="34" charset="0"/>
              </a:rPr>
              <a:t>, and Cowork plans and acts across Microsoft 365</a:t>
            </a:r>
            <a:endParaRPr lang="en-US" sz="1400" dirty="0"/>
          </a:p>
          <a:p>
            <a:pPr marL="284480" indent="-284480" algn="l">
              <a:lnSpc>
                <a:spcPct val="117000"/>
              </a:lnSpc>
              <a:buSzPct val="100000"/>
              <a:buChar char="•"/>
            </a:pPr>
            <a:r>
              <a:rPr lang="en-US" sz="1400" dirty="0">
                <a:solidFill>
                  <a:srgbClr val="000000"/>
                </a:solidFill>
                <a:latin typeface="Poppins" pitchFamily="34" charset="0"/>
                <a:ea typeface="Poppins" pitchFamily="34" charset="-122"/>
                <a:cs typeface="Poppins" pitchFamily="34" charset="0"/>
              </a:rPr>
              <a:t>A </a:t>
            </a:r>
            <a:r>
              <a:rPr lang="en-US" sz="1400" b="1" dirty="0">
                <a:solidFill>
                  <a:srgbClr val="000000"/>
                </a:solidFill>
                <a:latin typeface="Poppins Bold" pitchFamily="34" charset="0"/>
                <a:ea typeface="Poppins Bold" pitchFamily="34" charset="-122"/>
                <a:cs typeface="Poppins Bold" pitchFamily="34" charset="0"/>
              </a:rPr>
              <a:t>spending policy</a:t>
            </a:r>
            <a:r>
              <a:rPr lang="en-US" sz="1400" dirty="0">
                <a:solidFill>
                  <a:srgbClr val="000000"/>
                </a:solidFill>
                <a:latin typeface="Poppins" pitchFamily="34" charset="0"/>
                <a:ea typeface="Poppins" pitchFamily="34" charset="-122"/>
                <a:cs typeface="Poppins" pitchFamily="34" charset="0"/>
              </a:rPr>
              <a:t> that selects Cowork grants access, metered in Copilot Credits</a:t>
            </a:r>
            <a:endParaRPr lang="en-US" sz="1400" dirty="0"/>
          </a:p>
          <a:p>
            <a:pPr marL="284480" indent="-284480" algn="l">
              <a:lnSpc>
                <a:spcPct val="117000"/>
              </a:lnSpc>
              <a:buSzPct val="100000"/>
              <a:buChar char="•"/>
            </a:pPr>
            <a:r>
              <a:rPr lang="en-US" sz="1400" b="1" dirty="0">
                <a:solidFill>
                  <a:srgbClr val="000000"/>
                </a:solidFill>
                <a:latin typeface="Poppins Bold" pitchFamily="34" charset="0"/>
                <a:ea typeface="Poppins Bold" pitchFamily="34" charset="-122"/>
                <a:cs typeface="Poppins Bold" pitchFamily="34" charset="0"/>
              </a:rPr>
              <a:t>Skills</a:t>
            </a:r>
            <a:r>
              <a:rPr lang="en-US" sz="1400" dirty="0">
                <a:solidFill>
                  <a:srgbClr val="000000"/>
                </a:solidFill>
                <a:latin typeface="Poppins" pitchFamily="34" charset="0"/>
                <a:ea typeface="Poppins" pitchFamily="34" charset="-122"/>
                <a:cs typeface="Poppins" pitchFamily="34" charset="0"/>
              </a:rPr>
              <a:t> load on their own, and a </a:t>
            </a:r>
            <a:r>
              <a:rPr lang="en-US" sz="1400" dirty="0">
                <a:solidFill>
                  <a:srgbClr val="000000"/>
                </a:solidFill>
                <a:highlight>
                  <a:srgbClr val="F2F2F2"/>
                </a:highlight>
                <a:latin typeface="Consolas" pitchFamily="34" charset="0"/>
                <a:ea typeface="Consolas" pitchFamily="34" charset="-122"/>
                <a:cs typeface="Consolas" pitchFamily="34" charset="0"/>
              </a:rPr>
              <a:t>SKILL.md</a:t>
            </a:r>
            <a:r>
              <a:rPr lang="en-US" sz="1400" dirty="0">
                <a:solidFill>
                  <a:srgbClr val="000000"/>
                </a:solidFill>
                <a:latin typeface="Poppins" pitchFamily="34" charset="0"/>
                <a:ea typeface="Poppins" pitchFamily="34" charset="-122"/>
                <a:cs typeface="Poppins" pitchFamily="34" charset="0"/>
              </a:rPr>
              <a:t> teaches Cowork one of your recurring jobs</a:t>
            </a:r>
            <a:endParaRPr lang="en-US" sz="1400" dirty="0"/>
          </a:p>
          <a:p>
            <a:pPr marL="284480" indent="-284480" algn="l">
              <a:lnSpc>
                <a:spcPct val="117000"/>
              </a:lnSpc>
              <a:buSzPct val="100000"/>
              <a:buChar char="•"/>
            </a:pPr>
            <a:r>
              <a:rPr lang="en-US" sz="1400" b="1" dirty="0">
                <a:solidFill>
                  <a:srgbClr val="000000"/>
                </a:solidFill>
                <a:latin typeface="Poppins Bold" pitchFamily="34" charset="0"/>
                <a:ea typeface="Poppins Bold" pitchFamily="34" charset="-122"/>
                <a:cs typeface="Poppins Bold" pitchFamily="34" charset="0"/>
              </a:rPr>
              <a:t>Schedules, triggers and plugins</a:t>
            </a:r>
            <a:r>
              <a:rPr lang="en-US" sz="1400" dirty="0">
                <a:solidFill>
                  <a:srgbClr val="000000"/>
                </a:solidFill>
                <a:latin typeface="Poppins" pitchFamily="34" charset="0"/>
                <a:ea typeface="Poppins" pitchFamily="34" charset="-122"/>
                <a:cs typeface="Poppins" pitchFamily="34" charset="0"/>
              </a:rPr>
              <a:t> make the work recurring and bring in outside expertise</a:t>
            </a:r>
            <a:endParaRPr lang="en-US" sz="1400" dirty="0"/>
          </a:p>
          <a:p>
            <a:pPr marL="284480" indent="-284480" algn="l">
              <a:lnSpc>
                <a:spcPct val="117000"/>
              </a:lnSpc>
              <a:buSzPct val="100000"/>
              <a:buChar char="•"/>
            </a:pPr>
            <a:r>
              <a:rPr lang="en-US" sz="1400" b="1" dirty="0">
                <a:solidFill>
                  <a:srgbClr val="000000"/>
                </a:solidFill>
                <a:latin typeface="Poppins Bold" pitchFamily="34" charset="0"/>
                <a:ea typeface="Poppins Bold" pitchFamily="34" charset="-122"/>
                <a:cs typeface="Poppins Bold" pitchFamily="34" charset="0"/>
              </a:rPr>
              <a:t>You approve</a:t>
            </a:r>
            <a:r>
              <a:rPr lang="en-US" sz="1400" dirty="0">
                <a:solidFill>
                  <a:srgbClr val="000000"/>
                </a:solidFill>
                <a:latin typeface="Poppins" pitchFamily="34" charset="0"/>
                <a:ea typeface="Poppins" pitchFamily="34" charset="-122"/>
                <a:cs typeface="Poppins" pitchFamily="34" charset="0"/>
              </a:rPr>
              <a:t> every send, booking and file edit before it leaves your workspace</a:t>
            </a:r>
            <a:endParaRPr lang="en-US" sz="1400" dirty="0"/>
          </a:p>
        </p:txBody>
      </p:sp>
      <p:pic>
        <p:nvPicPr>
          <p:cNvPr id="6"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3855359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2159</Words>
  <Application>Microsoft Office PowerPoint</Application>
  <PresentationFormat>Widescreen</PresentationFormat>
  <Paragraphs>242</Paragraphs>
  <Slides>31</Slides>
  <Notes>23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Montserrat Bold</vt:lpstr>
      <vt:lpstr>Arial</vt:lpstr>
      <vt:lpstr>Calibri</vt:lpstr>
      <vt:lpstr>Poppins Bold</vt:lpstr>
      <vt:lpstr>IBM Plex Sans</vt:lpstr>
      <vt:lpstr>IBM Plex Sans Light</vt:lpstr>
      <vt:lpstr>Montserrat</vt:lpstr>
      <vt:lpstr>Poppins</vt:lpstr>
      <vt:lpstr>Poppins Light</vt:lpstr>
      <vt:lpstr>Wingdings</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2026-10-22T17:50:01Z</dcterms:created>
  <dcterms:modified xsi:type="dcterms:W3CDTF">2026-10-22T18:01:40Z</dcterms:modified>
</cp:coreProperties>
</file>