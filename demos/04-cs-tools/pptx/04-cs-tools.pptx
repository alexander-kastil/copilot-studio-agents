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5"/>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262" r:id="rId14"/>
    <p:sldId id="508" r:id="rId15"/>
    <p:sldId id="263" r:id="rId16"/>
    <p:sldId id="264" r:id="rId17"/>
    <p:sldId id="265" r:id="rId18"/>
    <p:sldId id="509" r:id="rId19"/>
    <p:sldId id="266" r:id="rId20"/>
    <p:sldId id="267" r:id="rId21"/>
    <p:sldId id="268" r:id="rId22"/>
    <p:sldId id="510" r:id="rId23"/>
    <p:sldId id="269" r:id="rId24"/>
    <p:sldId id="270" r:id="rId25"/>
    <p:sldId id="271" r:id="rId26"/>
    <p:sldId id="511" r:id="rId27"/>
    <p:sldId id="272" r:id="rId28"/>
    <p:sldId id="273" r:id="rId29"/>
    <p:sldId id="274" r:id="rId30"/>
    <p:sldId id="512" r:id="rId31"/>
    <p:sldId id="275" r:id="rId32"/>
    <p:sldId id="276" r:id="rId33"/>
    <p:sldId id="277" r:id="rId34"/>
  </p:sldIdLst>
  <p:sldSz cx="12192000" cy="6858000"/>
  <p:notesSz cx="6858000" cy="12192000"/>
  <p:embeddedFontLst>
    <p:embeddedFont>
      <p:font typeface="Consolas" panose="020B0609020204030204" pitchFamily="49" charset="0"/>
      <p:regular r:id="rId36"/>
      <p:bold r:id="rId37"/>
      <p:italic r:id="rId38"/>
      <p:boldItalic r:id="rId39"/>
    </p:embeddedFont>
    <p:embeddedFont>
      <p:font typeface="IBM Plex Sans" panose="020B0503050203000203" pitchFamily="34" charset="0"/>
      <p:italic r:id="rId40"/>
      <p:boldItalic r:id="rId41"/>
    </p:embeddedFont>
    <p:embeddedFont>
      <p:font typeface="IBM Plex Sans Light" panose="020B0403050203000203" pitchFamily="34" charset="0"/>
      <p:regular r:id="rId42"/>
    </p:embeddedFont>
    <p:embeddedFont>
      <p:font typeface="Montserrat" panose="00000500000000000000" pitchFamily="2" charset="0"/>
      <p:regular r:id="rId43"/>
      <p:bold r:id="rId44"/>
      <p:italic r:id="rId45"/>
      <p:boldItalic r:id="rId46"/>
    </p:embeddedFont>
    <p:embeddedFont>
      <p:font typeface="Montserrat Bold" panose="00000800000000000000" pitchFamily="2" charset="0"/>
      <p:bold r:id="rId47"/>
    </p:embeddedFont>
    <p:embeddedFont>
      <p:font typeface="Poppins" panose="00000500000000000000" pitchFamily="2" charset="0"/>
      <p:regular r:id="rId48"/>
      <p:bold r:id="rId49"/>
    </p:embeddedFont>
    <p:embeddedFont>
      <p:font typeface="Poppins Bold" panose="00000800000000000000" charset="0"/>
      <p:bold r:id="rId5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5.fntdata"/><Relationship Id="rId41" Type="http://schemas.openxmlformats.org/officeDocument/2006/relationships/font" Target="fonts/font6.fntdata"/><Relationship Id="rId42" Type="http://schemas.openxmlformats.org/officeDocument/2006/relationships/font" Target="fonts/font7.fntdata"/><Relationship Id="rId43" Type="http://schemas.openxmlformats.org/officeDocument/2006/relationships/font" Target="fonts/font8.fntdata"/><Relationship Id="rId44" Type="http://schemas.openxmlformats.org/officeDocument/2006/relationships/font" Target="fonts/font9.fntdata"/><Relationship Id="rId45" Type="http://schemas.openxmlformats.org/officeDocument/2006/relationships/font" Target="fonts/font10.fntdata"/><Relationship Id="rId46" Type="http://schemas.openxmlformats.org/officeDocument/2006/relationships/font" Target="fonts/font11.fntdata"/><Relationship Id="rId47" Type="http://schemas.openxmlformats.org/officeDocument/2006/relationships/font" Target="fonts/font12.fntdata"/><Relationship Id="rId48" Type="http://schemas.openxmlformats.org/officeDocument/2006/relationships/font" Target="fonts/font13.fntdata"/><Relationship Id="rId49" Type="http://schemas.openxmlformats.org/officeDocument/2006/relationships/font" Target="fonts/font14.fntdata"/><Relationship Id="rId50" Type="http://schemas.openxmlformats.org/officeDocument/2006/relationships/font" Target="fonts/font15.fntdata"/><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15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80705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48162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moves a Standard agent from reading knowledge to calling real systems. Adding a tool is a configuration task on the agent's Tools page, and the maker skill is choosing the right one.</a:t>
            </a:r>
          </a:p>
          <a:p>
            <a:endParaRPr/>
          </a:p>
          <a:p>
            <a:r>
              <a:t>A tooled agent acts: it runs a prompt, writes a Dataverse row, posts to Teams, calls an API or an MCP server, or drives a user interface that has no API. Each tool type has a job it does best.</a:t>
            </a:r>
          </a:p>
          <a:p>
            <a:endParaRPr/>
          </a:p>
          <a:p>
            <a:r>
              <a:t>Seven tool types: the module takes them in delivery order, one topic each. Tools, MCP and workflows come back for GitHub Copilot agents in module 06, so the concepts carry straight across.</a:t>
            </a:r>
          </a:p>
          <a:p>
            <a:endParaRPr/>
          </a:p>
          <a:p>
            <a:r>
              <a:t>One real job per demo: CS-Food Stock Buddy calculates the canteen order first and later reads live stock from an API. The other demos run on CS-Travel Expense Refund, CS-Travel Agent, CS-Health Advisor, CS-Restaurant HR Manager and CS-Grey Logistics IT Help Desk.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seven topics once, in delivery order, with the agent that each demo builds.</a:t>
            </a:r>
          </a:p>
          <a:p>
            <a:endParaRPr/>
          </a:p>
          <a:p>
            <a:r>
              <a:t>Prompt and Dataverse: CS-Food Stock Buddy hands demand and stock to a prompt that returns the order quantities. CS-Travel Expense Refund saves every claim as a row through an agent flow.</a:t>
            </a:r>
          </a:p>
          <a:p>
            <a:endParaRPr/>
          </a:p>
          <a:p>
            <a:r>
              <a:t>Teams action and agent flows: CS-Travel Agent posts a trip summary with one prebuilt Microsoft Teams action. CS-Health Advisor classifies symptoms in one flow and waits for a reviewer in a second one.</a:t>
            </a:r>
          </a:p>
          <a:p>
            <a:endParaRPr/>
          </a:p>
          <a:p>
            <a:r>
              <a:t>REST API and MCP: CS-Food Stock Buddy comes back and swaps its sample stock for the live food catalog API. CS-Restaurant HR Manager reads staff and books shifts through the repository's HR MCP server.</a:t>
            </a:r>
          </a:p>
          <a:p>
            <a:endParaRPr/>
          </a:p>
          <a:p>
            <a:r>
              <a:t>Computer use: CS-Grey Logistics IT Help Desk reads values from one web app and types records into another. It is the route for systems that offer no API and no connector.</a:t>
            </a:r>
          </a:p>
          <a:p>
            <a:endParaRPr/>
          </a:p>
          <a:p>
            <a:r>
              <a:t>Choosing the right tool: a grounded agent can answer questions, a tooled agent can act. Each topic closes with when its tool fits and when another one fits better.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prompt is a reusable, single-turn instruction to a model that the agent calls like any other tool. Here it takes over the arithmetic someone used to do by hand: holding the canteen's demand against the stock list.</a:t>
            </a:r>
          </a:p>
          <a:p>
            <a:endParaRPr/>
          </a:p>
          <a:p>
            <a:r>
              <a:t>The rule: order quantity is demand plus minimum stock minus stock in hand, never below zero. With 40 Wiener Schnitzel demanded, 30 in stock and a minimum of 6, the prompt orders 16.</a:t>
            </a:r>
          </a:p>
          <a:p>
            <a:endParaRPr/>
          </a:p>
          <a:p>
            <a:r>
              <a:t>The binding: the topic passes Global.orderDemand and Topic.foodStock through JSON(), so the prompt receives two JSON texts. It reads the answer from the text field directly, because wrapping that in JSON() again escapes it a second time.</a:t>
            </a:r>
          </a:p>
          <a:p>
            <a:endParaRPr/>
          </a:p>
          <a:p>
            <a:r>
              <a:t>The stand-in: a node named Set sample stock holds nine rows with the API's field names. The REST API topic later replaces that one node with a live call and leaves the prompt untouched.</a:t>
            </a:r>
          </a:p>
          <a:p>
            <a:endParaRPr/>
          </a:p>
          <a:p>
            <a:r>
              <a:t>The orchestrator path: as a tool with the description Calculate food to order, the same prompt can also run without the topic. Then the model fills the inputs itself or asks for missing values, which is why the topic carries the real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prompt builder with the canteen prompt from the live run. Every prompt has three parts you design: the instructions, the inputs and the output.</a:t>
            </a:r>
          </a:p>
          <a:p>
            <a:endParaRPr/>
          </a:p>
          <a:p>
            <a:r>
              <a:t>Instructions: they state the task and the format of the answer. Prompt assistant can draft them from a short description of your intent, between 4 and 500 characters, and the prompt library offers templates in some regions.</a:t>
            </a:r>
          </a:p>
          <a:p>
            <a:endParaRPr/>
          </a:p>
          <a:p>
            <a:r>
              <a:t>Inputs: a forward slash or Add content inserts a placeholder, either Text or Image or document. The chips in the screenshot are the two Text inputs the topic fills later.</a:t>
            </a:r>
          </a:p>
          <a:p>
            <a:endParaRPr/>
          </a:p>
          <a:p>
            <a:r>
              <a:t>Test: you type a sample value per input and select Test, and the response appears next to the instructions. In the live run the test returned 16, 8 and 12, the numbers the rule gives.</a:t>
            </a:r>
          </a:p>
          <a:p>
            <a:endParaRPr/>
          </a:p>
          <a:p>
            <a:r>
              <a:t>Predictable output: temperature 0 is the default and suits extraction, classification and anything a later step parses. The model wraps JSON in a code fence unless the instructions forbid it, so keep "Return no other text", or switch the output to JSON.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business answers live in table rows, and Microsoft Dataverse is often where those rows already sit. This topic uses Dataverse in both directions an agent can.</a:t>
            </a:r>
          </a:p>
          <a:p>
            <a:endParaRPr/>
          </a:p>
          <a:p>
            <a:r>
              <a:t>Writing: today someone copies each travel claim from the conversation into a list by hand. In the demo the agent writes every submitted claim to the CS-Travel Expense Claims table through an agent flow.</a:t>
            </a:r>
          </a:p>
          <a:p>
            <a:endParaRPr/>
          </a:p>
          <a:p>
            <a:r>
              <a:t>Reading: a Dataverse knowledge source answers questions over up to 15 tables, searching as the signed-in user. Two people asking the same question can get different answers, because nobody sees a row they could not open in a Dataverse app.</a:t>
            </a:r>
          </a:p>
          <a:p>
            <a:endParaRPr/>
          </a:p>
          <a:p>
            <a:r>
              <a:t>Two decisions: reading and writing need separate design and separate permissions. Knowledge answers questions, tools change rows, and each tool runs with the credentials it is configured for.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diagram reads left to right: topic variables, flow inputs, table columns. Every column of the table mirrors one value the topic collects.</a:t>
            </a:r>
          </a:p>
          <a:p>
            <a:endParaRPr/>
          </a:p>
          <a:p>
            <a:r>
              <a:t>The table: CS-Travel Expense Claims has Claim ID as its primary column plus email, destination, two dates, amount and comment. The dates are Date and time columns, which is why the topic builds full ISO timestamps.</a:t>
            </a:r>
          </a:p>
          <a:p>
            <a:endParaRPr/>
          </a:p>
          <a:p>
            <a:r>
              <a:t>The flow: it starts with When an agent calls the flow, adds the row with the Dataverse action Add a new row, and ends with Respond to the agent. Comment is the one optional input, because the card does not require it.</a:t>
            </a:r>
          </a:p>
          <a:p>
            <a:endParaRPr/>
          </a:p>
          <a:p>
            <a:r>
              <a:t>The Action node: the topic, not the orchestrator, saves the claim right after its formulas run. Each input is mapped to a variable, and departureDateIso and returnDateIso carry the converted dates, because Dataverse rejects the raw card dates.</a:t>
            </a:r>
          </a:p>
          <a:p>
            <a:endParaRPr/>
          </a:p>
          <a:p>
            <a:r>
              <a:t>Before you debug: the flow appears under Add a tool only when it is published, keeps both its trigger and Respond to the agent, and has Asynchronous response off. The table must sit in the same environment as the agent and the flow.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test chat from the live run, which used a Graz claim of 245.5 instead of the guide's Salzburg values. The flow ran from the topic and the confirmation came back in one turn.</a:t>
            </a:r>
          </a:p>
          <a:p>
            <a:endParaRPr/>
          </a:p>
          <a:p>
            <a:r>
              <a:t>Confirmation: the message comes from the topic's recap node, moved below the Action node. In the live run the orchestrator added a second line of its own, saying the claim was already saved; it did not write a second row.</a:t>
            </a:r>
          </a:p>
          <a:p>
            <a:endParaRPr/>
          </a:p>
          <a:p>
            <a:r>
              <a:t>ISO dates: the topic sends departureDateIso and returnDateIso, so the flow maps the date columns straight from its inputs. The cloned flow mapped its dates from inputs that did not exist, and the rebuild removes that mismatch.</a:t>
            </a:r>
          </a:p>
          <a:p>
            <a:endParaRPr/>
          </a:p>
          <a:p>
            <a:r>
              <a:t>The row: open CS-Travel Expense Claims in Power Apps, refresh the data view and find the claim ID. The chat message alone proves nothing about the table.</a:t>
            </a:r>
          </a:p>
          <a:p>
            <a:endParaRPr/>
          </a:p>
          <a:p>
            <a:r>
              <a:t>Other write paths: a Microsoft Dataverse connector tool such as Add a new row should keep Ask the end user before running on and end user credentials. The Dataverse MCP Server (preview) offers create_record and update_record under role-based access control; turn off every tool your scenario does not need.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trip request that stays in the chat helps nobody, because the travel desk works in a Teams channel. This demo gives CS-Travel Agent one prebuilt Teams action it can call on its own.</a:t>
            </a:r>
          </a:p>
          <a:p>
            <a:endParaRPr/>
          </a:p>
          <a:p>
            <a:r>
              <a:t>Connector tools: each action of a Power Platform connector you add becomes one tool, added from Tools, Add a tool, Connector. Standard connectors such as SharePoint come with every Copilot Studio plan, premium ones with select plans.</a:t>
            </a:r>
          </a:p>
          <a:p>
            <a:endParaRPr/>
          </a:p>
          <a:p>
            <a:r>
              <a:t>The plan: the Book Trip topic collects the booking, then the orchestrator picks the tool and writes the message from the trip summary. The activity map shows the prepared messageBody and recipient.</a:t>
            </a:r>
          </a:p>
          <a:p>
            <a:endParaRPr/>
          </a:p>
          <a:p>
            <a:r>
              <a:t>Channel ids: the connector addresses a channel by the team's group id and the channel id, never by names. Without the ids in the instructions, the live run failed with "Group ID does not exist"; with them, the post went through.</a:t>
            </a:r>
          </a:p>
          <a:p>
            <a:endParaRPr/>
          </a:p>
          <a:p>
            <a:r>
              <a:t>One action or several steps: a connector tool runs one action. When a request needs several actions in a fixed order, those steps belong in an agent flow, the next topic.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generative orchestration, the agent decides which tool answers a request and also fills that tool's inputs. This screenshot is the Teams tool's Inputs section from the live run.</a:t>
            </a:r>
          </a:p>
          <a:p>
            <a:endParaRPr/>
          </a:p>
          <a:p>
            <a:r>
              <a:t>Dynamic filling: the agent pulls the value from the user's message or earlier turns. When it finds none, it generates a question, so you never author a question node for these inputs.</a:t>
            </a:r>
          </a:p>
          <a:p>
            <a:endParaRPr/>
          </a:p>
          <a:p>
            <a:r>
              <a:t>Custom value: use it when a value must never come from the user, such as their own identity or a fixed site address. A Power Fx formula like System.User.Email fills it at runtime.</a:t>
            </a:r>
          </a:p>
          <a:p>
            <a:endParaRPr/>
          </a:p>
          <a:p>
            <a:r>
              <a:t>The Teams inputs: the agent fills who posts, whether it goes to a chat or a channel, and the recipient and text. It asks for anything it can't find.</a:t>
            </a:r>
          </a:p>
          <a:p>
            <a:endParaRPr/>
          </a:p>
          <a:p>
            <a:r>
              <a:t>Name and description: they carry most of the weight when the orchestrator chooses. Names typed in the wizard don't carry over, so rename the tool on its settings page.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70209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connector call runs as someone, and that choice decides what data the agent can reach. The card in the screenshot is the first Teams call of CS-Travel Agent with end user credentials.</a:t>
            </a:r>
          </a:p>
          <a:p>
            <a:endParaRPr/>
          </a:p>
          <a:p>
            <a:r>
              <a:t>End user credentials: each user selects Allow once, and the agent can only do what that person could do. The trip summary then appears in the channel under the user's own name.</a:t>
            </a:r>
          </a:p>
          <a:p>
            <a:endParaRPr/>
          </a:p>
          <a:p>
            <a:r>
              <a:t>Maker-provided credentials: every user acts with the author's access, which suits shared resources every user may read. The risk to manage is oversharing.</a:t>
            </a:r>
          </a:p>
          <a:p>
            <a:endParaRPr/>
          </a:p>
          <a:p>
            <a:r>
              <a:t>The conditions: maker-provided credentials need an authenticated channel, and administrators can turn the option off per environment in the Power Platform admin center. Plan for that before you build an agent around shared credentials.</a:t>
            </a:r>
          </a:p>
          <a:p>
            <a:endParaRPr/>
          </a:p>
          <a:p>
            <a:r>
              <a:t>The live finding: a Teams post tool on end user credentials stopped another test chat at "Let's get you connected first", and Retry kept failing. Switching that tool to maker-provided credentials fixed it, and the Publish dialog then showed the warning.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66514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Logging a ticket or posting advice has to happen the same way every time. Agent flows are the deterministic half of a Standard agent: one trigger, a fixed sequence of actions, the same output for the same input.</a:t>
            </a:r>
          </a:p>
          <a:p>
            <a:endParaRPr/>
          </a:p>
          <a:p>
            <a:r>
              <a:t>Flows as tools: a flow becomes a tool with When an agent calls the flow and Respond to the agent, Asynchronous response off, published, and a typical run inside the 100-second action limit. The trigger's inputs are the contract the agent fills, and the outputs are what it gets back.</a:t>
            </a:r>
          </a:p>
          <a:p>
            <a:endParaRPr/>
          </a:p>
          <a:p>
            <a:r>
              <a:t>The first flow: Check Symptoms collects age, gender and symptoms, and the flow returns an Outcome. A Power Fx condition looks for "cleared for light work" and asks a follow-up question when it is missing.</a:t>
            </a:r>
          </a:p>
          <a:p>
            <a:endParaRPr/>
          </a:p>
          <a:p>
            <a:r>
              <a:t>The second flow: it answers the agent first, then waits for a reviewer before it posts to Teams. Actions after Respond to the agent keep running for up to the 30-day flow run limit.</a:t>
            </a:r>
          </a:p>
          <a:p>
            <a:endParaRPr/>
          </a:p>
          <a:p>
            <a:r>
              <a:t>Flow tool or connector tool: one read or write in one service is a connector tool. Several steps in a fixed order, a condition or a person in the middle belong in a flow, billed at 13 Copilot Credits per 100 actions.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79061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flow can still use a model, as long as the model does one bounded job at a fixed point. This is the classification step of CS-Summarize Patient Symptoms with the test values from the demo.</a:t>
            </a:r>
          </a:p>
          <a:p>
            <a:endParaRPr/>
          </a:p>
          <a:p>
            <a:r>
              <a:t>Run a prompt: the action sits in the AI capabilities section and returns text or structured output for the next action. It makes a single model call with no tools and no knowledge search.</a:t>
            </a:r>
          </a:p>
          <a:p>
            <a:endParaRPr/>
          </a:p>
          <a:p>
            <a:r>
              <a:t>Only its instructions: the prompt node never searches SharePoint or reads mail on its own. An earlier step passes the data in, here the three trigger inputs.</a:t>
            </a:r>
          </a:p>
          <a:p>
            <a:endParaRPr/>
          </a:p>
          <a:p>
            <a:r>
              <a:t>The test: in the live run, 34, female and a slight headache with a runny nose came back with an analysis ending in the cleared-for-light-work sentence. The wording around it varies from run to run.</a:t>
            </a:r>
          </a:p>
          <a:p>
            <a:endParaRPr/>
          </a:p>
          <a:p>
            <a:r>
              <a:t>The Outcome: Respond to the agent returns the prompt's text response, and the Check Symptoms condition asks a follow-up question only when that sentence is missing. The cloned flow returned the trigger body instead, so every check fell into the serious branch.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38578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post to a shared channel should not leave the agent unseen, so CS-Post to teams asks a person first. A reviewer can take hours, while an agent waits at most 100 seconds for a flow.</a:t>
            </a:r>
          </a:p>
          <a:p>
            <a:endParaRPr/>
          </a:p>
          <a:p>
            <a:r>
              <a:t>Respond first: Respond to the agent goes directly below the trigger, so the agent answers right away. With the response after the review step, saving to Teams times out with an error.</a:t>
            </a:r>
          </a:p>
          <a:p>
            <a:endParaRPr/>
          </a:p>
          <a:p>
            <a:r>
              <a:t>Request for information: it sends the reviewer an email from Microsoft Power Automate titled "Posting Control" with the advice in it. Its Channel must be set, or publishing fails with missing required property 'RequestForInformationInput/channel'.</a:t>
            </a:r>
          </a:p>
          <a:p>
            <a:endParaRPr/>
          </a:p>
          <a:p>
            <a:r>
              <a:t>Submit: after the reviewer submits, the channel shows a post that starts "A new post with content:". The request has no inputs yet, so any submission posts; a Yes/No input and a condition give the reviewer a real choice.</a:t>
            </a:r>
          </a:p>
          <a:p>
            <a:endParaRPr/>
          </a:p>
          <a:p>
            <a:r>
              <a:t>Credentials: the tool runs with maker-provided credentials, so the flow uses your Teams and Human review connections. With end user credentials, the chat stopped at "Let's get you connected first".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331306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CS-Food Stock Buddy calculated its order from a sample table that never changes, so every order went wrong as soon as a delivery arrived. The food catalog API already knows the real stock, and its OpenAPI file describes everything it can do.</a:t>
            </a:r>
          </a:p>
          <a:p>
            <a:endParaRPr/>
          </a:p>
          <a:p>
            <a:r>
              <a:t>The wizard: Add a tool, Add new REST API, upload the file, describe the API, pick the authentication and select the operations. Custom connectors import OpenAPI 2.0; the REST API tool (preview) also translates a v3 file.</a:t>
            </a:r>
          </a:p>
          <a:p>
            <a:endParaRPr/>
          </a:p>
          <a:p>
            <a:r>
              <a:t>Three tools: every operation you select becomes a tool the orchestrator can call on its own. The canteen needs to read the stock, add a dish and book a delivery.</a:t>
            </a:r>
          </a:p>
          <a:p>
            <a:endParaRPr/>
          </a:p>
          <a:p>
            <a:r>
              <a:t>Left out: a canteen agent that rewrites or deletes dishes is a risk nobody asked for. You expose only the operations you select.</a:t>
            </a:r>
          </a:p>
          <a:p>
            <a:endParaRPr/>
          </a:p>
          <a:p>
            <a:r>
              <a:t>Live stock: the node keeps the variable name foodStock, so the prompt node from topic 01 stays untouched. The free-tier web app starts cold, so open the API once before you demo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772466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orchestrator reads the tool description when it decides, so each one names the job, the data and when to use it. This is the third tool from the live run.</a:t>
            </a:r>
          </a:p>
          <a:p>
            <a:endParaRPr/>
          </a:p>
          <a:p>
            <a:r>
              <a:t>The job: a positive amount adds delivered portions, a negative amount removes used or spoiled ones. That lets one tool serve both deliveries and spoilage.</a:t>
            </a:r>
          </a:p>
          <a:p>
            <a:endParaRPr/>
          </a:p>
          <a:p>
            <a:r>
              <a:t>Call order: the update needs the item's id, and only the list operation knows it. The description tells the agent to look the dish up first.</a:t>
            </a:r>
          </a:p>
          <a:p>
            <a:endParaRPr/>
          </a:p>
          <a:p>
            <a:r>
              <a:t>Not Found: without that line the agent guessed an id and the API answered Not Found. One connector whose operations have real descriptions beats three connectors with bare ones such as "Gets all food".</a:t>
            </a:r>
          </a:p>
          <a:p>
            <a:endParaRPr/>
          </a:p>
          <a:p>
            <a:r>
              <a:t>Parameter descriptions: on the review page every input and output needs a description, and Next stays disabled until all are filled. The file's own descriptions are the first draft.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815044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add and update in its tool set, the agent keeps the stock true without any topic. One sentence about a delivery is enough.</a:t>
            </a:r>
          </a:p>
          <a:p>
            <a:endParaRPr/>
          </a:p>
          <a:p>
            <a:r>
              <a:t>Two tool calls: the activity map shows CS-Gets all food, then CS-Update food stock quantity with the dish's id and an amount of 12. In the live run the agent answered that the new stock is 24 portions.</a:t>
            </a:r>
          </a:p>
          <a:p>
            <a:endParaRPr/>
          </a:p>
          <a:p>
            <a:r>
              <a:t>Spoiled portions: "Two portions of Pad Ka Prao spoiled" runs the same update with an amount of -2, from 18 to 16. A new dish such as Apfelstrudel goes through CS-Add food.</a:t>
            </a:r>
          </a:p>
          <a:p>
            <a:endParaRPr/>
          </a:p>
          <a:p>
            <a:r>
              <a:t>The order: the next Calculate quantity to order works from 24 portions of Schweinshaxe mit Kraut and 16 of Pad Ka Prao. The quantities follow the stock as soon as it changes.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739264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connector is a design-time contract, an MCP server a runtime one. The diagram puts the two HR labs of this module side by side: the REST API lab's connector on top, the MCP lab's server below.</a:t>
            </a:r>
          </a:p>
          <a:p>
            <a:endParaRPr/>
          </a:p>
          <a:p>
            <a:r>
              <a:t>Custom connector: you import an OpenAPI file and map each operation to a tool. The tool list stays fixed until you import the file again and re-add the operation.</a:t>
            </a:r>
          </a:p>
          <a:p>
            <a:endParaRPr/>
          </a:p>
          <a:p>
            <a:r>
              <a:t>MCP server: the agent asks the server which tools exist, and Copilot Studio reflects added, changed and removed tools on its own. On the agent the whole server is one tool, and its settings page lists the server's tools.</a:t>
            </a:r>
          </a:p>
          <a:p>
            <a:endParaRPr/>
          </a:p>
          <a:p>
            <a:r>
              <a:t>Descriptions: in the HR server each tool is a C# method marked [McpServerTool], and its [Description] attributes become what the orchestrator reads. A maker cannot enrich them in Copilot Studio.</a:t>
            </a:r>
          </a:p>
          <a:p>
            <a:endParaRPr/>
          </a:p>
          <a:p>
            <a:r>
              <a:t>Adding a tool: a new method plus a restart, and connected agents discover it the next time they list the tools. Copilot Studio supports the Streamable HTTP transport only, so a server has to sit behind an HTTPS URL.</a:t>
            </a:r>
          </a:p>
          <a:p>
            <a:endParaRPr/>
          </a:p>
          <a:p>
            <a:r>
              <a:t>Orchestration: only the orchestrator decides when to call one of the server's tools, so MCP does not work with classic orchestration. Learn's guidance: use MCP when several agents share a toolset or the upstream API changes often.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8511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1 of the agent's instructions says to retrieve names, roles and availability from the HR system before planning. This is the read test from the live run.</a:t>
            </a:r>
          </a:p>
          <a:p>
            <a:endParaRPr/>
          </a:p>
          <a:p>
            <a:r>
              <a:t>The orchestrator's choice: the wizard's server description, "Knows about employees and how they can be used in our restaurant", is what the orchestrator reads. The activity map shows list_employees or search_employees running on CS-HR MCP Server.</a:t>
            </a:r>
          </a:p>
          <a:p>
            <a:endParaRPr/>
          </a:p>
          <a:p>
            <a:r>
              <a:t>The answer: Sofia Fernandez is a bartender who speaks Portuguese, Spanish and English, and Luca Rossi is head waiter with Italian, English and Spanish. The agent added on its own that their Friday availability still needs checking.</a:t>
            </a:r>
          </a:p>
          <a:p>
            <a:endParaRPr/>
          </a:p>
          <a:p>
            <a:r>
              <a:t>The wizard: it needs no tool list, because the agent discovers the six tools from the server. The HR server answers at the root of its HTTPS address.</a:t>
            </a:r>
          </a:p>
          <a:p>
            <a:endParaRPr/>
          </a:p>
          <a:p>
            <a:r>
              <a:t>The check: when a reply names people the server does not know, the orchestrator answered without calling it and the activity map shows no tool call. The server's search semantics bind the agent too: a deployed search_employees that matched single names only returned nothing for a full name.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639482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read is harmless, a write changes the schedule. The guideline "Always confirm changes before finalizing schedules" in the instructions makes the agent stop before it calls assign_shift.</a:t>
            </a:r>
          </a:p>
          <a:p>
            <a:endParaRPr/>
          </a:p>
          <a:p>
            <a:r>
              <a:t>Two calls after the yes: before the confirmation the activity map shows no assign_shift call. After it, two calls run with the date 2026-11-06 and shiftStartHour 14, and the server answers from 14:00 to 22:00.</a:t>
            </a:r>
          </a:p>
          <a:p>
            <a:endParaRPr/>
          </a:p>
          <a:p>
            <a:r>
              <a:t>Allow all: all server tools are on by default. Turn it off and switch off remove_employee, so a scheduling agent can never delete staff and tools the server adds later stay off until you turn them on.</a:t>
            </a:r>
          </a:p>
          <a:p>
            <a:endParaRPr/>
          </a:p>
          <a:p>
            <a:r>
              <a:t>The schedule by email: CS-Send an email, an Office 365 Outlook tool with Ask the end user before running, sends the schedule the instructions promise. It needs a Message to display, or the call fails with "This tool requires user confirmation, but no confirmation message has been set."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463928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systems have no API and no connector, and people still use them every day by looking at the screen. Computer use gives a Standard agent the same ability through a virtual mouse and keyboard, guided by plain-language instructions.</a:t>
            </a:r>
          </a:p>
          <a:p>
            <a:endParaRPr/>
          </a:p>
          <a:p>
            <a:r>
              <a:t>The loop: the tool takes a screenshot, decides the next action, performs it and repeats until the task is done. Because the model reads the screen, it adapts when a button moves, where a recorded script would break.</a:t>
            </a:r>
          </a:p>
          <a:p>
            <a:endParaRPr/>
          </a:p>
          <a:p>
            <a:r>
              <a:t>Where it runs: every run needs a Windows machine, either the hosted browser (preview), a Cloud PC pool (preview) or your own machine registered in Power Automate. The demo runs on the hosted browser.</a:t>
            </a:r>
          </a:p>
          <a:p>
            <a:endParaRPr/>
          </a:p>
          <a:p>
            <a:r>
              <a:t>Two tools: CS-Look up portfolio takes the client name as an input, and CS-Register inventory items fills five fields twice. The orchestrator keeps lookups and entries apart by reading the two descriptions.</a:t>
            </a:r>
          </a:p>
          <a:p>
            <a:endParaRPr/>
          </a:p>
          <a:p>
            <a:r>
              <a:t>Fenced: Only allow specific websites and desktop apps limits both tools to the sample site plus Microsoft Edge, and Enforce HTTPS is on by default. Use dedicated machines with least privilege, and when the app later gains an API or a connector, replace the tool with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194436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 directly opens a window with the reasoning messages on the left and a live preview of the machine on the right. This is the first lookup from the live run.</a:t>
            </a:r>
          </a:p>
          <a:p>
            <a:endParaRPr/>
          </a:p>
          <a:p>
            <a:r>
              <a:t>Reasoning: each card says what the model sees and what it does next, such as scrolling because Fourth Coffee is not visible yet. Screenshots and reasoning steps stay in the run history on the Activity tab.</a:t>
            </a:r>
          </a:p>
          <a:p>
            <a:endParaRPr/>
          </a:p>
          <a:p>
            <a:r>
              <a:t>The scroll: the instructions name the site by its full URL and state exactly which two values to record. Precise instructions reach the goal in fewer steps, and fewer steps cost less.</a:t>
            </a:r>
          </a:p>
          <a:p>
            <a:endParaRPr/>
          </a:p>
          <a:p>
            <a:r>
              <a:t>The model: Claude Sonnet 4.5, preselected in the class environment, read the name exactly. Computer-Using Agent (CUA) zoomed until the Manager column was cut off and returned "Yhlas Galdiyew".</a:t>
            </a:r>
          </a:p>
          <a:p>
            <a:endParaRPr/>
          </a:p>
          <a:p>
            <a:r>
              <a:t>The cost: each step costs 5 Copilot Credits with a standard model and 15 with a premium one. The map view's Number of actions showed 4 for the chat run, which is 20 credits.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831865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closing slide collects one point per step of the path. Each one came up in a demo of this module.</a:t>
            </a:r>
          </a:p>
          <a:p>
            <a:endParaRPr/>
          </a:p>
          <a:p>
            <a:r>
              <a:t>Tool by job: a prompt gives a fixed instruction and format, a flow runs the same steps every time, a connector or REST API reaches one service. The canteen order ran on a prompt first and on live stock from the API later.</a:t>
            </a:r>
          </a:p>
          <a:p>
            <a:endParaRPr/>
          </a:p>
          <a:p>
            <a:r>
              <a:t>MCP and computer use: an MCP server suits several agents sharing a toolset or an API that changes often. Computer use is the route for systems that leave no other door; when an API exists, use it.</a:t>
            </a:r>
          </a:p>
          <a:p>
            <a:endParaRPr/>
          </a:p>
          <a:p>
            <a:r>
              <a:t>Name and description: they carry most of the weight when the orchestrator chooses, and a description can even set the call order. Rename every tool after Add and configure, because wizard names don't carry over.</a:t>
            </a:r>
          </a:p>
          <a:p>
            <a:endParaRPr/>
          </a:p>
          <a:p>
            <a:r>
              <a:t>Confirmation and credentials: Ask the end user before running guards anything that sends, writes or deletes. End user credentials are the default; maker-provided credentials act with your access for everyone.</a:t>
            </a:r>
          </a:p>
          <a:p>
            <a:endParaRPr/>
          </a:p>
          <a:p>
            <a:r>
              <a:t>Activity map: it shows the tool calls and the inputs the agent prepared. A reply with no tool call in the map came from the model alone.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507839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010365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51055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56077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1066732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4</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Extending Copilot Studio Agents with Tools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From answering questions to calling real systems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310041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Prompt Tool &amp; Code Interpreter</a:t>
            </a:r>
          </a:p>
          <a:p>
            <a:pPr>
              <a:lnSpc>
                <a:spcPct val="95000"/>
              </a:lnSpc>
              <a:spcBef>
                <a:spcPts val="600"/>
              </a:spcBef>
            </a:pPr>
            <a:r>
              <a:rPr sz="1200" b="0">
                <a:solidFill>
                  <a:srgbClr val="595F67"/>
                </a:solidFill>
                <a:latin typeface="Poppins"/>
              </a:rPr>
              <a:t>A fixed instruction for the canteen order</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3741533"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Dataverse: Knowledge &amp; Business Records</a:t>
            </a:r>
          </a:p>
          <a:p>
            <a:pPr>
              <a:lnSpc>
                <a:spcPct val="95000"/>
              </a:lnSpc>
              <a:spcBef>
                <a:spcPts val="600"/>
              </a:spcBef>
            </a:pPr>
            <a:r>
              <a:rPr sz="1200" b="0">
                <a:solidFill>
                  <a:srgbClr val="595F67"/>
                </a:solidFill>
                <a:latin typeface="Poppins"/>
              </a:rPr>
              <a:t>Travel claims saved as table rows</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6440299"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Connector Tools: Prebuilt Connectors</a:t>
            </a:r>
          </a:p>
          <a:p>
            <a:pPr>
              <a:lnSpc>
                <a:spcPct val="95000"/>
              </a:lnSpc>
              <a:spcBef>
                <a:spcPts val="600"/>
              </a:spcBef>
            </a:pPr>
            <a:r>
              <a:rPr sz="1200" b="0">
                <a:solidFill>
                  <a:srgbClr val="595F67"/>
                </a:solidFill>
                <a:latin typeface="Poppins"/>
              </a:rPr>
              <a:t>One Teams action, filled from the chat</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9139065"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 Flows: Deterministic Automation</a:t>
            </a:r>
          </a:p>
          <a:p>
            <a:pPr>
              <a:lnSpc>
                <a:spcPct val="95000"/>
              </a:lnSpc>
              <a:spcBef>
                <a:spcPts val="600"/>
              </a:spcBef>
            </a:pPr>
            <a:r>
              <a:rPr sz="1200" b="0">
                <a:solidFill>
                  <a:srgbClr val="595F67"/>
                </a:solidFill>
                <a:latin typeface="Poppins"/>
              </a:rPr>
              <a:t>Fixed steps with a prompt and a reviewer</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2392150"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Custom Connectors &amp; REST APIs</a:t>
            </a:r>
          </a:p>
          <a:p>
            <a:pPr>
              <a:lnSpc>
                <a:spcPct val="95000"/>
              </a:lnSpc>
              <a:spcBef>
                <a:spcPts val="600"/>
              </a:spcBef>
            </a:pPr>
            <a:r>
              <a:rPr sz="1200" b="0">
                <a:solidFill>
                  <a:srgbClr val="595F67"/>
                </a:solidFill>
                <a:latin typeface="Poppins"/>
              </a:rPr>
              <a:t>Live canteen stock from an OpenAPI file</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5090916"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MCP Servers as Agent Tools</a:t>
            </a:r>
          </a:p>
          <a:p>
            <a:pPr>
              <a:lnSpc>
                <a:spcPct val="95000"/>
              </a:lnSpc>
              <a:spcBef>
                <a:spcPts val="600"/>
              </a:spcBef>
            </a:pPr>
            <a:r>
              <a:rPr sz="1200" b="0">
                <a:solidFill>
                  <a:srgbClr val="595F67"/>
                </a:solidFill>
                <a:latin typeface="Poppins"/>
              </a:rPr>
              <a:t>Staff and shifts discovered at runtime</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d-topics-text"/>
          <p:cNvSpPr txBox="1"/>
          <p:nvPr/>
        </p:nvSpPr>
        <p:spPr>
          <a:xfrm>
            <a:off x="7789682"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Computer Use: Apps Without APIs</a:t>
            </a:r>
          </a:p>
          <a:p>
            <a:pPr>
              <a:lnSpc>
                <a:spcPct val="95000"/>
              </a:lnSpc>
              <a:spcBef>
                <a:spcPts val="600"/>
              </a:spcBef>
            </a:pPr>
            <a:r>
              <a:rPr sz="1200" b="0">
                <a:solidFill>
                  <a:srgbClr val="595F67"/>
                </a:solidFill>
                <a:latin typeface="Poppins"/>
              </a:rPr>
              <a:t>Reading and filling web apps by screen</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t="12267" b="12267"/>
          <a:stretch>
            <a:fillRect/>
          </a:stretch>
        </p:blipFill>
        <p:spPr>
          <a:xfrm>
            <a:off x="6095848" y="0"/>
            <a:ext cx="6095848" cy="6858000"/>
          </a:xfrm>
          <a:prstGeom prst="rect">
            <a:avLst/>
          </a:prstGeom>
        </p:spPr>
      </p:pic>
      <p:sp>
        <p:nvSpPr>
          <p:cNvPr id="4" name="Text 0"/>
          <p:cNvSpPr/>
          <p:nvPr/>
        </p:nvSpPr>
        <p:spPr>
          <a:xfrm>
            <a:off x="609600" y="1526278"/>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Tools in Copilot Studio</a:t>
            </a:r>
            <a:endParaRPr lang="en-US" sz="3700" dirty="0"/>
          </a:p>
        </p:txBody>
      </p:sp>
      <p:sp>
        <p:nvSpPr>
          <p:cNvPr id="5" name="Text 1"/>
          <p:cNvSpPr/>
          <p:nvPr/>
        </p:nvSpPr>
        <p:spPr>
          <a:xfrm>
            <a:off x="609600" y="2169646"/>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From answering questions to calling real systems</a:t>
            </a:r>
            <a:endParaRPr lang="en-US" sz="2200" dirty="0"/>
          </a:p>
        </p:txBody>
      </p:sp>
      <p:sp>
        <p:nvSpPr>
          <p:cNvPr id="6" name="Text 2"/>
          <p:cNvSpPr/>
          <p:nvPr/>
        </p:nvSpPr>
        <p:spPr>
          <a:xfrm>
            <a:off x="609600" y="3025149"/>
            <a:ext cx="4824773" cy="1984474"/>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 grounded agent answers questions; a </a:t>
            </a:r>
            <a:r>
              <a:rPr lang="en-US" sz="1400" b="1" dirty="0">
                <a:solidFill>
                  <a:srgbClr val="1B365D"/>
                </a:solidFill>
                <a:latin typeface="Poppins" pitchFamily="34" charset="0"/>
                <a:ea typeface="Poppins" pitchFamily="34" charset="-122"/>
                <a:cs typeface="Poppins" pitchFamily="34" charset="0"/>
              </a:rPr>
              <a:t>tooled agent acts</a:t>
            </a:r>
            <a:r>
              <a:rPr lang="en-US" sz="1400" dirty="0">
                <a:solidFill>
                  <a:srgbClr val="1B365D"/>
                </a:solidFill>
                <a:latin typeface="Poppins" pitchFamily="34" charset="0"/>
                <a:ea typeface="Poppins" pitchFamily="34" charset="-122"/>
                <a:cs typeface="Poppins" pitchFamily="34" charset="0"/>
              </a:rPr>
              <a:t> on the systems a team already uses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Seven tool types: prompts, Dataverse, connectors, agent flows, REST APIs, MCP servers and </a:t>
            </a:r>
            <a:r>
              <a:rPr lang="en-US" sz="1400" b="1" dirty="0">
                <a:solidFill>
                  <a:srgbClr val="1B365D"/>
                </a:solidFill>
                <a:latin typeface="Poppins" pitchFamily="34" charset="0"/>
                <a:ea typeface="Poppins" pitchFamily="34" charset="-122"/>
                <a:cs typeface="Poppins" pitchFamily="34" charset="0"/>
              </a:rPr>
              <a:t>computer use</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Each demo gives a CS- agent one real job, starting with the </a:t>
            </a:r>
            <a:r>
              <a:rPr lang="en-US" sz="1400" b="1" dirty="0">
                <a:solidFill>
                  <a:srgbClr val="1B365D"/>
                </a:solidFill>
                <a:latin typeface="Poppins" pitchFamily="34" charset="0"/>
                <a:ea typeface="Poppins" pitchFamily="34" charset="-122"/>
                <a:cs typeface="Poppins" pitchFamily="34" charset="0"/>
              </a:rPr>
              <a:t>canteen order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Overview</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Seven tool types, one demo agent each</a:t>
            </a:r>
            <a:endParaRPr lang="en-US" sz="2200" dirty="0"/>
          </a:p>
        </p:txBody>
      </p:sp>
      <p:sp>
        <p:nvSpPr>
          <p:cNvPr id="4" name="Text 2"/>
          <p:cNvSpPr/>
          <p:nvPr/>
        </p:nvSpPr>
        <p:spPr>
          <a:xfrm>
            <a:off x="609600" y="2368978"/>
            <a:ext cx="4575839" cy="2910483"/>
          </a:xfrm>
          <a:prstGeom prst="rect">
            <a:avLst/>
          </a:prstGeom>
          <a:noFill/>
          <a:ln/>
        </p:spPr>
        <p:txBody>
          <a:bodyPr wrap="square" lIns="0" tIns="0" rIns="0" bIns="0" rtlCol="0" anchor="t">
            <a:normAutofit/>
          </a:bodyPr>
          <a:lstStyle/>
          <a:p>
            <a:pPr marL="294640" indent="-294640" algn="l">
              <a:lnSpc>
                <a:spcPct val="125000"/>
              </a:lnSpc>
              <a:spcAft>
                <a:spcPts val="1000"/>
              </a:spcAft>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pitchFamily="34" charset="0"/>
                <a:ea typeface="Poppins" pitchFamily="34" charset="-122"/>
                <a:cs typeface="Poppins" pitchFamily="34" charset="0"/>
              </a:rPr>
              <a:t>prompt</a:t>
            </a:r>
            <a:r>
              <a:rPr lang="en-US" sz="1400" dirty="0">
                <a:solidFill>
                  <a:srgbClr val="1B365D"/>
                </a:solidFill>
                <a:latin typeface="Poppins" pitchFamily="34" charset="0"/>
                <a:ea typeface="Poppins" pitchFamily="34" charset="-122"/>
                <a:cs typeface="Poppins" pitchFamily="34" charset="0"/>
              </a:rPr>
              <a:t> calculates the canteen order, and a Dataverse table keeps every travel claim</a:t>
            </a:r>
            <a:endParaRPr lang="en-US" sz="1450" dirty="0"/>
          </a:p>
          <a:p>
            <a:pPr marL="294640" indent="-294640" algn="l">
              <a:lnSpc>
                <a:spcPct val="125000"/>
              </a:lnSpc>
              <a:spcAft>
                <a:spcPts val="1000"/>
              </a:spcAft>
              <a:buSzPct val="100000"/>
              <a:buChar char="•"/>
            </a:pPr>
            <a:r>
              <a:rPr lang="en-US" sz="1400" dirty="0">
                <a:solidFill>
                  <a:srgbClr val="1B365D"/>
                </a:solidFill>
                <a:latin typeface="Poppins" pitchFamily="34" charset="0"/>
                <a:ea typeface="Poppins" pitchFamily="34" charset="-122"/>
                <a:cs typeface="Poppins" pitchFamily="34" charset="0"/>
              </a:rPr>
              <a:t>One Teams action posts a trip summary, and two </a:t>
            </a:r>
            <a:r>
              <a:rPr lang="en-US" sz="1400" b="1" dirty="0">
                <a:solidFill>
                  <a:srgbClr val="1B365D"/>
                </a:solidFill>
                <a:latin typeface="Poppins" pitchFamily="34" charset="0"/>
                <a:ea typeface="Poppins" pitchFamily="34" charset="-122"/>
                <a:cs typeface="Poppins" pitchFamily="34" charset="0"/>
              </a:rPr>
              <a:t>agent flows</a:t>
            </a:r>
            <a:r>
              <a:rPr lang="en-US" sz="1400" dirty="0">
                <a:solidFill>
                  <a:srgbClr val="1B365D"/>
                </a:solidFill>
                <a:latin typeface="Poppins" pitchFamily="34" charset="0"/>
                <a:ea typeface="Poppins" pitchFamily="34" charset="-122"/>
                <a:cs typeface="Poppins" pitchFamily="34" charset="0"/>
              </a:rPr>
              <a:t> run the Health Advisor's fixed steps</a:t>
            </a:r>
            <a:endParaRPr lang="en-US" sz="1450" dirty="0"/>
          </a:p>
          <a:p>
            <a:pPr marL="294640" indent="-294640" algn="l">
              <a:lnSpc>
                <a:spcPct val="125000"/>
              </a:lnSpc>
              <a:spcAft>
                <a:spcPts val="1000"/>
              </a:spcAft>
              <a:buSzPct val="100000"/>
              <a:buChar char="•"/>
            </a:pPr>
            <a:r>
              <a:rPr lang="en-US" sz="1400" dirty="0">
                <a:solidFill>
                  <a:srgbClr val="1B365D"/>
                </a:solidFill>
                <a:latin typeface="Poppins" pitchFamily="34" charset="0"/>
                <a:ea typeface="Poppins" pitchFamily="34" charset="-122"/>
                <a:cs typeface="Poppins" pitchFamily="34" charset="0"/>
              </a:rPr>
              <a:t>Live canteen stock comes from a </a:t>
            </a:r>
            <a:r>
              <a:rPr lang="en-US" sz="1400" b="1" dirty="0">
                <a:solidFill>
                  <a:srgbClr val="1B365D"/>
                </a:solidFill>
                <a:latin typeface="Poppins" pitchFamily="34" charset="0"/>
                <a:ea typeface="Poppins" pitchFamily="34" charset="-122"/>
                <a:cs typeface="Poppins" pitchFamily="34" charset="0"/>
              </a:rPr>
              <a:t>REST API</a:t>
            </a:r>
            <a:r>
              <a:rPr lang="en-US" sz="1400" dirty="0">
                <a:solidFill>
                  <a:srgbClr val="1B365D"/>
                </a:solidFill>
                <a:latin typeface="Poppins" pitchFamily="34" charset="0"/>
                <a:ea typeface="Poppins" pitchFamily="34" charset="-122"/>
                <a:cs typeface="Poppins" pitchFamily="34" charset="0"/>
              </a:rPr>
              <a:t>, staff and shifts from an MCP server</a:t>
            </a:r>
            <a:endParaRPr lang="en-US" sz="1450" dirty="0"/>
          </a:p>
          <a:p>
            <a:pPr marL="294640" indent="-294640" algn="l">
              <a:lnSpc>
                <a:spcPct val="125000"/>
              </a:lnSpc>
              <a:spcAft>
                <a:spcPts val="1000"/>
              </a:spcAft>
              <a:buSzPct val="100000"/>
              <a:buChar char="•"/>
            </a:pPr>
            <a:r>
              <a:rPr lang="en-US" sz="1400" b="1" dirty="0">
                <a:solidFill>
                  <a:srgbClr val="1B365D"/>
                </a:solidFill>
                <a:latin typeface="Poppins" pitchFamily="34" charset="0"/>
                <a:ea typeface="Poppins" pitchFamily="34" charset="-122"/>
                <a:cs typeface="Poppins" pitchFamily="34" charset="0"/>
              </a:rPr>
              <a:t>Computer use</a:t>
            </a:r>
            <a:r>
              <a:rPr lang="en-US" sz="1400" dirty="0">
                <a:solidFill>
                  <a:srgbClr val="1B365D"/>
                </a:solidFill>
                <a:latin typeface="Poppins" pitchFamily="34" charset="0"/>
                <a:ea typeface="Poppins" pitchFamily="34" charset="-122"/>
                <a:cs typeface="Poppins" pitchFamily="34" charset="0"/>
              </a:rPr>
              <a:t> reads and fills web apps that have no API</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Each tool type has a job it does best, and choosing the right one is the maker skill</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Prompt Tool &amp; Code Interpreter</a:t>
            </a:r>
          </a:p>
          <a:p>
            <a:pPr>
              <a:lnSpc>
                <a:spcPct val="95000"/>
              </a:lnSpc>
              <a:spcBef>
                <a:spcPts val="1400"/>
              </a:spcBef>
            </a:pPr>
            <a:r>
              <a:rPr sz="2000" b="0">
                <a:solidFill>
                  <a:srgbClr val="595F67"/>
                </a:solidFill>
                <a:latin typeface="Poppins"/>
              </a:rPr>
              <a:t>A fixed instruction for the canteen order</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Calculating the canteen order with a prompt</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CS-Food Stock Buddy passes demand and stock as JSON</a:t>
            </a:r>
            <a:endParaRPr lang="en-US" sz="2200" dirty="0"/>
          </a:p>
        </p:txBody>
      </p:sp>
      <p:sp>
        <p:nvSpPr>
          <p:cNvPr id="4" name="Text 2"/>
          <p:cNvSpPr/>
          <p:nvPr/>
        </p:nvSpPr>
        <p:spPr>
          <a:xfrm>
            <a:off x="609600" y="1965821"/>
            <a:ext cx="10920619" cy="601663"/>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topic binds both inputs with </a:t>
            </a:r>
            <a:r>
              <a:rPr lang="en-US" sz="1400" b="1" dirty="0">
                <a:solidFill>
                  <a:srgbClr val="1B365D"/>
                </a:solidFill>
                <a:latin typeface="Poppins" pitchFamily="34" charset="0"/>
                <a:ea typeface="Poppins" pitchFamily="34" charset="-122"/>
                <a:cs typeface="Poppins" pitchFamily="34" charset="0"/>
              </a:rPr>
              <a:t>JSON()</a:t>
            </a:r>
            <a:r>
              <a:rPr lang="en-US" sz="1400" dirty="0">
                <a:solidFill>
                  <a:srgbClr val="1B365D"/>
                </a:solidFill>
                <a:latin typeface="Poppins" pitchFamily="34" charset="0"/>
                <a:ea typeface="Poppins" pitchFamily="34" charset="-122"/>
                <a:cs typeface="Poppins" pitchFamily="34" charset="0"/>
              </a:rPr>
              <a:t> and reads the answer from the output's </a:t>
            </a:r>
            <a:r>
              <a:rPr lang="en-US" sz="1400" dirty="0">
                <a:solidFill>
                  <a:srgbClr val="1B365D"/>
                </a:solidFill>
                <a:highlight>
                  <a:srgbClr val="F2F2F2"/>
                </a:highlight>
                <a:latin typeface="Consolas" pitchFamily="34" charset="0"/>
                <a:ea typeface="Consolas" pitchFamily="34" charset="-122"/>
                <a:cs typeface="Consolas" pitchFamily="34" charset="0"/>
              </a:rPr>
              <a:t>text</a:t>
            </a:r>
            <a:r>
              <a:rPr lang="en-US" sz="1400" dirty="0">
                <a:solidFill>
                  <a:srgbClr val="1B365D"/>
                </a:solidFill>
                <a:latin typeface="Poppins" pitchFamily="34" charset="0"/>
                <a:ea typeface="Poppins" pitchFamily="34" charset="-122"/>
                <a:cs typeface="Poppins" pitchFamily="34" charset="0"/>
              </a:rPr>
              <a:t> field</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kind: InvokeAIBuilderModelAction</a:t>
            </a:r>
            <a:endParaRPr lang="en-US" sz="1450" dirty="0"/>
          </a:p>
        </p:txBody>
      </p:sp>
      <p:sp>
        <p:nvSpPr>
          <p:cNvPr id="5" name="Shape 3"/>
          <p:cNvSpPr/>
          <p:nvPr/>
        </p:nvSpPr>
        <p:spPr>
          <a:xfrm>
            <a:off x="525350" y="2780109"/>
            <a:ext cx="5362738" cy="3416102"/>
          </a:xfrm>
          <a:prstGeom prst="roundRect">
            <a:avLst>
              <a:gd name="adj" fmla="val 830"/>
            </a:avLst>
          </a:prstGeom>
          <a:solidFill>
            <a:srgbClr val="F3F4F6"/>
          </a:solidFill>
          <a:ln/>
        </p:spPr>
        <p:txBody>
          <a:bodyPr/>
          <a:lstStyle/>
          <a:p>
            <a:endParaRPr/>
          </a:p>
        </p:txBody>
      </p:sp>
      <p:sp>
        <p:nvSpPr>
          <p:cNvPr id="6" name="Shape 4"/>
          <p:cNvSpPr/>
          <p:nvPr/>
        </p:nvSpPr>
        <p:spPr>
          <a:xfrm>
            <a:off x="714357" y="3089473"/>
            <a:ext cx="4984725" cy="2797373"/>
          </a:xfrm>
          <a:prstGeom prst="roundRect">
            <a:avLst>
              <a:gd name="adj" fmla="val 1014"/>
            </a:avLst>
          </a:prstGeom>
          <a:solidFill>
            <a:srgbClr val="E6E7E9"/>
          </a:solidFill>
          <a:ln/>
        </p:spPr>
        <p:txBody>
          <a:bodyPr/>
          <a:lstStyle/>
          <a:p>
            <a:endParaRPr/>
          </a:p>
        </p:txBody>
      </p:sp>
      <p:sp>
        <p:nvSpPr>
          <p:cNvPr id="7" name="Text 5"/>
          <p:cNvSpPr/>
          <p:nvPr/>
        </p:nvSpPr>
        <p:spPr>
          <a:xfrm>
            <a:off x="941166" y="3278485"/>
            <a:ext cx="4531108" cy="2419350"/>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kind: InvokeAIBuilderModelAction</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input:</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binding:</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foodDemand: =JSON(Global.orderDemand)</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foodStock: =JSON(Topic.foodStock)</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output:</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binding:</a:t>
            </a:r>
            <a:endParaRPr lang="en-US" sz="1450" dirty="0"/>
          </a:p>
          <a:p>
            <a:pPr marL="0" indent="0" algn="l">
              <a:lnSpc>
                <a:spcPct val="133000"/>
              </a:lnSpc>
              <a:buNone/>
            </a:pPr>
            <a:r>
              <a:rPr lang="en-US" sz="1450" dirty="0">
                <a:solidFill>
                  <a:srgbClr val="735C0F"/>
                </a:solidFill>
                <a:latin typeface="Consolas" pitchFamily="34" charset="0"/>
                <a:ea typeface="Consolas" pitchFamily="34" charset="-122"/>
                <a:cs typeface="Consolas" pitchFamily="34" charset="0"/>
              </a:rPr>
              <a:t>      predictionOutput: Topic.orderQuantityRecord</a:t>
            </a:r>
            <a:endParaRPr lang="en-US" sz="1450" dirty="0"/>
          </a:p>
        </p:txBody>
      </p:sp>
      <p:pic>
        <p:nvPicPr>
          <p:cNvPr id="8" name="Image 0" descr="preencoded.png"/>
          <p:cNvPicPr>
            <a:picLocks noChangeAspect="1"/>
          </p:cNvPicPr>
          <p:nvPr/>
        </p:nvPicPr>
        <p:blipFill>
          <a:blip r:embed="rId3"/>
          <a:stretch>
            <a:fillRect/>
          </a:stretch>
        </p:blipFill>
        <p:spPr>
          <a:xfrm>
            <a:off x="6219471" y="2992735"/>
            <a:ext cx="5317000" cy="299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Writing and testing a prompt</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Instructions, typed inputs and a test before anyone uses it</a:t>
            </a:r>
            <a:endParaRPr lang="en-US" sz="2200" dirty="0"/>
          </a:p>
        </p:txBody>
      </p:sp>
      <p:sp>
        <p:nvSpPr>
          <p:cNvPr id="4" name="Text 2"/>
          <p:cNvSpPr/>
          <p:nvPr/>
        </p:nvSpPr>
        <p:spPr>
          <a:xfrm>
            <a:off x="609601" y="2524258"/>
            <a:ext cx="4462533" cy="2315170"/>
          </a:xfrm>
          <a:prstGeom prst="rect">
            <a:avLst/>
          </a:prstGeom>
          <a:noFill/>
          <a:ln/>
        </p:spPr>
        <p:txBody>
          <a:bodyPr wrap="square" lIns="0" tIns="0" rIns="0" bIns="0" rtlCol="0" anchor="t">
            <a:normAutofit/>
          </a:bodyPr>
          <a:lstStyle/>
          <a:p>
            <a:pPr marL="294640" indent="-294640" algn="l">
              <a:lnSpc>
                <a:spcPct val="125000"/>
              </a:lnSpc>
              <a:spcAft>
                <a:spcPts val="1067"/>
              </a:spcAft>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pitchFamily="34" charset="0"/>
                <a:ea typeface="Poppins" pitchFamily="34" charset="-122"/>
                <a:cs typeface="Poppins" pitchFamily="34" charset="0"/>
              </a:rPr>
              <a:t>instructions</a:t>
            </a:r>
            <a:r>
              <a:rPr lang="en-US" sz="1400" dirty="0">
                <a:solidFill>
                  <a:srgbClr val="1B365D"/>
                </a:solidFill>
                <a:latin typeface="Poppins" pitchFamily="34" charset="0"/>
                <a:ea typeface="Poppins" pitchFamily="34" charset="-122"/>
                <a:cs typeface="Poppins" pitchFamily="34" charset="0"/>
              </a:rPr>
              <a:t> say what the model does and what the answer looks like</a:t>
            </a:r>
            <a:endParaRPr lang="en-US" sz="1450" dirty="0"/>
          </a:p>
          <a:p>
            <a:pPr marL="294640" indent="-294640" algn="l">
              <a:lnSpc>
                <a:spcPct val="125000"/>
              </a:lnSpc>
              <a:spcAft>
                <a:spcPts val="1067"/>
              </a:spcAft>
              <a:buSzPct val="100000"/>
              <a:buChar char="•"/>
            </a:pPr>
            <a:r>
              <a:rPr lang="en-US" sz="1400" dirty="0">
                <a:solidFill>
                  <a:srgbClr val="1B365D"/>
                </a:solidFill>
                <a:latin typeface="Poppins" pitchFamily="34" charset="0"/>
                <a:ea typeface="Poppins" pitchFamily="34" charset="-122"/>
                <a:cs typeface="Poppins" pitchFamily="34" charset="0"/>
              </a:rPr>
              <a:t>Typing </a:t>
            </a:r>
            <a:r>
              <a:rPr lang="en-US" sz="1400" b="1" dirty="0">
                <a:solidFill>
                  <a:srgbClr val="1B365D"/>
                </a:solidFill>
                <a:latin typeface="Poppins" pitchFamily="34" charset="0"/>
                <a:ea typeface="Poppins" pitchFamily="34" charset="-122"/>
                <a:cs typeface="Poppins" pitchFamily="34" charset="0"/>
              </a:rPr>
              <a:t>/</a:t>
            </a:r>
            <a:r>
              <a:rPr lang="en-US" sz="1400" dirty="0">
                <a:solidFill>
                  <a:srgbClr val="1B365D"/>
                </a:solidFill>
                <a:latin typeface="Poppins" pitchFamily="34" charset="0"/>
                <a:ea typeface="Poppins" pitchFamily="34" charset="-122"/>
                <a:cs typeface="Poppins" pitchFamily="34" charset="0"/>
              </a:rPr>
              <a:t> inserts an input; foodDemand and foodStock are Text inputs</a:t>
            </a:r>
            <a:endParaRPr lang="en-US" sz="1450" dirty="0"/>
          </a:p>
          <a:p>
            <a:pPr marL="294640" indent="-294640" algn="l">
              <a:lnSpc>
                <a:spcPct val="125000"/>
              </a:lnSpc>
              <a:spcAft>
                <a:spcPts val="1067"/>
              </a:spcAft>
              <a:buSzPct val="100000"/>
              <a:buChar char="•"/>
            </a:pPr>
            <a:r>
              <a:rPr lang="en-US" sz="1400" b="1" dirty="0">
                <a:solidFill>
                  <a:srgbClr val="1B365D"/>
                </a:solidFill>
                <a:latin typeface="Poppins" pitchFamily="34" charset="0"/>
                <a:ea typeface="Poppins" pitchFamily="34" charset="-122"/>
                <a:cs typeface="Poppins" pitchFamily="34" charset="0"/>
              </a:rPr>
              <a:t>Test</a:t>
            </a:r>
            <a:r>
              <a:rPr lang="en-US" sz="1400" dirty="0">
                <a:solidFill>
                  <a:srgbClr val="1B365D"/>
                </a:solidFill>
                <a:latin typeface="Poppins" pitchFamily="34" charset="0"/>
                <a:ea typeface="Poppins" pitchFamily="34" charset="-122"/>
                <a:cs typeface="Poppins" pitchFamily="34" charset="0"/>
              </a:rPr>
              <a:t> with sample values first, and save only when the output has the right shape</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"Return only a JSON array" and </a:t>
            </a:r>
            <a:r>
              <a:rPr lang="en-US" sz="1400" b="1" dirty="0">
                <a:solidFill>
                  <a:srgbClr val="1B365D"/>
                </a:solidFill>
                <a:latin typeface="Poppins" pitchFamily="34" charset="0"/>
                <a:ea typeface="Poppins" pitchFamily="34" charset="-122"/>
                <a:cs typeface="Poppins" pitchFamily="34" charset="0"/>
              </a:rPr>
              <a:t>temperature 0</a:t>
            </a:r>
            <a:r>
              <a:rPr lang="en-US" sz="1400" dirty="0">
                <a:solidFill>
                  <a:srgbClr val="1B365D"/>
                </a:solidFill>
                <a:latin typeface="Poppins" pitchFamily="34" charset="0"/>
                <a:ea typeface="Poppins" pitchFamily="34" charset="-122"/>
                <a:cs typeface="Poppins" pitchFamily="34" charset="0"/>
              </a:rPr>
              <a:t> keep the output easy to parse</a:t>
            </a:r>
            <a:endParaRPr lang="en-US" sz="1450" dirty="0"/>
          </a:p>
        </p:txBody>
      </p:sp>
      <p:pic>
        <p:nvPicPr>
          <p:cNvPr id="5" name="Image 0" descr="preencoded.png"/>
          <p:cNvPicPr>
            <a:picLocks noChangeAspect="1"/>
          </p:cNvPicPr>
          <p:nvPr/>
        </p:nvPicPr>
        <p:blipFill>
          <a:blip r:embed="rId3"/>
          <a:srcRect/>
          <a:stretch>
            <a:fillRect/>
          </a:stretch>
        </p:blipFill>
        <p:spPr>
          <a:xfrm>
            <a:off x="5376934" y="2530486"/>
            <a:ext cx="6205466" cy="25227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Dataverse: Knowledge &amp; Business Records</a:t>
            </a:r>
          </a:p>
          <a:p>
            <a:pPr>
              <a:lnSpc>
                <a:spcPct val="95000"/>
              </a:lnSpc>
              <a:spcBef>
                <a:spcPts val="1400"/>
              </a:spcBef>
            </a:pPr>
            <a:r>
              <a:rPr sz="2000" b="0">
                <a:solidFill>
                  <a:srgbClr val="595F67"/>
                </a:solidFill>
                <a:latin typeface="Poppins"/>
              </a:rPr>
              <a:t>Travel claims saved as table rows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l="5831" r="5831"/>
          <a:stretch>
            <a:fillRect/>
          </a:stretch>
        </p:blipFill>
        <p:spPr>
          <a:xfrm>
            <a:off x="8127797" y="0"/>
            <a:ext cx="4063799" cy="6858000"/>
          </a:xfrm>
          <a:prstGeom prst="rect">
            <a:avLst/>
          </a:prstGeom>
        </p:spPr>
      </p:pic>
      <p:sp>
        <p:nvSpPr>
          <p:cNvPr id="4" name="Text 0"/>
          <p:cNvSpPr/>
          <p:nvPr/>
        </p:nvSpPr>
        <p:spPr>
          <a:xfrm>
            <a:off x="609601" y="2596594"/>
            <a:ext cx="6856721"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Travel claims as Dataverse rows</a:t>
            </a:r>
            <a:endParaRPr lang="en-US" sz="3700" dirty="0"/>
          </a:p>
        </p:txBody>
      </p:sp>
      <p:sp>
        <p:nvSpPr>
          <p:cNvPr id="5" name="Text 1"/>
          <p:cNvSpPr/>
          <p:nvPr/>
        </p:nvSpPr>
        <p:spPr>
          <a:xfrm>
            <a:off x="609601" y="3239962"/>
            <a:ext cx="6856721"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Business records the agent reads and writes</a:t>
            </a:r>
            <a:endParaRPr lang="en-US" sz="2200" dirty="0"/>
          </a:p>
        </p:txBody>
      </p:sp>
      <p:sp>
        <p:nvSpPr>
          <p:cNvPr id="6" name="Text 2"/>
          <p:cNvSpPr/>
          <p:nvPr/>
        </p:nvSpPr>
        <p:spPr>
          <a:xfrm>
            <a:off x="609601" y="3775377"/>
            <a:ext cx="6856721" cy="992088"/>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B365D"/>
                </a:solidFill>
                <a:latin typeface="Poppins" pitchFamily="34" charset="0"/>
                <a:ea typeface="Poppins" pitchFamily="34" charset="-122"/>
                <a:cs typeface="Poppins" pitchFamily="34" charset="0"/>
              </a:rPr>
              <a:t>A claim that stays in the chat can't be approved, paid or reported on, so </a:t>
            </a:r>
            <a:r>
              <a:rPr lang="en-US" sz="1400" b="1" dirty="0">
                <a:solidFill>
                  <a:srgbClr val="1B365D"/>
                </a:solidFill>
                <a:latin typeface="Poppins" pitchFamily="34" charset="0"/>
                <a:ea typeface="Poppins" pitchFamily="34" charset="-122"/>
                <a:cs typeface="Poppins" pitchFamily="34" charset="0"/>
              </a:rPr>
              <a:t>CS-Travel Expense Refund</a:t>
            </a:r>
            <a:r>
              <a:rPr lang="en-US" sz="1400" dirty="0">
                <a:solidFill>
                  <a:srgbClr val="1B365D"/>
                </a:solidFill>
                <a:latin typeface="Poppins" pitchFamily="34" charset="0"/>
                <a:ea typeface="Poppins" pitchFamily="34" charset="-122"/>
                <a:cs typeface="Poppins" pitchFamily="34" charset="0"/>
              </a:rPr>
              <a:t> writes each one as a row in a Dataverse table</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Saving a claim through an agent flow</a:t>
            </a:r>
            <a:endParaRPr lang="en-US" sz="275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Seven topic variables, seven flow inputs, one new row</a:t>
            </a:r>
            <a:endParaRPr lang="en-US" sz="1650" dirty="0"/>
          </a:p>
        </p:txBody>
      </p:sp>
      <p:pic>
        <p:nvPicPr>
          <p:cNvPr id="4" name="Image 0" descr="preencoded.png"/>
          <p:cNvPicPr>
            <a:picLocks noChangeAspect="1"/>
          </p:cNvPicPr>
          <p:nvPr/>
        </p:nvPicPr>
        <p:blipFill>
          <a:blip r:embed="rId3"/>
          <a:stretch>
            <a:fillRect/>
          </a:stretch>
        </p:blipFill>
        <p:spPr>
          <a:xfrm>
            <a:off x="661475" y="1445022"/>
            <a:ext cx="8151509" cy="4585295"/>
          </a:xfrm>
          <a:prstGeom prst="rect">
            <a:avLst/>
          </a:prstGeom>
        </p:spPr>
      </p:pic>
      <p:sp>
        <p:nvSpPr>
          <p:cNvPr id="5" name="Text 2"/>
          <p:cNvSpPr/>
          <p:nvPr/>
        </p:nvSpPr>
        <p:spPr>
          <a:xfrm>
            <a:off x="609600" y="6157260"/>
            <a:ext cx="11176000"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oppins" pitchFamily="34" charset="0"/>
                <a:ea typeface="Poppins" pitchFamily="34" charset="-122"/>
                <a:cs typeface="Poppins" pitchFamily="34" charset="0"/>
              </a:rPr>
              <a:t>The </a:t>
            </a:r>
            <a:r>
              <a:rPr lang="en-US" sz="1100" b="1" dirty="0">
                <a:solidFill>
                  <a:srgbClr val="1B365D"/>
                </a:solidFill>
                <a:latin typeface="Poppins" pitchFamily="34" charset="0"/>
                <a:ea typeface="Poppins" pitchFamily="34" charset="-122"/>
                <a:cs typeface="Poppins" pitchFamily="34" charset="0"/>
              </a:rPr>
              <a:t>Action</a:t>
            </a:r>
            <a:r>
              <a:rPr lang="en-US" sz="1100" dirty="0">
                <a:solidFill>
                  <a:srgbClr val="1B365D"/>
                </a:solidFill>
                <a:latin typeface="Poppins" pitchFamily="34" charset="0"/>
                <a:ea typeface="Poppins" pitchFamily="34" charset="-122"/>
                <a:cs typeface="Poppins" pitchFamily="34" charset="0"/>
              </a:rPr>
              <a:t> node passes the claim, ISO dates included, to CS-Save Claim to Dataverse, which adds the row and responds to the agent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The saved claim in the test chat</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The confirmation carries the claim ID and ISO dates</a:t>
            </a:r>
            <a:endParaRPr lang="en-US" sz="2200" dirty="0"/>
          </a:p>
        </p:txBody>
      </p:sp>
      <p:sp>
        <p:nvSpPr>
          <p:cNvPr id="4" name="Text 2"/>
          <p:cNvSpPr/>
          <p:nvPr/>
        </p:nvSpPr>
        <p:spPr>
          <a:xfrm>
            <a:off x="609601" y="2680955"/>
            <a:ext cx="4462533"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After </a:t>
            </a:r>
            <a:r>
              <a:rPr lang="en-US" sz="1400" b="1" dirty="0">
                <a:solidFill>
                  <a:srgbClr val="1B365D"/>
                </a:solidFill>
                <a:latin typeface="Poppins" pitchFamily="34" charset="0"/>
                <a:ea typeface="Poppins" pitchFamily="34" charset="-122"/>
                <a:cs typeface="Poppins" pitchFamily="34" charset="0"/>
              </a:rPr>
              <a:t>Submit Claim</a:t>
            </a:r>
            <a:r>
              <a:rPr lang="en-US" sz="1400" dirty="0">
                <a:solidFill>
                  <a:srgbClr val="1B365D"/>
                </a:solidFill>
                <a:latin typeface="Poppins" pitchFamily="34" charset="0"/>
                <a:ea typeface="Poppins" pitchFamily="34" charset="-122"/>
                <a:cs typeface="Poppins" pitchFamily="34" charset="0"/>
              </a:rPr>
              <a:t> the agent confirms the claim with its ID, amount and dates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dates arrive as </a:t>
            </a:r>
            <a:r>
              <a:rPr lang="en-US" sz="1400" b="1" dirty="0">
                <a:solidFill>
                  <a:srgbClr val="1B365D"/>
                </a:solidFill>
                <a:latin typeface="Poppins" pitchFamily="34" charset="0"/>
                <a:ea typeface="Poppins" pitchFamily="34" charset="-122"/>
                <a:cs typeface="Poppins" pitchFamily="34" charset="0"/>
              </a:rPr>
              <a:t>ISO timestamps</a:t>
            </a:r>
            <a:r>
              <a:rPr lang="en-US" sz="1400" dirty="0">
                <a:solidFill>
                  <a:srgbClr val="1B365D"/>
                </a:solidFill>
                <a:latin typeface="Poppins" pitchFamily="34" charset="0"/>
                <a:ea typeface="Poppins" pitchFamily="34" charset="-122"/>
                <a:cs typeface="Poppins" pitchFamily="34" charset="0"/>
              </a:rPr>
              <a:t>, the format the Date and time columns accept</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proof is the </a:t>
            </a:r>
            <a:r>
              <a:rPr lang="en-US" sz="1400" b="1" dirty="0">
                <a:solidFill>
                  <a:srgbClr val="1B365D"/>
                </a:solidFill>
                <a:latin typeface="Poppins" pitchFamily="34" charset="0"/>
                <a:ea typeface="Poppins" pitchFamily="34" charset="-122"/>
                <a:cs typeface="Poppins" pitchFamily="34" charset="0"/>
              </a:rPr>
              <a:t>row in Power Apps</a:t>
            </a:r>
            <a:r>
              <a:rPr lang="en-US" sz="1400" dirty="0">
                <a:solidFill>
                  <a:srgbClr val="1B365D"/>
                </a:solidFill>
                <a:latin typeface="Poppins" pitchFamily="34" charset="0"/>
                <a:ea typeface="Poppins" pitchFamily="34" charset="-122"/>
                <a:cs typeface="Poppins" pitchFamily="34" charset="0"/>
              </a:rPr>
              <a:t>, matched against what you typed</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Writes can also run through a </a:t>
            </a:r>
            <a:r>
              <a:rPr lang="en-US" sz="1400" b="1" dirty="0">
                <a:solidFill>
                  <a:srgbClr val="1B365D"/>
                </a:solidFill>
                <a:latin typeface="Poppins" pitchFamily="34" charset="0"/>
                <a:ea typeface="Poppins" pitchFamily="34" charset="-122"/>
                <a:cs typeface="Poppins" pitchFamily="34" charset="0"/>
              </a:rPr>
              <a:t>Dataverse connector tool</a:t>
            </a:r>
            <a:r>
              <a:rPr lang="en-US" sz="1400" dirty="0">
                <a:solidFill>
                  <a:srgbClr val="1B365D"/>
                </a:solidFill>
                <a:latin typeface="Poppins" pitchFamily="34" charset="0"/>
                <a:ea typeface="Poppins" pitchFamily="34" charset="-122"/>
                <a:cs typeface="Poppins" pitchFamily="34" charset="0"/>
              </a:rPr>
              <a:t> that asks before running</a:t>
            </a:r>
            <a:endParaRPr lang="en-US" sz="1450" dirty="0"/>
          </a:p>
        </p:txBody>
      </p:sp>
      <p:pic>
        <p:nvPicPr>
          <p:cNvPr id="5" name="Image 0" descr="preencoded.png"/>
          <p:cNvPicPr>
            <a:picLocks noChangeAspect="1"/>
          </p:cNvPicPr>
          <p:nvPr/>
        </p:nvPicPr>
        <p:blipFill>
          <a:blip r:embed="rId3"/>
          <a:stretch>
            <a:fillRect/>
          </a:stretch>
        </p:blipFill>
        <p:spPr>
          <a:xfrm>
            <a:off x="5376934" y="1973247"/>
            <a:ext cx="6205466" cy="42172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Connector Tools: Prebuilt Connectors</a:t>
            </a:r>
          </a:p>
          <a:p>
            <a:pPr>
              <a:lnSpc>
                <a:spcPct val="95000"/>
              </a:lnSpc>
              <a:spcBef>
                <a:spcPts val="1400"/>
              </a:spcBef>
            </a:pPr>
            <a:r>
              <a:rPr sz="2000" b="0">
                <a:solidFill>
                  <a:srgbClr val="595F67"/>
                </a:solidFill>
                <a:latin typeface="Poppins"/>
              </a:rPr>
              <a:t>One Teams action, filled from the chat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4960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Posting a trip summary to Teams</a:t>
            </a:r>
            <a:endParaRPr lang="en-US" sz="2700" dirty="0"/>
          </a:p>
        </p:txBody>
      </p:sp>
      <p:sp>
        <p:nvSpPr>
          <p:cNvPr id="3" name="Text 1"/>
          <p:cNvSpPr/>
          <p:nvPr/>
        </p:nvSpPr>
        <p:spPr>
          <a:xfrm>
            <a:off x="609600" y="1100568"/>
            <a:ext cx="94960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One Microsoft Teams action as a tool of CS-Travel Agent</a:t>
            </a:r>
            <a:endParaRPr lang="en-US" sz="1600" dirty="0"/>
          </a:p>
        </p:txBody>
      </p:sp>
      <p:pic>
        <p:nvPicPr>
          <p:cNvPr id="4" name="Image 0" descr="preencoded.png"/>
          <p:cNvPicPr>
            <a:picLocks noChangeAspect="1"/>
          </p:cNvPicPr>
          <p:nvPr/>
        </p:nvPicPr>
        <p:blipFill>
          <a:blip r:embed="rId3"/>
          <a:stretch>
            <a:fillRect/>
          </a:stretch>
        </p:blipFill>
        <p:spPr>
          <a:xfrm>
            <a:off x="2085923" y="1380827"/>
            <a:ext cx="8019750" cy="4511179"/>
          </a:xfrm>
          <a:prstGeom prst="rect">
            <a:avLst/>
          </a:prstGeom>
        </p:spPr>
      </p:pic>
      <p:sp>
        <p:nvSpPr>
          <p:cNvPr id="5" name="Text 2"/>
          <p:cNvSpPr/>
          <p:nvPr/>
        </p:nvSpPr>
        <p:spPr>
          <a:xfrm>
            <a:off x="609600" y="6049253"/>
            <a:ext cx="9496073" cy="390525"/>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1B365D"/>
                </a:solidFill>
                <a:latin typeface="Poppins" pitchFamily="34" charset="0"/>
                <a:ea typeface="Poppins" pitchFamily="34" charset="-122"/>
                <a:cs typeface="Poppins" pitchFamily="34" charset="0"/>
              </a:rPr>
              <a:t>Book Trip collects Vienna, May 12 and 2 people, then </a:t>
            </a:r>
            <a:r>
              <a:rPr lang="en-US" sz="1050" b="1" dirty="0">
                <a:solidFill>
                  <a:srgbClr val="1B365D"/>
                </a:solidFill>
                <a:latin typeface="Poppins" pitchFamily="34" charset="0"/>
                <a:ea typeface="Poppins" pitchFamily="34" charset="-122"/>
                <a:cs typeface="Poppins" pitchFamily="34" charset="0"/>
              </a:rPr>
              <a:t>CS-Post message in a chat or channel</a:t>
            </a:r>
            <a:r>
              <a:rPr lang="en-US" sz="1050" dirty="0">
                <a:solidFill>
                  <a:srgbClr val="1B365D"/>
                </a:solidFill>
                <a:latin typeface="Poppins" pitchFamily="34" charset="0"/>
                <a:ea typeface="Poppins" pitchFamily="34" charset="-122"/>
                <a:cs typeface="Poppins" pitchFamily="34" charset="0"/>
              </a:rPr>
              <a:t> posts the summary to the General channel</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How the agent fills tool inputs</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Dynamically fill with AI or a custom value, per input</a:t>
            </a:r>
            <a:endParaRPr lang="en-US" sz="2950" dirty="0"/>
          </a:p>
        </p:txBody>
      </p:sp>
      <p:sp>
        <p:nvSpPr>
          <p:cNvPr id="4" name="Text 2"/>
          <p:cNvSpPr/>
          <p:nvPr/>
        </p:nvSpPr>
        <p:spPr>
          <a:xfrm>
            <a:off x="609600" y="2452354"/>
            <a:ext cx="4122619" cy="2850753"/>
          </a:xfrm>
          <a:prstGeom prst="rect">
            <a:avLst/>
          </a:prstGeom>
          <a:noFill/>
          <a:ln/>
        </p:spPr>
        <p:txBody>
          <a:bodyPr wrap="square" lIns="0" tIns="0" rIns="0" bIns="0" rtlCol="0" anchor="t">
            <a:normAutofit/>
          </a:bodyPr>
          <a:lstStyle/>
          <a:p>
            <a:pPr marL="294640" indent="-294640" algn="l">
              <a:lnSpc>
                <a:spcPct val="125000"/>
              </a:lnSpc>
              <a:spcAft>
                <a:spcPts val="1636"/>
              </a:spcAft>
              <a:buSzPct val="100000"/>
              <a:buChar char="•"/>
            </a:pPr>
            <a:r>
              <a:rPr lang="en-US" sz="1400" b="1" dirty="0">
                <a:solidFill>
                  <a:srgbClr val="1B365D"/>
                </a:solidFill>
                <a:latin typeface="Poppins" pitchFamily="34" charset="0"/>
                <a:ea typeface="Poppins" pitchFamily="34" charset="-122"/>
                <a:cs typeface="Poppins" pitchFamily="34" charset="0"/>
              </a:rPr>
              <a:t>Dynamically fill with AI</a:t>
            </a:r>
            <a:r>
              <a:rPr lang="en-US" sz="1400" dirty="0">
                <a:solidFill>
                  <a:srgbClr val="1B365D"/>
                </a:solidFill>
                <a:latin typeface="Poppins" pitchFamily="34" charset="0"/>
                <a:ea typeface="Poppins" pitchFamily="34" charset="-122"/>
                <a:cs typeface="Poppins" pitchFamily="34" charset="0"/>
              </a:rPr>
              <a:t> (the default) takes the value from the conversation or asks for it</a:t>
            </a:r>
            <a:endParaRPr lang="en-US" sz="1450" dirty="0"/>
          </a:p>
          <a:p>
            <a:pPr marL="294640" indent="-294640" algn="l">
              <a:lnSpc>
                <a:spcPct val="125000"/>
              </a:lnSpc>
              <a:spcAft>
                <a:spcPts val="1636"/>
              </a:spcAft>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pitchFamily="34" charset="0"/>
                <a:ea typeface="Poppins" pitchFamily="34" charset="-122"/>
                <a:cs typeface="Poppins" pitchFamily="34" charset="0"/>
              </a:rPr>
              <a:t>custom value</a:t>
            </a:r>
            <a:r>
              <a:rPr lang="en-US" sz="1400" dirty="0">
                <a:solidFill>
                  <a:srgbClr val="1B365D"/>
                </a:solidFill>
                <a:latin typeface="Poppins" pitchFamily="34" charset="0"/>
                <a:ea typeface="Poppins" pitchFamily="34" charset="-122"/>
                <a:cs typeface="Poppins" pitchFamily="34" charset="0"/>
              </a:rPr>
              <a:t> is fixed: a value, a variable or a formula such as </a:t>
            </a:r>
            <a:r>
              <a:rPr lang="en-US" sz="1400" dirty="0">
                <a:solidFill>
                  <a:srgbClr val="1B365D"/>
                </a:solidFill>
                <a:highlight>
                  <a:srgbClr val="F2F2F2"/>
                </a:highlight>
                <a:latin typeface="Consolas" pitchFamily="34" charset="0"/>
                <a:ea typeface="Consolas" pitchFamily="34" charset="-122"/>
                <a:cs typeface="Consolas" pitchFamily="34" charset="0"/>
              </a:rPr>
              <a:t>System.User.Email</a:t>
            </a:r>
            <a:endParaRPr lang="en-US" sz="1450" dirty="0"/>
          </a:p>
          <a:p>
            <a:pPr marL="294640" indent="-294640" algn="l">
              <a:lnSpc>
                <a:spcPct val="125000"/>
              </a:lnSpc>
              <a:spcAft>
                <a:spcPts val="1636"/>
              </a:spcAft>
              <a:buSzPct val="100000"/>
              <a:buChar char="•"/>
            </a:pPr>
            <a:r>
              <a:rPr lang="en-US" sz="1400" dirty="0">
                <a:solidFill>
                  <a:srgbClr val="1B365D"/>
                </a:solidFill>
                <a:latin typeface="Poppins" pitchFamily="34" charset="0"/>
                <a:ea typeface="Poppins" pitchFamily="34" charset="-122"/>
                <a:cs typeface="Poppins" pitchFamily="34" charset="0"/>
              </a:rPr>
              <a:t>The Teams tool keeps Post as, Post in and Post message request on dynamic filling</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The orchestrator chooses the tool by its </a:t>
            </a:r>
            <a:r>
              <a:rPr lang="en-US" sz="1400" b="1" dirty="0">
                <a:solidFill>
                  <a:srgbClr val="1B365D"/>
                </a:solidFill>
                <a:latin typeface="Poppins" pitchFamily="34" charset="0"/>
                <a:ea typeface="Poppins" pitchFamily="34" charset="-122"/>
                <a:cs typeface="Poppins" pitchFamily="34" charset="0"/>
              </a:rPr>
              <a:t>name and description</a:t>
            </a:r>
            <a:r>
              <a:rPr lang="en-US" sz="1400" dirty="0">
                <a:solidFill>
                  <a:srgbClr val="1B365D"/>
                </a:solidFill>
                <a:latin typeface="Poppins" pitchFamily="34" charset="0"/>
                <a:ea typeface="Poppins" pitchFamily="34" charset="-122"/>
                <a:cs typeface="Poppins" pitchFamily="34" charset="0"/>
              </a:rPr>
              <a:t>, so rename it after Add and configure</a:t>
            </a:r>
            <a:endParaRPr lang="en-US" sz="1450" dirty="0"/>
          </a:p>
        </p:txBody>
      </p:sp>
      <p:pic>
        <p:nvPicPr>
          <p:cNvPr id="5" name="Image 0" descr="preencoded.png"/>
          <p:cNvPicPr>
            <a:picLocks noChangeAspect="1"/>
          </p:cNvPicPr>
          <p:nvPr/>
        </p:nvPicPr>
        <p:blipFill>
          <a:blip r:embed="rId3"/>
          <a:stretch>
            <a:fillRect/>
          </a:stretch>
        </p:blipFill>
        <p:spPr>
          <a:xfrm>
            <a:off x="5037019" y="2445505"/>
            <a:ext cx="6545381" cy="3272772"/>
          </a:xfrm>
          <a:prstGeom prst="rect">
            <a:avLst/>
          </a:prstGeom>
        </p:spPr>
      </p:pic>
    </p:spTree>
    <p:extLst>
      <p:ext uri="{BB962C8B-B14F-4D97-AF65-F5344CB8AC3E}">
        <p14:creationId xmlns:p14="http://schemas.microsoft.com/office/powerpoint/2010/main" val="36612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Whose credentials a tool uses</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End user credentials ask each person to connect once</a:t>
            </a:r>
            <a:endParaRPr lang="en-US" sz="2950" dirty="0"/>
          </a:p>
        </p:txBody>
      </p:sp>
      <p:sp>
        <p:nvSpPr>
          <p:cNvPr id="4" name="Text 2"/>
          <p:cNvSpPr/>
          <p:nvPr/>
        </p:nvSpPr>
        <p:spPr>
          <a:xfrm>
            <a:off x="609600" y="2280904"/>
            <a:ext cx="4122619" cy="310902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pitchFamily="34" charset="0"/>
                <a:ea typeface="Poppins" pitchFamily="34" charset="-122"/>
                <a:cs typeface="Poppins" pitchFamily="34" charset="0"/>
              </a:rPr>
              <a:t>End user credentials</a:t>
            </a:r>
            <a:r>
              <a:rPr lang="en-US" sz="1400" dirty="0">
                <a:solidFill>
                  <a:srgbClr val="1B365D"/>
                </a:solidFill>
                <a:latin typeface="Poppins" pitchFamily="34" charset="0"/>
                <a:ea typeface="Poppins" pitchFamily="34" charset="-122"/>
                <a:cs typeface="Poppins" pitchFamily="34" charset="0"/>
              </a:rPr>
              <a:t> (the default): each person connects on first use and acts with their own access</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pitchFamily="34" charset="0"/>
                <a:ea typeface="Poppins" pitchFamily="34" charset="-122"/>
                <a:cs typeface="Poppins" pitchFamily="34" charset="0"/>
              </a:rPr>
              <a:t>Maker-provided credentials</a:t>
            </a:r>
            <a:r>
              <a:rPr lang="en-US" sz="1400" dirty="0">
                <a:solidFill>
                  <a:srgbClr val="1B365D"/>
                </a:solidFill>
                <a:latin typeface="Poppins" pitchFamily="34" charset="0"/>
                <a:ea typeface="Poppins" pitchFamily="34" charset="-122"/>
                <a:cs typeface="Poppins" pitchFamily="34" charset="0"/>
              </a:rPr>
              <a:t> run every call with the author's access</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Maker-provided credentials need an </a:t>
            </a:r>
            <a:r>
              <a:rPr lang="en-US" sz="1400" b="1" dirty="0">
                <a:solidFill>
                  <a:srgbClr val="1B365D"/>
                </a:solidFill>
                <a:latin typeface="Poppins" pitchFamily="34" charset="0"/>
                <a:ea typeface="Poppins" pitchFamily="34" charset="-122"/>
                <a:cs typeface="Poppins" pitchFamily="34" charset="0"/>
              </a:rPr>
              <a:t>authenticated channel</a:t>
            </a:r>
            <a:r>
              <a:rPr lang="en-US" sz="1400" dirty="0">
                <a:solidFill>
                  <a:srgbClr val="1B365D"/>
                </a:solidFill>
                <a:latin typeface="Poppins" pitchFamily="34" charset="0"/>
                <a:ea typeface="Poppins" pitchFamily="34" charset="-122"/>
                <a:cs typeface="Poppins" pitchFamily="34" charset="0"/>
              </a:rPr>
              <a:t>, and admins can turn them off</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The Publish dialog then warns: "Your agent runs tools that use the author's credentials."</a:t>
            </a:r>
            <a:endParaRPr lang="en-US" sz="1450" dirty="0"/>
          </a:p>
        </p:txBody>
      </p:sp>
      <p:pic>
        <p:nvPicPr>
          <p:cNvPr id="5" name="Image 0" descr="preencoded.png"/>
          <p:cNvPicPr>
            <a:picLocks noChangeAspect="1"/>
          </p:cNvPicPr>
          <p:nvPr/>
        </p:nvPicPr>
        <p:blipFill>
          <a:blip r:embed="rId3"/>
          <a:stretch>
            <a:fillRect/>
          </a:stretch>
        </p:blipFill>
        <p:spPr>
          <a:xfrm>
            <a:off x="5037019" y="1627312"/>
            <a:ext cx="6545381" cy="4909158"/>
          </a:xfrm>
          <a:prstGeom prst="rect">
            <a:avLst/>
          </a:prstGeom>
        </p:spPr>
      </p:pic>
    </p:spTree>
    <p:extLst>
      <p:ext uri="{BB962C8B-B14F-4D97-AF65-F5344CB8AC3E}">
        <p14:creationId xmlns:p14="http://schemas.microsoft.com/office/powerpoint/2010/main" val="441886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Agent Flows: Deterministic Automation</a:t>
            </a:r>
          </a:p>
          <a:p>
            <a:pPr>
              <a:lnSpc>
                <a:spcPct val="95000"/>
              </a:lnSpc>
              <a:spcBef>
                <a:spcPts val="1400"/>
              </a:spcBef>
            </a:pPr>
            <a:r>
              <a:rPr sz="2000" b="0">
                <a:solidFill>
                  <a:srgbClr val="595F67"/>
                </a:solidFill>
                <a:latin typeface="Poppins"/>
              </a:rPr>
              <a:t>Fixed steps with a prompt and a reviewer</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9446961"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The Health Advisor's two agent flows</a:t>
            </a:r>
            <a:endParaRPr lang="en-US" sz="2700" dirty="0"/>
          </a:p>
        </p:txBody>
      </p:sp>
      <p:sp>
        <p:nvSpPr>
          <p:cNvPr id="3" name="Text 1"/>
          <p:cNvSpPr/>
          <p:nvPr/>
        </p:nvSpPr>
        <p:spPr>
          <a:xfrm>
            <a:off x="609600" y="1100568"/>
            <a:ext cx="9446961"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A prompt step classifies, a review step guards the post</a:t>
            </a:r>
            <a:endParaRPr lang="en-US" sz="2150" dirty="0"/>
          </a:p>
        </p:txBody>
      </p:sp>
      <p:pic>
        <p:nvPicPr>
          <p:cNvPr id="4" name="Image 0" descr="preencoded.png"/>
          <p:cNvPicPr>
            <a:picLocks noChangeAspect="1"/>
          </p:cNvPicPr>
          <p:nvPr/>
        </p:nvPicPr>
        <p:blipFill>
          <a:blip r:embed="rId3"/>
          <a:stretch>
            <a:fillRect/>
          </a:stretch>
        </p:blipFill>
        <p:spPr>
          <a:xfrm>
            <a:off x="2135035" y="1448891"/>
            <a:ext cx="7921526" cy="4455914"/>
          </a:xfrm>
          <a:prstGeom prst="rect">
            <a:avLst/>
          </a:prstGeom>
        </p:spPr>
      </p:pic>
      <p:sp>
        <p:nvSpPr>
          <p:cNvPr id="5" name="Text 2"/>
          <p:cNvSpPr/>
          <p:nvPr/>
        </p:nvSpPr>
        <p:spPr>
          <a:xfrm>
            <a:off x="609600" y="6060162"/>
            <a:ext cx="9446961" cy="385763"/>
          </a:xfrm>
          <a:prstGeom prst="rect">
            <a:avLst/>
          </a:prstGeom>
          <a:noFill/>
          <a:ln/>
        </p:spPr>
        <p:txBody>
          <a:bodyPr wrap="square" lIns="0" tIns="0" rIns="0" bIns="0" rtlCol="0" anchor="t">
            <a:normAutofit/>
          </a:bodyPr>
          <a:lstStyle/>
          <a:p>
            <a:pPr marL="213360" indent="-213360" algn="l">
              <a:lnSpc>
                <a:spcPct val="117000"/>
              </a:lnSpc>
              <a:buSzPct val="100000"/>
              <a:buChar char="•"/>
            </a:pPr>
            <a:r>
              <a:rPr lang="en-US" sz="1050" b="1" dirty="0">
                <a:solidFill>
                  <a:srgbClr val="1B365D"/>
                </a:solidFill>
                <a:latin typeface="Poppins" pitchFamily="34" charset="0"/>
                <a:ea typeface="Poppins" pitchFamily="34" charset="-122"/>
                <a:cs typeface="Poppins" pitchFamily="34" charset="0"/>
              </a:rPr>
              <a:t>Check Symptoms</a:t>
            </a:r>
            <a:r>
              <a:rPr lang="en-US" sz="1050" dirty="0">
                <a:solidFill>
                  <a:srgbClr val="1B365D"/>
                </a:solidFill>
                <a:latin typeface="Poppins" pitchFamily="34" charset="0"/>
                <a:ea typeface="Poppins" pitchFamily="34" charset="-122"/>
                <a:cs typeface="Poppins" pitchFamily="34" charset="0"/>
              </a:rPr>
              <a:t> branches on the Outcome of CS-Summarize Patient Symptoms, and </a:t>
            </a:r>
            <a:r>
              <a:rPr lang="en-US" sz="1050" b="1" dirty="0">
                <a:solidFill>
                  <a:srgbClr val="1B365D"/>
                </a:solidFill>
                <a:latin typeface="Poppins" pitchFamily="34" charset="0"/>
                <a:ea typeface="Poppins" pitchFamily="34" charset="-122"/>
                <a:cs typeface="Poppins" pitchFamily="34" charset="0"/>
              </a:rPr>
              <a:t>CS-Post to teams</a:t>
            </a:r>
            <a:r>
              <a:rPr lang="en-US" sz="1050" dirty="0">
                <a:solidFill>
                  <a:srgbClr val="1B365D"/>
                </a:solidFill>
                <a:latin typeface="Poppins" pitchFamily="34" charset="0"/>
                <a:ea typeface="Poppins" pitchFamily="34" charset="-122"/>
                <a:cs typeface="Poppins" pitchFamily="34" charset="0"/>
              </a:rPr>
              <a:t> answers the agent at once, then waits for a reviewer</a:t>
            </a:r>
            <a:endParaRPr lang="en-US" sz="1050" dirty="0"/>
          </a:p>
        </p:txBody>
      </p:sp>
    </p:spTree>
    <p:extLst>
      <p:ext uri="{BB962C8B-B14F-4D97-AF65-F5344CB8AC3E}">
        <p14:creationId xmlns:p14="http://schemas.microsoft.com/office/powerpoint/2010/main" val="3870031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 prompt step inside an agent flow</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CS-Classify Patient Symptoms classifies, the topic branches</a:t>
            </a:r>
            <a:endParaRPr lang="en-US" sz="2950" dirty="0"/>
          </a:p>
        </p:txBody>
      </p:sp>
      <p:sp>
        <p:nvSpPr>
          <p:cNvPr id="4" name="Text 2"/>
          <p:cNvSpPr/>
          <p:nvPr/>
        </p:nvSpPr>
        <p:spPr>
          <a:xfrm>
            <a:off x="609600" y="2605764"/>
            <a:ext cx="4122619" cy="2579787"/>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pitchFamily="34" charset="0"/>
                <a:ea typeface="Poppins" pitchFamily="34" charset="-122"/>
                <a:cs typeface="Poppins" pitchFamily="34" charset="0"/>
              </a:rPr>
              <a:t>Run a prompt</a:t>
            </a:r>
            <a:r>
              <a:rPr lang="en-US" sz="1400" dirty="0">
                <a:solidFill>
                  <a:srgbClr val="1B365D"/>
                </a:solidFill>
                <a:latin typeface="Poppins" pitchFamily="34" charset="0"/>
                <a:ea typeface="Poppins" pitchFamily="34" charset="-122"/>
                <a:cs typeface="Poppins" pitchFamily="34" charset="0"/>
              </a:rPr>
              <a:t> makes one model call at a fixed point in the flow</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prompt reads only its </a:t>
            </a:r>
            <a:r>
              <a:rPr lang="en-US" sz="1400" b="1" dirty="0">
                <a:solidFill>
                  <a:srgbClr val="1B365D"/>
                </a:solidFill>
                <a:latin typeface="Poppins" pitchFamily="34" charset="0"/>
                <a:ea typeface="Poppins" pitchFamily="34" charset="-122"/>
                <a:cs typeface="Poppins" pitchFamily="34" charset="0"/>
              </a:rPr>
              <a:t>instructions</a:t>
            </a:r>
            <a:r>
              <a:rPr lang="en-US" sz="1400" dirty="0">
                <a:solidFill>
                  <a:srgbClr val="1B365D"/>
                </a:solidFill>
                <a:latin typeface="Poppins" pitchFamily="34" charset="0"/>
                <a:ea typeface="Poppins" pitchFamily="34" charset="-122"/>
                <a:cs typeface="Poppins" pitchFamily="34" charset="0"/>
              </a:rPr>
              <a:t> and the age, gender and symptoms it is given</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With 34, female and mild symptoms, the answer ends "Patient is cleared for light work and movement."</a:t>
            </a:r>
            <a:endParaRPr lang="en-US" sz="1450" dirty="0"/>
          </a:p>
          <a:p>
            <a:pPr marL="294640" indent="-294640" algn="l">
              <a:lnSpc>
                <a:spcPct val="125000"/>
              </a:lnSpc>
              <a:buSzPct val="100000"/>
              <a:buChar char="•"/>
            </a:pPr>
            <a:r>
              <a:rPr lang="en-US" sz="1400" b="1" dirty="0">
                <a:solidFill>
                  <a:srgbClr val="1B365D"/>
                </a:solidFill>
                <a:latin typeface="Poppins" pitchFamily="34" charset="0"/>
                <a:ea typeface="Poppins" pitchFamily="34" charset="-122"/>
                <a:cs typeface="Poppins" pitchFamily="34" charset="0"/>
              </a:rPr>
              <a:t>Respond to the agent</a:t>
            </a:r>
            <a:r>
              <a:rPr lang="en-US" sz="1400" dirty="0">
                <a:solidFill>
                  <a:srgbClr val="1B365D"/>
                </a:solidFill>
                <a:latin typeface="Poppins" pitchFamily="34" charset="0"/>
                <a:ea typeface="Poppins" pitchFamily="34" charset="-122"/>
                <a:cs typeface="Poppins" pitchFamily="34" charset="0"/>
              </a:rPr>
              <a:t> returns that text as Outcome, and the topic branches on it</a:t>
            </a:r>
            <a:endParaRPr lang="en-US" sz="1450" dirty="0"/>
          </a:p>
        </p:txBody>
      </p:sp>
      <p:pic>
        <p:nvPicPr>
          <p:cNvPr id="5" name="Image 0" descr="preencoded.png"/>
          <p:cNvPicPr>
            <a:picLocks noChangeAspect="1"/>
          </p:cNvPicPr>
          <p:nvPr/>
        </p:nvPicPr>
        <p:blipFill>
          <a:blip r:embed="rId3"/>
          <a:stretch>
            <a:fillRect/>
          </a:stretch>
        </p:blipFill>
        <p:spPr>
          <a:xfrm>
            <a:off x="5199726" y="2357834"/>
            <a:ext cx="6336745" cy="3564434"/>
          </a:xfrm>
          <a:prstGeom prst="rect">
            <a:avLst/>
          </a:prstGeom>
        </p:spPr>
      </p:pic>
    </p:spTree>
    <p:extLst>
      <p:ext uri="{BB962C8B-B14F-4D97-AF65-F5344CB8AC3E}">
        <p14:creationId xmlns:p14="http://schemas.microsoft.com/office/powerpoint/2010/main" val="1989528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t="12267" b="12267"/>
          <a:stretch>
            <a:fillRect/>
          </a:stretch>
        </p:blipFill>
        <p:spPr>
          <a:xfrm>
            <a:off x="6095848" y="0"/>
            <a:ext cx="6095848" cy="6858000"/>
          </a:xfrm>
          <a:prstGeom prst="rect">
            <a:avLst/>
          </a:prstGeom>
        </p:spPr>
      </p:pic>
      <p:sp>
        <p:nvSpPr>
          <p:cNvPr id="4" name="Text 0"/>
          <p:cNvSpPr/>
          <p:nvPr/>
        </p:nvSpPr>
        <p:spPr>
          <a:xfrm>
            <a:off x="609600" y="1022564"/>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 reviewer before the Teams post</a:t>
            </a:r>
            <a:endParaRPr lang="en-US" sz="3700" dirty="0"/>
          </a:p>
        </p:txBody>
      </p:sp>
      <p:sp>
        <p:nvSpPr>
          <p:cNvPr id="5" name="Text 1"/>
          <p:cNvSpPr/>
          <p:nvPr/>
        </p:nvSpPr>
        <p:spPr>
          <a:xfrm>
            <a:off x="609600" y="2178059"/>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The agent gets its answer first, the post waits for a person</a:t>
            </a:r>
            <a:endParaRPr lang="en-US" sz="2950" dirty="0"/>
          </a:p>
        </p:txBody>
      </p:sp>
      <p:sp>
        <p:nvSpPr>
          <p:cNvPr id="6" name="Text 2"/>
          <p:cNvSpPr/>
          <p:nvPr/>
        </p:nvSpPr>
        <p:spPr>
          <a:xfrm>
            <a:off x="609600" y="3033562"/>
            <a:ext cx="4824773"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b="1" dirty="0">
                <a:solidFill>
                  <a:srgbClr val="1B365D"/>
                </a:solidFill>
                <a:latin typeface="Poppins" pitchFamily="34" charset="0"/>
                <a:ea typeface="Poppins" pitchFamily="34" charset="-122"/>
                <a:cs typeface="Poppins" pitchFamily="34" charset="0"/>
              </a:rPr>
              <a:t>Respond to the agent</a:t>
            </a:r>
            <a:r>
              <a:rPr lang="en-US" sz="1400" dirty="0">
                <a:solidFill>
                  <a:srgbClr val="1B365D"/>
                </a:solidFill>
                <a:latin typeface="Poppins" pitchFamily="34" charset="0"/>
                <a:ea typeface="Poppins" pitchFamily="34" charset="-122"/>
                <a:cs typeface="Poppins" pitchFamily="34" charset="0"/>
              </a:rPr>
              <a:t> sits right below the trigger, so the chat gets its answer at once</a:t>
            </a:r>
            <a:endParaRPr lang="en-US" sz="1450" dirty="0"/>
          </a:p>
          <a:p>
            <a:pPr marL="294640" indent="-294640" algn="l">
              <a:lnSpc>
                <a:spcPct val="125000"/>
              </a:lnSpc>
              <a:spcAft>
                <a:spcPts val="1800"/>
              </a:spcAft>
              <a:buSzPct val="100000"/>
              <a:buChar char="•"/>
            </a:pPr>
            <a:r>
              <a:rPr lang="en-US" sz="1400" b="1" dirty="0">
                <a:solidFill>
                  <a:srgbClr val="1B365D"/>
                </a:solidFill>
                <a:latin typeface="Poppins" pitchFamily="34" charset="0"/>
                <a:ea typeface="Poppins" pitchFamily="34" charset="-122"/>
                <a:cs typeface="Poppins" pitchFamily="34" charset="0"/>
              </a:rPr>
              <a:t>Request for information</a:t>
            </a:r>
            <a:r>
              <a:rPr lang="en-US" sz="1400" dirty="0">
                <a:solidFill>
                  <a:srgbClr val="1B365D"/>
                </a:solidFill>
                <a:latin typeface="Poppins" pitchFamily="34" charset="0"/>
                <a:ea typeface="Poppins" pitchFamily="34" charset="-122"/>
                <a:cs typeface="Poppins" pitchFamily="34" charset="0"/>
              </a:rPr>
              <a:t> emails the reviewer a Posting Control request through Outlook</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flow posts to the Teams channel only after the reviewer selects </a:t>
            </a:r>
            <a:r>
              <a:rPr lang="en-US" sz="1400" b="1" dirty="0">
                <a:solidFill>
                  <a:srgbClr val="1B365D"/>
                </a:solidFill>
                <a:latin typeface="Poppins" pitchFamily="34" charset="0"/>
                <a:ea typeface="Poppins" pitchFamily="34" charset="-122"/>
                <a:cs typeface="Poppins" pitchFamily="34" charset="0"/>
              </a:rPr>
              <a:t>Submit</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An agent waits at most 100 seconds for a flow; the review step runs on after the response</a:t>
            </a:r>
            <a:endParaRPr lang="en-US" sz="1450" dirty="0"/>
          </a:p>
        </p:txBody>
      </p:sp>
    </p:spTree>
    <p:extLst>
      <p:ext uri="{BB962C8B-B14F-4D97-AF65-F5344CB8AC3E}">
        <p14:creationId xmlns:p14="http://schemas.microsoft.com/office/powerpoint/2010/main" val="1854901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Custom Connectors &amp; REST APIs</a:t>
            </a:r>
          </a:p>
          <a:p>
            <a:pPr>
              <a:lnSpc>
                <a:spcPct val="95000"/>
              </a:lnSpc>
              <a:spcBef>
                <a:spcPts val="1400"/>
              </a:spcBef>
            </a:pPr>
            <a:r>
              <a:rPr sz="2000" b="0">
                <a:solidFill>
                  <a:srgbClr val="595F67"/>
                </a:solidFill>
                <a:latin typeface="Poppins"/>
              </a:rPr>
              <a:t>Live canteen stock from an OpenAPI file</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Live stock from the food catalog API</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An OpenAPI file becomes CS-Food Catalog and three tools</a:t>
            </a:r>
            <a:endParaRPr lang="en-US" sz="2950" dirty="0"/>
          </a:p>
        </p:txBody>
      </p:sp>
      <p:sp>
        <p:nvSpPr>
          <p:cNvPr id="4" name="Text 2"/>
          <p:cNvSpPr/>
          <p:nvPr/>
        </p:nvSpPr>
        <p:spPr>
          <a:xfrm>
            <a:off x="609600" y="2472414"/>
            <a:ext cx="4122619" cy="2844403"/>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pitchFamily="34" charset="0"/>
                <a:ea typeface="Poppins" pitchFamily="34" charset="-122"/>
                <a:cs typeface="Poppins" pitchFamily="34" charset="0"/>
              </a:rPr>
              <a:t>REST API tool</a:t>
            </a:r>
            <a:r>
              <a:rPr lang="en-US" sz="1400" dirty="0">
                <a:solidFill>
                  <a:srgbClr val="1B365D"/>
                </a:solidFill>
                <a:latin typeface="Poppins" pitchFamily="34" charset="0"/>
                <a:ea typeface="Poppins" pitchFamily="34" charset="-122"/>
                <a:cs typeface="Poppins" pitchFamily="34" charset="0"/>
              </a:rPr>
              <a:t> wizard turns cs-food-catalog.json into the CS-Food Catalog custom connector</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Three of seven operations become tools: CS-Gets all food, CS-Add food and CS-Update food stock quantity</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UpdateFood, the two lookups and </a:t>
            </a:r>
            <a:r>
              <a:rPr lang="en-US" sz="1400" b="1" dirty="0">
                <a:solidFill>
                  <a:srgbClr val="1B365D"/>
                </a:solidFill>
                <a:latin typeface="Poppins" pitchFamily="34" charset="0"/>
                <a:ea typeface="Poppins" pitchFamily="34" charset="-122"/>
                <a:cs typeface="Poppins" pitchFamily="34" charset="0"/>
              </a:rPr>
              <a:t>Delete food item</a:t>
            </a:r>
            <a:r>
              <a:rPr lang="en-US" sz="1400" dirty="0">
                <a:solidFill>
                  <a:srgbClr val="1B365D"/>
                </a:solidFill>
                <a:latin typeface="Poppins" pitchFamily="34" charset="0"/>
                <a:ea typeface="Poppins" pitchFamily="34" charset="-122"/>
                <a:cs typeface="Poppins" pitchFamily="34" charset="0"/>
              </a:rPr>
              <a:t> stay out</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Calculate order quantity now reads </a:t>
            </a:r>
            <a:r>
              <a:rPr lang="en-US" sz="1400" b="1" dirty="0">
                <a:solidFill>
                  <a:srgbClr val="1B365D"/>
                </a:solidFill>
                <a:latin typeface="Poppins" pitchFamily="34" charset="0"/>
                <a:ea typeface="Poppins" pitchFamily="34" charset="-122"/>
                <a:cs typeface="Poppins" pitchFamily="34" charset="0"/>
              </a:rPr>
              <a:t>CS-Gets all food</a:t>
            </a:r>
            <a:r>
              <a:rPr lang="en-US" sz="1400" dirty="0">
                <a:solidFill>
                  <a:srgbClr val="1B365D"/>
                </a:solidFill>
                <a:latin typeface="Poppins" pitchFamily="34" charset="0"/>
                <a:ea typeface="Poppins" pitchFamily="34" charset="-122"/>
                <a:cs typeface="Poppins" pitchFamily="34" charset="0"/>
              </a:rPr>
              <a:t> instead of Set sample stock</a:t>
            </a:r>
            <a:endParaRPr lang="en-US" sz="1450" dirty="0"/>
          </a:p>
        </p:txBody>
      </p:sp>
      <p:pic>
        <p:nvPicPr>
          <p:cNvPr id="5" name="Image 0" descr="preencoded.png"/>
          <p:cNvPicPr>
            <a:picLocks noChangeAspect="1"/>
          </p:cNvPicPr>
          <p:nvPr/>
        </p:nvPicPr>
        <p:blipFill>
          <a:blip r:embed="rId3"/>
          <a:stretch>
            <a:fillRect/>
          </a:stretch>
        </p:blipFill>
        <p:spPr>
          <a:xfrm>
            <a:off x="5199726" y="2357834"/>
            <a:ext cx="6336745" cy="3564434"/>
          </a:xfrm>
          <a:prstGeom prst="rect">
            <a:avLst/>
          </a:prstGeom>
        </p:spPr>
      </p:pic>
    </p:spTree>
    <p:extLst>
      <p:ext uri="{BB962C8B-B14F-4D97-AF65-F5344CB8AC3E}">
        <p14:creationId xmlns:p14="http://schemas.microsoft.com/office/powerpoint/2010/main" val="2863658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09206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Tool descriptions the orchestrator routes on</a:t>
            </a:r>
            <a:endParaRPr lang="en-US" sz="3700" dirty="0"/>
          </a:p>
        </p:txBody>
      </p:sp>
      <p:sp>
        <p:nvSpPr>
          <p:cNvPr id="3" name="Text 1"/>
          <p:cNvSpPr/>
          <p:nvPr/>
        </p:nvSpPr>
        <p:spPr>
          <a:xfrm>
            <a:off x="609600" y="1100568"/>
            <a:ext cx="109206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A description can also set the call order</a:t>
            </a:r>
            <a:endParaRPr lang="en-US" sz="2950" dirty="0"/>
          </a:p>
        </p:txBody>
      </p:sp>
      <p:sp>
        <p:nvSpPr>
          <p:cNvPr id="4" name="Text 2"/>
          <p:cNvSpPr/>
          <p:nvPr/>
        </p:nvSpPr>
        <p:spPr>
          <a:xfrm>
            <a:off x="609600" y="2680954"/>
            <a:ext cx="4122619" cy="2315170"/>
          </a:xfrm>
          <a:prstGeom prst="rect">
            <a:avLst/>
          </a:prstGeom>
          <a:noFill/>
          <a:ln/>
        </p:spPr>
        <p:txBody>
          <a:bodyPr wrap="square" lIns="0" tIns="0" rIns="0" bIns="0" rtlCol="0" anchor="t">
            <a:normAutofit/>
          </a:bodyPr>
          <a:lstStyle/>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Each description names the </a:t>
            </a:r>
            <a:r>
              <a:rPr lang="en-US" sz="1400" b="1" dirty="0">
                <a:solidFill>
                  <a:srgbClr val="1B365D"/>
                </a:solidFill>
                <a:latin typeface="Poppins" pitchFamily="34" charset="0"/>
                <a:ea typeface="Poppins" pitchFamily="34" charset="-122"/>
                <a:cs typeface="Poppins" pitchFamily="34" charset="0"/>
              </a:rPr>
              <a:t>job</a:t>
            </a:r>
            <a:r>
              <a:rPr lang="en-US" sz="1400" dirty="0">
                <a:solidFill>
                  <a:srgbClr val="1B365D"/>
                </a:solidFill>
                <a:latin typeface="Poppins" pitchFamily="34" charset="0"/>
                <a:ea typeface="Poppins" pitchFamily="34" charset="-122"/>
                <a:cs typeface="Poppins" pitchFamily="34" charset="0"/>
              </a:rPr>
              <a:t>, the data and when to use the tool</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"Look the dish up with CS-Gets all food first" sets the </a:t>
            </a:r>
            <a:r>
              <a:rPr lang="en-US" sz="1400" b="1" dirty="0">
                <a:solidFill>
                  <a:srgbClr val="1B365D"/>
                </a:solidFill>
                <a:latin typeface="Poppins" pitchFamily="34" charset="0"/>
                <a:ea typeface="Poppins" pitchFamily="34" charset="-122"/>
                <a:cs typeface="Poppins" pitchFamily="34" charset="0"/>
              </a:rPr>
              <a:t>call order</a:t>
            </a:r>
            <a:endParaRPr lang="en-US" sz="1450" dirty="0"/>
          </a:p>
          <a:p>
            <a:pPr marL="294640" indent="-29464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Without that line the agent guessed an id and got </a:t>
            </a:r>
            <a:r>
              <a:rPr lang="en-US" sz="1400" b="1" dirty="0">
                <a:solidFill>
                  <a:srgbClr val="1B365D"/>
                </a:solidFill>
                <a:latin typeface="Poppins" pitchFamily="34" charset="0"/>
                <a:ea typeface="Poppins" pitchFamily="34" charset="-122"/>
                <a:cs typeface="Poppins" pitchFamily="34" charset="0"/>
              </a:rPr>
              <a:t>Not Found</a:t>
            </a:r>
            <a:endParaRPr lang="en-US" sz="1450" dirty="0"/>
          </a:p>
          <a:p>
            <a:pPr marL="294640" indent="-29464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The wizard asks for a description of </a:t>
            </a:r>
            <a:r>
              <a:rPr lang="en-US" sz="1400" b="1" dirty="0">
                <a:solidFill>
                  <a:srgbClr val="1B365D"/>
                </a:solidFill>
                <a:latin typeface="Poppins" pitchFamily="34" charset="0"/>
                <a:ea typeface="Poppins" pitchFamily="34" charset="-122"/>
                <a:cs typeface="Poppins" pitchFamily="34" charset="0"/>
              </a:rPr>
              <a:t>every input and output</a:t>
            </a:r>
            <a:r>
              <a:rPr lang="en-US" sz="1400" dirty="0">
                <a:solidFill>
                  <a:srgbClr val="1B365D"/>
                </a:solidFill>
                <a:latin typeface="Poppins" pitchFamily="34" charset="0"/>
                <a:ea typeface="Poppins" pitchFamily="34" charset="-122"/>
                <a:cs typeface="Poppins" pitchFamily="34" charset="0"/>
              </a:rPr>
              <a:t> before Next turns on</a:t>
            </a:r>
            <a:endParaRPr lang="en-US" sz="1450" dirty="0"/>
          </a:p>
        </p:txBody>
      </p:sp>
      <p:pic>
        <p:nvPicPr>
          <p:cNvPr id="5" name="Image 0" descr="preencoded.png"/>
          <p:cNvPicPr>
            <a:picLocks noChangeAspect="1"/>
          </p:cNvPicPr>
          <p:nvPr/>
        </p:nvPicPr>
        <p:blipFill>
          <a:blip r:embed="rId3"/>
          <a:stretch>
            <a:fillRect/>
          </a:stretch>
        </p:blipFill>
        <p:spPr>
          <a:xfrm>
            <a:off x="5037019" y="2447644"/>
            <a:ext cx="6545381" cy="3268494"/>
          </a:xfrm>
          <a:prstGeom prst="rect">
            <a:avLst/>
          </a:prstGeom>
        </p:spPr>
      </p:pic>
    </p:spTree>
    <p:extLst>
      <p:ext uri="{BB962C8B-B14F-4D97-AF65-F5344CB8AC3E}">
        <p14:creationId xmlns:p14="http://schemas.microsoft.com/office/powerpoint/2010/main" val="2757774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l="5831" r="5831"/>
          <a:stretch>
            <a:fillRect/>
          </a:stretch>
        </p:blipFill>
        <p:spPr>
          <a:xfrm>
            <a:off x="8127797" y="0"/>
            <a:ext cx="4063799" cy="6858000"/>
          </a:xfrm>
          <a:prstGeom prst="rect">
            <a:avLst/>
          </a:prstGeom>
        </p:spPr>
      </p:pic>
      <p:sp>
        <p:nvSpPr>
          <p:cNvPr id="4" name="Text 0"/>
          <p:cNvSpPr/>
          <p:nvPr/>
        </p:nvSpPr>
        <p:spPr>
          <a:xfrm>
            <a:off x="609601" y="2215721"/>
            <a:ext cx="6856721"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Booking a delivery in one sentence</a:t>
            </a:r>
            <a:endParaRPr lang="en-US" sz="3700" dirty="0"/>
          </a:p>
        </p:txBody>
      </p:sp>
      <p:sp>
        <p:nvSpPr>
          <p:cNvPr id="5" name="Text 1"/>
          <p:cNvSpPr/>
          <p:nvPr/>
        </p:nvSpPr>
        <p:spPr>
          <a:xfrm>
            <a:off x="609601" y="3371216"/>
            <a:ext cx="6856721"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The orchestrator chains a lookup and an update</a:t>
            </a:r>
            <a:endParaRPr lang="en-US" sz="2950" dirty="0"/>
          </a:p>
        </p:txBody>
      </p:sp>
      <p:sp>
        <p:nvSpPr>
          <p:cNvPr id="6" name="Text 2"/>
          <p:cNvSpPr/>
          <p:nvPr/>
        </p:nvSpPr>
        <p:spPr>
          <a:xfrm>
            <a:off x="609601" y="3906631"/>
            <a:ext cx="6856721" cy="79384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"We just received 12 portions of Schweinshaxe mit Kraut" makes the agent </a:t>
            </a:r>
            <a:r>
              <a:rPr lang="en-US" sz="1400" b="1" dirty="0">
                <a:solidFill>
                  <a:srgbClr val="1B365D"/>
                </a:solidFill>
                <a:latin typeface="Poppins" pitchFamily="34" charset="0"/>
                <a:ea typeface="Poppins" pitchFamily="34" charset="-122"/>
                <a:cs typeface="Poppins" pitchFamily="34" charset="0"/>
              </a:rPr>
              <a:t>look up the dish, then add 12 to its stock</a:t>
            </a:r>
            <a:r>
              <a:rPr lang="en-US" sz="1400" dirty="0">
                <a:solidFill>
                  <a:srgbClr val="1B365D"/>
                </a:solidFill>
                <a:latin typeface="Poppins" pitchFamily="34" charset="0"/>
                <a:ea typeface="Poppins" pitchFamily="34" charset="-122"/>
                <a:cs typeface="Poppins" pitchFamily="34" charset="0"/>
              </a:rPr>
              <a:t>: 24 portions on the seeded database</a:t>
            </a:r>
            <a:endParaRPr lang="en-US" sz="1450" dirty="0"/>
          </a:p>
        </p:txBody>
      </p:sp>
    </p:spTree>
    <p:extLst>
      <p:ext uri="{BB962C8B-B14F-4D97-AF65-F5344CB8AC3E}">
        <p14:creationId xmlns:p14="http://schemas.microsoft.com/office/powerpoint/2010/main" val="2297161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MCP Servers as Agent Tools</a:t>
            </a:r>
          </a:p>
          <a:p>
            <a:pPr>
              <a:lnSpc>
                <a:spcPct val="95000"/>
              </a:lnSpc>
              <a:spcBef>
                <a:spcPts val="1400"/>
              </a:spcBef>
            </a:pPr>
            <a:r>
              <a:rPr sz="2000" b="0">
                <a:solidFill>
                  <a:srgbClr val="595F67"/>
                </a:solidFill>
                <a:latin typeface="Poppins"/>
              </a:rPr>
              <a:t>Staff and shifts discovered at runtime</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Tool discovery with MCP</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A connector is fixed at import, an MCP server lists its tools at runtime</a:t>
            </a:r>
            <a:endParaRPr lang="en-US" sz="2000" dirty="0"/>
          </a:p>
        </p:txBody>
      </p:sp>
      <p:sp>
        <p:nvSpPr>
          <p:cNvPr id="4" name="Text 2"/>
          <p:cNvSpPr/>
          <p:nvPr/>
        </p:nvSpPr>
        <p:spPr>
          <a:xfrm>
            <a:off x="609600" y="2234438"/>
            <a:ext cx="4963080" cy="2666206"/>
          </a:xfrm>
          <a:prstGeom prst="rect">
            <a:avLst/>
          </a:prstGeom>
          <a:noFill/>
          <a:ln/>
        </p:spPr>
        <p:txBody>
          <a:bodyPr wrap="square" lIns="0" tIns="0" rIns="0" bIns="0" rtlCol="0" anchor="t">
            <a:normAutofit/>
          </a:bodyPr>
          <a:lstStyle/>
          <a:p>
            <a:pPr marL="284480" indent="-284480" algn="l">
              <a:lnSpc>
                <a:spcPct val="125000"/>
              </a:lnSpc>
              <a:spcAft>
                <a:spcPts val="1000"/>
              </a:spcAft>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custom connector</a:t>
            </a:r>
            <a:r>
              <a:rPr lang="en-US" sz="1400" dirty="0">
                <a:solidFill>
                  <a:srgbClr val="1B365D"/>
                </a:solidFill>
                <a:latin typeface="Poppins" pitchFamily="34" charset="0"/>
                <a:ea typeface="Poppins" pitchFamily="34" charset="-122"/>
                <a:cs typeface="Poppins" pitchFamily="34" charset="0"/>
              </a:rPr>
              <a:t> keeps the operations of the OpenAPI file you imported</a:t>
            </a:r>
            <a:endParaRPr lang="en-US" sz="1400" dirty="0"/>
          </a:p>
          <a:p>
            <a:pPr marL="284480" indent="-284480" algn="l">
              <a:lnSpc>
                <a:spcPct val="125000"/>
              </a:lnSpc>
              <a:spcAft>
                <a:spcPts val="1000"/>
              </a:spcAft>
              <a:buSzPct val="100000"/>
              <a:buChar char="•"/>
            </a:pPr>
            <a:r>
              <a:rPr lang="en-US" sz="1400" dirty="0">
                <a:solidFill>
                  <a:srgbClr val="1B365D"/>
                </a:solidFill>
                <a:latin typeface="Poppins" pitchFamily="34" charset="0"/>
                <a:ea typeface="Poppins" pitchFamily="34" charset="-122"/>
                <a:cs typeface="Poppins" pitchFamily="34" charset="0"/>
              </a:rPr>
              <a:t>An </a:t>
            </a:r>
            <a:r>
              <a:rPr lang="en-US" sz="1400" b="1" dirty="0">
                <a:solidFill>
                  <a:srgbClr val="1B365D"/>
                </a:solidFill>
                <a:latin typeface="Poppins Bold" pitchFamily="34" charset="0"/>
                <a:ea typeface="Poppins Bold" pitchFamily="34" charset="-122"/>
                <a:cs typeface="Poppins Bold" pitchFamily="34" charset="0"/>
              </a:rPr>
              <a:t>MCP server</a:t>
            </a:r>
            <a:r>
              <a:rPr lang="en-US" sz="1400" dirty="0">
                <a:solidFill>
                  <a:srgbClr val="1B365D"/>
                </a:solidFill>
                <a:latin typeface="Poppins" pitchFamily="34" charset="0"/>
                <a:ea typeface="Poppins" pitchFamily="34" charset="-122"/>
                <a:cs typeface="Poppins" pitchFamily="34" charset="0"/>
              </a:rPr>
              <a:t> answers `tools/list` at runtime with its current tools</a:t>
            </a:r>
            <a:endParaRPr lang="en-US" sz="1400" dirty="0"/>
          </a:p>
          <a:p>
            <a:pPr marL="284480" indent="-284480" algn="l">
              <a:lnSpc>
                <a:spcPct val="125000"/>
              </a:lnSpc>
              <a:spcAft>
                <a:spcPts val="1000"/>
              </a:spcAft>
              <a:buSzPct val="100000"/>
              <a:buChar char="•"/>
            </a:pPr>
            <a:r>
              <a:rPr lang="en-US" sz="1400" dirty="0">
                <a:solidFill>
                  <a:srgbClr val="1B365D"/>
                </a:solidFill>
                <a:latin typeface="Poppins" pitchFamily="34" charset="0"/>
                <a:ea typeface="Poppins" pitchFamily="34" charset="-122"/>
                <a:cs typeface="Poppins" pitchFamily="34" charset="0"/>
              </a:rPr>
              <a:t>Tool descriptions come from the server's `[Description]` attributes, so a vague one is fixed there</a:t>
            </a:r>
            <a:endParaRPr lang="en-US" sz="1400" dirty="0"/>
          </a:p>
          <a:p>
            <a:pPr marL="284480" indent="-284480" algn="l">
              <a:lnSpc>
                <a:spcPct val="125000"/>
              </a:lnSpc>
              <a:spcAft>
                <a:spcPts val="1000"/>
              </a:spcAft>
              <a:buSzPct val="100000"/>
              <a:buChar char="•"/>
            </a:pPr>
            <a:r>
              <a:rPr lang="en-US" sz="1400" b="1" dirty="0">
                <a:solidFill>
                  <a:srgbClr val="1B365D"/>
                </a:solidFill>
                <a:latin typeface="Poppins Bold" pitchFamily="34" charset="0"/>
                <a:ea typeface="Poppins Bold" pitchFamily="34" charset="-122"/>
                <a:cs typeface="Poppins Bold" pitchFamily="34" charset="0"/>
              </a:rPr>
              <a:t>Adding a tool</a:t>
            </a:r>
            <a:r>
              <a:rPr lang="en-US" sz="1400" dirty="0">
                <a:solidFill>
                  <a:srgbClr val="1B365D"/>
                </a:solidFill>
                <a:latin typeface="Poppins" pitchFamily="34" charset="0"/>
                <a:ea typeface="Poppins" pitchFamily="34" charset="-122"/>
                <a:cs typeface="Poppins" pitchFamily="34" charset="0"/>
              </a:rPr>
              <a:t> means adding a method and restarting the server</a:t>
            </a:r>
            <a:endParaRPr lang="en-US" sz="1400" dirty="0"/>
          </a:p>
          <a:p>
            <a:pPr marL="284480" indent="-28448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MCP needs </a:t>
            </a:r>
            <a:r>
              <a:rPr lang="en-US" sz="1400" b="1" dirty="0">
                <a:solidFill>
                  <a:srgbClr val="1B365D"/>
                </a:solidFill>
                <a:latin typeface="Poppins Bold" pitchFamily="34" charset="0"/>
                <a:ea typeface="Poppins Bold" pitchFamily="34" charset="-122"/>
                <a:cs typeface="Poppins Bold" pitchFamily="34" charset="0"/>
              </a:rPr>
              <a:t>generative orchestration</a:t>
            </a:r>
            <a:r>
              <a:rPr lang="en-US" sz="1400" dirty="0">
                <a:solidFill>
                  <a:srgbClr val="1B365D"/>
                </a:solidFill>
                <a:latin typeface="Poppins" pitchFamily="34" charset="0"/>
                <a:ea typeface="Poppins" pitchFamily="34" charset="-122"/>
                <a:cs typeface="Poppins" pitchFamily="34" charset="0"/>
              </a:rPr>
              <a:t>, and topics cannot call a server directly</a:t>
            </a:r>
            <a:endParaRPr lang="en-US" sz="1400" dirty="0"/>
          </a:p>
        </p:txBody>
      </p:sp>
      <p:pic>
        <p:nvPicPr>
          <p:cNvPr id="5" name="Image 0" descr="preencoded.png"/>
          <p:cNvPicPr>
            <a:picLocks noChangeAspect="1"/>
          </p:cNvPicPr>
          <p:nvPr/>
        </p:nvPicPr>
        <p:blipFill>
          <a:blip r:embed="rId3"/>
          <a:stretch>
            <a:fillRect/>
          </a:stretch>
        </p:blipFill>
        <p:spPr>
          <a:xfrm>
            <a:off x="5877373" y="2277765"/>
            <a:ext cx="5933331" cy="3337520"/>
          </a:xfrm>
          <a:prstGeom prst="rect">
            <a:avLst/>
          </a:prstGeom>
        </p:spPr>
      </p:pic>
    </p:spTree>
    <p:extLst>
      <p:ext uri="{BB962C8B-B14F-4D97-AF65-F5344CB8AC3E}">
        <p14:creationId xmlns:p14="http://schemas.microsoft.com/office/powerpoint/2010/main" val="3990764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Finding staff through the HR MCP server</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CS-Restaurant HR Manager reads the team before it plans</a:t>
            </a:r>
            <a:endParaRPr lang="en-US" sz="2000" dirty="0"/>
          </a:p>
        </p:txBody>
      </p:sp>
      <p:sp>
        <p:nvSpPr>
          <p:cNvPr id="4" name="Text 2"/>
          <p:cNvSpPr/>
          <p:nvPr/>
        </p:nvSpPr>
        <p:spPr>
          <a:xfrm>
            <a:off x="609600" y="2631126"/>
            <a:ext cx="4963080" cy="2372916"/>
          </a:xfrm>
          <a:prstGeom prst="rect">
            <a:avLst/>
          </a:prstGeom>
          <a:noFill/>
          <a:ln/>
        </p:spPr>
        <p:txBody>
          <a:bodyPr wrap="square" lIns="0" tIns="0" rIns="0" bIns="0" rtlCol="0" anchor="t">
            <a:normAutofit/>
          </a:bodyPr>
          <a:lstStyle/>
          <a:p>
            <a:pPr marL="284480" indent="-284480" algn="l">
              <a:lnSpc>
                <a:spcPct val="125000"/>
              </a:lnSpc>
              <a:spcAft>
                <a:spcPts val="1233"/>
              </a:spcAft>
              <a:buSzPct val="100000"/>
              <a:buChar char="•"/>
            </a:pPr>
            <a:r>
              <a:rPr lang="en-US" sz="1400" dirty="0">
                <a:solidFill>
                  <a:srgbClr val="1B365D"/>
                </a:solidFill>
                <a:latin typeface="Poppins" pitchFamily="34" charset="0"/>
                <a:ea typeface="Poppins" pitchFamily="34" charset="-122"/>
                <a:cs typeface="Poppins" pitchFamily="34" charset="0"/>
              </a:rPr>
              <a:t>The question names no tool; the orchestrator picks </a:t>
            </a:r>
            <a:r>
              <a:rPr lang="en-US" sz="1400" b="1" dirty="0">
                <a:solidFill>
                  <a:srgbClr val="1B365D"/>
                </a:solidFill>
                <a:latin typeface="Poppins Bold" pitchFamily="34" charset="0"/>
                <a:ea typeface="Poppins Bold" pitchFamily="34" charset="-122"/>
                <a:cs typeface="Poppins Bold" pitchFamily="34" charset="0"/>
              </a:rPr>
              <a:t>CS-HR MCP Server</a:t>
            </a:r>
            <a:r>
              <a:rPr lang="en-US" sz="1400" dirty="0">
                <a:solidFill>
                  <a:srgbClr val="1B365D"/>
                </a:solidFill>
                <a:latin typeface="Poppins" pitchFamily="34" charset="0"/>
                <a:ea typeface="Poppins" pitchFamily="34" charset="-122"/>
                <a:cs typeface="Poppins" pitchFamily="34" charset="0"/>
              </a:rPr>
              <a:t> from its description</a:t>
            </a:r>
            <a:endParaRPr lang="en-US" sz="1400" dirty="0"/>
          </a:p>
          <a:p>
            <a:pPr marL="284480" indent="-284480" algn="l">
              <a:lnSpc>
                <a:spcPct val="125000"/>
              </a:lnSpc>
              <a:spcAft>
                <a:spcPts val="1233"/>
              </a:spcAft>
              <a:buSzPct val="100000"/>
              <a:buChar char="•"/>
            </a:pPr>
            <a:r>
              <a:rPr lang="en-US" sz="1400" dirty="0">
                <a:solidFill>
                  <a:srgbClr val="1B365D"/>
                </a:solidFill>
                <a:latin typeface="Poppins" pitchFamily="34" charset="0"/>
                <a:ea typeface="Poppins" pitchFamily="34" charset="-122"/>
                <a:cs typeface="Poppins" pitchFamily="34" charset="0"/>
              </a:rPr>
              <a:t>The answer names </a:t>
            </a:r>
            <a:r>
              <a:rPr lang="en-US" sz="1400" b="1" dirty="0">
                <a:solidFill>
                  <a:srgbClr val="1B365D"/>
                </a:solidFill>
                <a:latin typeface="Poppins Bold" pitchFamily="34" charset="0"/>
                <a:ea typeface="Poppins Bold" pitchFamily="34" charset="-122"/>
                <a:cs typeface="Poppins Bold" pitchFamily="34" charset="0"/>
              </a:rPr>
              <a:t>Sofia Fernandez</a:t>
            </a:r>
            <a:r>
              <a:rPr lang="en-US" sz="1400" dirty="0">
                <a:solidFill>
                  <a:srgbClr val="1B365D"/>
                </a:solidFill>
                <a:latin typeface="Poppins" pitchFamily="34" charset="0"/>
                <a:ea typeface="Poppins" pitchFamily="34" charset="-122"/>
                <a:cs typeface="Poppins" pitchFamily="34" charset="0"/>
              </a:rPr>
              <a:t> and </a:t>
            </a:r>
            <a:r>
              <a:rPr lang="en-US" sz="1400" b="1" dirty="0">
                <a:solidFill>
                  <a:srgbClr val="1B365D"/>
                </a:solidFill>
                <a:latin typeface="Poppins Bold" pitchFamily="34" charset="0"/>
                <a:ea typeface="Poppins Bold" pitchFamily="34" charset="-122"/>
                <a:cs typeface="Poppins Bold" pitchFamily="34" charset="0"/>
              </a:rPr>
              <a:t>Luca Rossi</a:t>
            </a:r>
            <a:r>
              <a:rPr lang="en-US" sz="1400" dirty="0">
                <a:solidFill>
                  <a:srgbClr val="1B365D"/>
                </a:solidFill>
                <a:latin typeface="Poppins" pitchFamily="34" charset="0"/>
                <a:ea typeface="Poppins" pitchFamily="34" charset="-122"/>
                <a:cs typeface="Poppins" pitchFamily="34" charset="0"/>
              </a:rPr>
              <a:t> with their languages, from the seeded staff</a:t>
            </a:r>
            <a:endParaRPr lang="en-US" sz="1400" dirty="0"/>
          </a:p>
          <a:p>
            <a:pPr marL="284480" indent="-284480" algn="l">
              <a:lnSpc>
                <a:spcPct val="125000"/>
              </a:lnSpc>
              <a:spcAft>
                <a:spcPts val="1233"/>
              </a:spcAft>
              <a:buSzPct val="100000"/>
              <a:buChar char="•"/>
            </a:pPr>
            <a:r>
              <a:rPr lang="en-US" sz="1400" dirty="0">
                <a:solidFill>
                  <a:srgbClr val="1B365D"/>
                </a:solidFill>
                <a:latin typeface="Poppins" pitchFamily="34" charset="0"/>
                <a:ea typeface="Poppins" pitchFamily="34" charset="-122"/>
                <a:cs typeface="Poppins" pitchFamily="34" charset="0"/>
              </a:rPr>
              <a:t>The server was connected through the </a:t>
            </a:r>
            <a:r>
              <a:rPr lang="en-US" sz="1400" b="1" dirty="0">
                <a:solidFill>
                  <a:srgbClr val="1B365D"/>
                </a:solidFill>
                <a:latin typeface="Poppins Bold" pitchFamily="34" charset="0"/>
                <a:ea typeface="Poppins Bold" pitchFamily="34" charset="-122"/>
                <a:cs typeface="Poppins Bold" pitchFamily="34" charset="0"/>
              </a:rPr>
              <a:t>MCP onboarding wizard</a:t>
            </a:r>
            <a:r>
              <a:rPr lang="en-US" sz="1400" dirty="0">
                <a:solidFill>
                  <a:srgbClr val="1B365D"/>
                </a:solidFill>
                <a:latin typeface="Poppins" pitchFamily="34" charset="0"/>
                <a:ea typeface="Poppins" pitchFamily="34" charset="-122"/>
                <a:cs typeface="Poppins" pitchFamily="34" charset="0"/>
              </a:rPr>
              <a:t>: name, description, URL, no authentication</a:t>
            </a:r>
            <a:endParaRPr lang="en-US" sz="1400" dirty="0"/>
          </a:p>
          <a:p>
            <a:pPr marL="284480" indent="-28448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A reply that names people missing from the server's data means </a:t>
            </a:r>
            <a:r>
              <a:rPr lang="en-US" sz="1400" b="1" dirty="0">
                <a:solidFill>
                  <a:srgbClr val="1B365D"/>
                </a:solidFill>
                <a:latin typeface="Poppins Bold" pitchFamily="34" charset="0"/>
                <a:ea typeface="Poppins Bold" pitchFamily="34" charset="-122"/>
                <a:cs typeface="Poppins Bold" pitchFamily="34" charset="0"/>
              </a:rPr>
              <a:t>no tool ran</a:t>
            </a:r>
            <a:endParaRPr lang="en-US" sz="1400" dirty="0"/>
          </a:p>
        </p:txBody>
      </p:sp>
      <p:pic>
        <p:nvPicPr>
          <p:cNvPr id="5" name="Image 0" descr="preencoded.png"/>
          <p:cNvPicPr>
            <a:picLocks noChangeAspect="1"/>
          </p:cNvPicPr>
          <p:nvPr/>
        </p:nvPicPr>
        <p:blipFill>
          <a:blip r:embed="rId3"/>
          <a:stretch>
            <a:fillRect/>
          </a:stretch>
        </p:blipFill>
        <p:spPr>
          <a:xfrm>
            <a:off x="5877480" y="2624848"/>
            <a:ext cx="5704920" cy="2852531"/>
          </a:xfrm>
          <a:prstGeom prst="rect">
            <a:avLst/>
          </a:prstGeom>
        </p:spPr>
      </p:pic>
    </p:spTree>
    <p:extLst>
      <p:ext uri="{BB962C8B-B14F-4D97-AF65-F5344CB8AC3E}">
        <p14:creationId xmlns:p14="http://schemas.microsoft.com/office/powerpoint/2010/main" val="3483390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00836"/>
            <a:ext cx="7213600"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Booking shifts after a confirmation</a:t>
            </a:r>
            <a:endParaRPr lang="en-US" sz="3000" dirty="0"/>
          </a:p>
        </p:txBody>
      </p:sp>
      <p:sp>
        <p:nvSpPr>
          <p:cNvPr id="3" name="Text 1"/>
          <p:cNvSpPr/>
          <p:nvPr/>
        </p:nvSpPr>
        <p:spPr>
          <a:xfrm>
            <a:off x="609600" y="3459381"/>
            <a:ext cx="72136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The agent reads freely and writes after a yes</a:t>
            </a:r>
            <a:endParaRPr lang="en-US" sz="2000" dirty="0"/>
          </a:p>
        </p:txBody>
      </p:sp>
      <p:sp>
        <p:nvSpPr>
          <p:cNvPr id="4" name="Text 2"/>
          <p:cNvSpPr/>
          <p:nvPr/>
        </p:nvSpPr>
        <p:spPr>
          <a:xfrm>
            <a:off x="609600" y="3971135"/>
            <a:ext cx="7086407" cy="497681"/>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agent books </a:t>
            </a:r>
            <a:r>
              <a:rPr lang="en-US" sz="1400" b="1" dirty="0">
                <a:solidFill>
                  <a:srgbClr val="1B365D"/>
                </a:solidFill>
                <a:latin typeface="Poppins Bold" pitchFamily="34" charset="0"/>
                <a:ea typeface="Poppins Bold" pitchFamily="34" charset="-122"/>
                <a:cs typeface="Poppins Bold" pitchFamily="34" charset="0"/>
              </a:rPr>
              <a:t>Sofia on the bar and Luca on waiter duty</a:t>
            </a:r>
            <a:r>
              <a:rPr lang="en-US" sz="1400" dirty="0">
                <a:solidFill>
                  <a:srgbClr val="1B365D"/>
                </a:solidFill>
                <a:latin typeface="Poppins" pitchFamily="34" charset="0"/>
                <a:ea typeface="Poppins" pitchFamily="34" charset="-122"/>
                <a:cs typeface="Poppins" pitchFamily="34" charset="0"/>
              </a:rPr>
              <a:t> for 2026-11-06 only after you confirm, and the server sets each shift to eight hours</a:t>
            </a:r>
            <a:endParaRPr lang="en-US" sz="1400" dirty="0"/>
          </a:p>
        </p:txBody>
      </p:sp>
      <p:pic>
        <p:nvPicPr>
          <p:cNvPr id="5" name="Image 0" descr="preencoded.png"/>
          <p:cNvPicPr>
            <a:picLocks noChangeAspect="1"/>
          </p:cNvPicPr>
          <p:nvPr/>
        </p:nvPicPr>
        <p:blipFill>
          <a:blip r:embed="rId3"/>
          <a:srcRect l="5917" r="5917"/>
          <a:stretch>
            <a:fillRect/>
          </a:stretch>
        </p:blipFill>
        <p:spPr>
          <a:xfrm>
            <a:off x="8128000" y="0"/>
            <a:ext cx="4064000" cy="6858000"/>
          </a:xfrm>
          <a:prstGeom prst="rect">
            <a:avLst/>
          </a:prstGeom>
        </p:spPr>
      </p:pic>
    </p:spTree>
    <p:extLst>
      <p:ext uri="{BB962C8B-B14F-4D97-AF65-F5344CB8AC3E}">
        <p14:creationId xmlns:p14="http://schemas.microsoft.com/office/powerpoint/2010/main" val="2262371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Computer Use: Apps Without APIs</a:t>
            </a:r>
          </a:p>
          <a:p>
            <a:pPr>
              <a:lnSpc>
                <a:spcPct val="95000"/>
              </a:lnSpc>
              <a:spcBef>
                <a:spcPts val="1400"/>
              </a:spcBef>
            </a:pPr>
            <a:r>
              <a:rPr sz="2000" b="0">
                <a:solidFill>
                  <a:srgbClr val="595F67"/>
                </a:solidFill>
                <a:latin typeface="Poppins"/>
              </a:rPr>
              <a:t>Reading and filling web apps by screen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Computer use on web apps without an API</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Two tools for the help desk agent, fenced to one site</a:t>
            </a:r>
            <a:endParaRPr lang="en-US" sz="2000" dirty="0"/>
          </a:p>
        </p:txBody>
      </p:sp>
      <p:pic>
        <p:nvPicPr>
          <p:cNvPr id="4" name="Image 0" descr="preencoded.png"/>
          <p:cNvPicPr>
            <a:picLocks noChangeAspect="1"/>
          </p:cNvPicPr>
          <p:nvPr/>
        </p:nvPicPr>
        <p:blipFill>
          <a:blip r:embed="rId3"/>
          <a:stretch>
            <a:fillRect/>
          </a:stretch>
        </p:blipFill>
        <p:spPr>
          <a:xfrm>
            <a:off x="2878562" y="1397000"/>
            <a:ext cx="6434473" cy="3619401"/>
          </a:xfrm>
          <a:prstGeom prst="rect">
            <a:avLst/>
          </a:prstGeom>
        </p:spPr>
      </p:pic>
      <p:sp>
        <p:nvSpPr>
          <p:cNvPr id="5" name="Text 2"/>
          <p:cNvSpPr/>
          <p:nvPr/>
        </p:nvSpPr>
        <p:spPr>
          <a:xfrm>
            <a:off x="609600" y="5175151"/>
            <a:ext cx="11176000" cy="497681"/>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CS-Look up portfolio</a:t>
            </a:r>
            <a:r>
              <a:rPr lang="en-US" sz="1400" dirty="0">
                <a:solidFill>
                  <a:srgbClr val="1B365D"/>
                </a:solidFill>
                <a:latin typeface="Poppins" pitchFamily="34" charset="0"/>
                <a:ea typeface="Poppins" pitchFamily="34" charset="-122"/>
                <a:cs typeface="Poppins" pitchFamily="34" charset="0"/>
              </a:rPr>
              <a:t> reads a client's manager and value, </a:t>
            </a:r>
            <a:r>
              <a:rPr lang="en-US" sz="1400" b="1" dirty="0">
                <a:solidFill>
                  <a:srgbClr val="1B365D"/>
                </a:solidFill>
                <a:latin typeface="Poppins Bold" pitchFamily="34" charset="0"/>
                <a:ea typeface="Poppins Bold" pitchFamily="34" charset="-122"/>
                <a:cs typeface="Poppins Bold" pitchFamily="34" charset="0"/>
              </a:rPr>
              <a:t>CS-Register inventory items</a:t>
            </a:r>
            <a:r>
              <a:rPr lang="en-US" sz="1400" dirty="0">
                <a:solidFill>
                  <a:srgbClr val="1B365D"/>
                </a:solidFill>
                <a:latin typeface="Poppins" pitchFamily="34" charset="0"/>
                <a:ea typeface="Poppins" pitchFamily="34" charset="-122"/>
                <a:cs typeface="Poppins" pitchFamily="34" charset="0"/>
              </a:rPr>
              <a:t> types two products into a form, both limited to one HTTPS site</a:t>
            </a:r>
            <a:endParaRPr lang="en-US" sz="1400" dirty="0"/>
          </a:p>
        </p:txBody>
      </p:sp>
    </p:spTree>
    <p:extLst>
      <p:ext uri="{BB962C8B-B14F-4D97-AF65-F5344CB8AC3E}">
        <p14:creationId xmlns:p14="http://schemas.microsoft.com/office/powerpoint/2010/main" val="3217819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A computer use test run</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The model's reasoning next to the hosted browser</a:t>
            </a:r>
            <a:endParaRPr lang="en-US" sz="2000" dirty="0"/>
          </a:p>
        </p:txBody>
      </p:sp>
      <p:sp>
        <p:nvSpPr>
          <p:cNvPr id="4" name="Text 2"/>
          <p:cNvSpPr/>
          <p:nvPr/>
        </p:nvSpPr>
        <p:spPr>
          <a:xfrm>
            <a:off x="609600" y="2650176"/>
            <a:ext cx="4963080" cy="2124075"/>
          </a:xfrm>
          <a:prstGeom prst="rect">
            <a:avLst/>
          </a:prstGeom>
          <a:noFill/>
          <a:ln/>
        </p:spPr>
        <p:txBody>
          <a:bodyPr wrap="square" lIns="0" tIns="0" rIns="0" bIns="0" rtlCol="0" anchor="t">
            <a:normAutofit/>
          </a:bodyPr>
          <a:lstStyle/>
          <a:p>
            <a:pPr marL="284480" indent="-28448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left column shows the model's </a:t>
            </a:r>
            <a:r>
              <a:rPr lang="en-US" sz="1400" b="1" dirty="0">
                <a:solidFill>
                  <a:srgbClr val="1B365D"/>
                </a:solidFill>
                <a:latin typeface="Poppins Bold" pitchFamily="34" charset="0"/>
                <a:ea typeface="Poppins Bold" pitchFamily="34" charset="-122"/>
                <a:cs typeface="Poppins Bold" pitchFamily="34" charset="0"/>
              </a:rPr>
              <a:t>reasoning</a:t>
            </a:r>
            <a:r>
              <a:rPr lang="en-US" sz="1400" dirty="0">
                <a:solidFill>
                  <a:srgbClr val="1B365D"/>
                </a:solidFill>
                <a:latin typeface="Poppins" pitchFamily="34" charset="0"/>
                <a:ea typeface="Poppins" pitchFamily="34" charset="-122"/>
                <a:cs typeface="Poppins" pitchFamily="34" charset="0"/>
              </a:rPr>
              <a:t> after each step of the run</a:t>
            </a:r>
            <a:endParaRPr lang="en-US" sz="1400" dirty="0"/>
          </a:p>
          <a:p>
            <a:pPr marL="284480" indent="-28448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hosted browser scrolls the Financial Portfolio Dashboard down to </a:t>
            </a:r>
            <a:r>
              <a:rPr lang="en-US" sz="1400" b="1" dirty="0">
                <a:solidFill>
                  <a:srgbClr val="1B365D"/>
                </a:solidFill>
                <a:latin typeface="Poppins Bold" pitchFamily="34" charset="0"/>
                <a:ea typeface="Poppins Bold" pitchFamily="34" charset="-122"/>
                <a:cs typeface="Poppins Bold" pitchFamily="34" charset="0"/>
              </a:rPr>
              <a:t>Fourth Coffee</a:t>
            </a:r>
            <a:endParaRPr lang="en-US" sz="1400" dirty="0"/>
          </a:p>
          <a:p>
            <a:pPr marL="284480" indent="-28448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Claude Sonnet 4.5 returned </a:t>
            </a:r>
            <a:r>
              <a:rPr lang="en-US" sz="1400" b="1" dirty="0">
                <a:solidFill>
                  <a:srgbClr val="1B365D"/>
                </a:solidFill>
                <a:latin typeface="Poppins Bold" pitchFamily="34" charset="0"/>
                <a:ea typeface="Poppins Bold" pitchFamily="34" charset="-122"/>
                <a:cs typeface="Poppins Bold" pitchFamily="34" charset="0"/>
              </a:rPr>
              <a:t>Yhlas Geldiyew, $190,000,000</a:t>
            </a:r>
            <a:r>
              <a:rPr lang="en-US" sz="1400" dirty="0">
                <a:solidFill>
                  <a:srgbClr val="1B365D"/>
                </a:solidFill>
                <a:latin typeface="Poppins" pitchFamily="34" charset="0"/>
                <a:ea typeface="Poppins" pitchFamily="34" charset="-122"/>
                <a:cs typeface="Poppins" pitchFamily="34" charset="0"/>
              </a:rPr>
              <a:t> exactly as the page shows it</a:t>
            </a:r>
            <a:endParaRPr lang="en-US" sz="1400" dirty="0"/>
          </a:p>
          <a:p>
            <a:pPr marL="284480" indent="-28448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In chat the same lookup took </a:t>
            </a:r>
            <a:r>
              <a:rPr lang="en-US" sz="1400" b="1" dirty="0">
                <a:solidFill>
                  <a:srgbClr val="1B365D"/>
                </a:solidFill>
                <a:latin typeface="Poppins Bold" pitchFamily="34" charset="0"/>
                <a:ea typeface="Poppins Bold" pitchFamily="34" charset="-122"/>
                <a:cs typeface="Poppins Bold" pitchFamily="34" charset="0"/>
              </a:rPr>
              <a:t>4 actions</a:t>
            </a:r>
            <a:r>
              <a:rPr lang="en-US" sz="1400" dirty="0">
                <a:solidFill>
                  <a:srgbClr val="1B365D"/>
                </a:solidFill>
                <a:latin typeface="Poppins" pitchFamily="34" charset="0"/>
                <a:ea typeface="Poppins" pitchFamily="34" charset="-122"/>
                <a:cs typeface="Poppins" pitchFamily="34" charset="0"/>
              </a:rPr>
              <a:t>: 20 Copilot Credits at 5 per step</a:t>
            </a:r>
            <a:endParaRPr lang="en-US" sz="1400" dirty="0"/>
          </a:p>
        </p:txBody>
      </p:sp>
      <p:pic>
        <p:nvPicPr>
          <p:cNvPr id="5" name="Image 0" descr="preencoded.png"/>
          <p:cNvPicPr>
            <a:picLocks noChangeAspect="1"/>
          </p:cNvPicPr>
          <p:nvPr/>
        </p:nvPicPr>
        <p:blipFill>
          <a:blip r:embed="rId3"/>
          <a:srcRect/>
          <a:stretch>
            <a:fillRect/>
          </a:stretch>
        </p:blipFill>
        <p:spPr>
          <a:xfrm>
            <a:off x="5877480" y="2172664"/>
            <a:ext cx="5704920" cy="3756898"/>
          </a:xfrm>
          <a:prstGeom prst="rect">
            <a:avLst/>
          </a:prstGeom>
        </p:spPr>
      </p:pic>
    </p:spTree>
    <p:extLst>
      <p:ext uri="{BB962C8B-B14F-4D97-AF65-F5344CB8AC3E}">
        <p14:creationId xmlns:p14="http://schemas.microsoft.com/office/powerpoint/2010/main" val="3420064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088450"/>
            <a:ext cx="510525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3000" dirty="0"/>
          </a:p>
        </p:txBody>
      </p:sp>
      <p:sp>
        <p:nvSpPr>
          <p:cNvPr id="3" name="Text 1"/>
          <p:cNvSpPr/>
          <p:nvPr/>
        </p:nvSpPr>
        <p:spPr>
          <a:xfrm>
            <a:off x="609600" y="1693923"/>
            <a:ext cx="510525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Pick the tool by the job</a:t>
            </a:r>
            <a:endParaRPr lang="en-US" sz="2000" dirty="0"/>
          </a:p>
        </p:txBody>
      </p:sp>
      <p:sp>
        <p:nvSpPr>
          <p:cNvPr id="4" name="Text 2"/>
          <p:cNvSpPr/>
          <p:nvPr/>
        </p:nvSpPr>
        <p:spPr>
          <a:xfrm>
            <a:off x="609600" y="2205677"/>
            <a:ext cx="5105257" cy="2666206"/>
          </a:xfrm>
          <a:prstGeom prst="rect">
            <a:avLst/>
          </a:prstGeom>
          <a:noFill/>
          <a:ln/>
        </p:spPr>
        <p:txBody>
          <a:bodyPr wrap="square" lIns="0" tIns="0" rIns="0" bIns="0" rtlCol="0" anchor="t">
            <a:normAutofit/>
          </a:bodyPr>
          <a:lstStyle/>
          <a:p>
            <a:pPr marL="284480" indent="-28448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prompt</a:t>
            </a:r>
            <a:r>
              <a:rPr lang="en-US" sz="1400" dirty="0">
                <a:solidFill>
                  <a:srgbClr val="1B365D"/>
                </a:solidFill>
                <a:latin typeface="Poppins" pitchFamily="34" charset="0"/>
                <a:ea typeface="Poppins" pitchFamily="34" charset="-122"/>
                <a:cs typeface="Poppins" pitchFamily="34" charset="0"/>
              </a:rPr>
              <a:t> for the canteen order, an </a:t>
            </a:r>
            <a:r>
              <a:rPr lang="en-US" sz="1400" b="1" dirty="0">
                <a:solidFill>
                  <a:srgbClr val="1B365D"/>
                </a:solidFill>
                <a:latin typeface="Poppins Bold" pitchFamily="34" charset="0"/>
                <a:ea typeface="Poppins Bold" pitchFamily="34" charset="-122"/>
                <a:cs typeface="Poppins Bold" pitchFamily="34" charset="0"/>
              </a:rPr>
              <a:t>agent flow</a:t>
            </a:r>
            <a:r>
              <a:rPr lang="en-US" sz="1400" dirty="0">
                <a:solidFill>
                  <a:srgbClr val="1B365D"/>
                </a:solidFill>
                <a:latin typeface="Poppins" pitchFamily="34" charset="0"/>
                <a:ea typeface="Poppins" pitchFamily="34" charset="-122"/>
                <a:cs typeface="Poppins" pitchFamily="34" charset="0"/>
              </a:rPr>
              <a:t> for fixed steps, a connector or REST API for one service</a:t>
            </a:r>
            <a:endParaRPr lang="en-US" sz="1400" dirty="0"/>
          </a:p>
          <a:p>
            <a:pPr marL="284480" indent="-284480" algn="l">
              <a:lnSpc>
                <a:spcPct val="125000"/>
              </a:lnSpc>
              <a:spcAft>
                <a:spcPts val="1800"/>
              </a:spcAft>
              <a:buSzPct val="100000"/>
              <a:buChar char="•"/>
            </a:pPr>
            <a:r>
              <a:rPr lang="en-US" sz="1400" b="1" dirty="0">
                <a:solidFill>
                  <a:srgbClr val="1B365D"/>
                </a:solidFill>
                <a:latin typeface="Poppins Bold" pitchFamily="34" charset="0"/>
                <a:ea typeface="Poppins Bold" pitchFamily="34" charset="-122"/>
                <a:cs typeface="Poppins Bold" pitchFamily="34" charset="0"/>
              </a:rPr>
              <a:t>MCP</a:t>
            </a:r>
            <a:r>
              <a:rPr lang="en-US" sz="1400" dirty="0">
                <a:solidFill>
                  <a:srgbClr val="1B365D"/>
                </a:solidFill>
                <a:latin typeface="Poppins" pitchFamily="34" charset="0"/>
                <a:ea typeface="Poppins" pitchFamily="34" charset="-122"/>
                <a:cs typeface="Poppins" pitchFamily="34" charset="0"/>
              </a:rPr>
              <a:t> for a toolset many agents share, </a:t>
            </a:r>
            <a:r>
              <a:rPr lang="en-US" sz="1400" b="1" dirty="0">
                <a:solidFill>
                  <a:srgbClr val="1B365D"/>
                </a:solidFill>
                <a:latin typeface="Poppins Bold" pitchFamily="34" charset="0"/>
                <a:ea typeface="Poppins Bold" pitchFamily="34" charset="-122"/>
                <a:cs typeface="Poppins Bold" pitchFamily="34" charset="0"/>
              </a:rPr>
              <a:t>computer use</a:t>
            </a:r>
            <a:r>
              <a:rPr lang="en-US" sz="1400" dirty="0">
                <a:solidFill>
                  <a:srgbClr val="1B365D"/>
                </a:solidFill>
                <a:latin typeface="Poppins" pitchFamily="34" charset="0"/>
                <a:ea typeface="Poppins" pitchFamily="34" charset="-122"/>
                <a:cs typeface="Poppins" pitchFamily="34" charset="0"/>
              </a:rPr>
              <a:t> only where no API exists</a:t>
            </a:r>
            <a:endParaRPr lang="en-US" sz="1400" dirty="0"/>
          </a:p>
          <a:p>
            <a:pPr marL="284480" indent="-28448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The orchestrator chooses by </a:t>
            </a:r>
            <a:r>
              <a:rPr lang="en-US" sz="1400" b="1" dirty="0">
                <a:solidFill>
                  <a:srgbClr val="1B365D"/>
                </a:solidFill>
                <a:latin typeface="Poppins Bold" pitchFamily="34" charset="0"/>
                <a:ea typeface="Poppins Bold" pitchFamily="34" charset="-122"/>
                <a:cs typeface="Poppins Bold" pitchFamily="34" charset="0"/>
              </a:rPr>
              <a:t>name and description</a:t>
            </a:r>
            <a:r>
              <a:rPr lang="en-US" sz="1400" dirty="0">
                <a:solidFill>
                  <a:srgbClr val="1B365D"/>
                </a:solidFill>
                <a:latin typeface="Poppins" pitchFamily="34" charset="0"/>
                <a:ea typeface="Poppins" pitchFamily="34" charset="-122"/>
                <a:cs typeface="Poppins" pitchFamily="34" charset="0"/>
              </a:rPr>
              <a:t>, so write them in your users' words</a:t>
            </a:r>
            <a:endParaRPr lang="en-US" sz="1400" dirty="0"/>
          </a:p>
          <a:p>
            <a:pPr marL="284480" indent="-284480" algn="l">
              <a:lnSpc>
                <a:spcPct val="125000"/>
              </a:lnSpc>
              <a:spcAft>
                <a:spcPts val="1800"/>
              </a:spcAft>
              <a:buSzPct val="100000"/>
              <a:buChar char="•"/>
            </a:pPr>
            <a:r>
              <a:rPr lang="en-US" sz="1400" dirty="0">
                <a:solidFill>
                  <a:srgbClr val="1B365D"/>
                </a:solidFill>
                <a:latin typeface="Poppins" pitchFamily="34" charset="0"/>
                <a:ea typeface="Poppins" pitchFamily="34" charset="-122"/>
                <a:cs typeface="Poppins" pitchFamily="34" charset="0"/>
              </a:rPr>
              <a:t>Rows, posts, shifts and mails go out </a:t>
            </a:r>
            <a:r>
              <a:rPr lang="en-US" sz="1400" b="1" dirty="0">
                <a:solidFill>
                  <a:srgbClr val="1B365D"/>
                </a:solidFill>
                <a:latin typeface="Poppins Bold" pitchFamily="34" charset="0"/>
                <a:ea typeface="Poppins Bold" pitchFamily="34" charset="-122"/>
                <a:cs typeface="Poppins Bold" pitchFamily="34" charset="0"/>
              </a:rPr>
              <a:t>after a confirmation</a:t>
            </a:r>
            <a:r>
              <a:rPr lang="en-US" sz="1400" dirty="0">
                <a:solidFill>
                  <a:srgbClr val="1B365D"/>
                </a:solidFill>
                <a:latin typeface="Poppins" pitchFamily="34" charset="0"/>
                <a:ea typeface="Poppins" pitchFamily="34" charset="-122"/>
                <a:cs typeface="Poppins" pitchFamily="34" charset="0"/>
              </a:rPr>
              <a:t>, with credentials you chose on purpose</a:t>
            </a:r>
            <a:endParaRPr lang="en-US" sz="1400" dirty="0"/>
          </a:p>
          <a:p>
            <a:pPr marL="284480" indent="-284480" algn="l">
              <a:lnSpc>
                <a:spcPct val="125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activity map</a:t>
            </a:r>
            <a:r>
              <a:rPr lang="en-US" sz="1400" dirty="0">
                <a:solidFill>
                  <a:srgbClr val="1B365D"/>
                </a:solidFill>
                <a:latin typeface="Poppins" pitchFamily="34" charset="0"/>
                <a:ea typeface="Poppins" pitchFamily="34" charset="-122"/>
                <a:cs typeface="Poppins" pitchFamily="34" charset="0"/>
              </a:rPr>
              <a:t> shows which tool ran and what it was given</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9556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6374</Words>
  <Application>Microsoft Office PowerPoint</Application>
  <PresentationFormat>Widescreen</PresentationFormat>
  <Paragraphs>433</Paragraphs>
  <Slides>33</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IBM Plex Sans</vt:lpstr>
      <vt:lpstr>Montserrat</vt:lpstr>
      <vt:lpstr>Montserrat Bold</vt:lpstr>
      <vt:lpstr>Calibri</vt:lpstr>
      <vt:lpstr>Poppins</vt:lpstr>
      <vt:lpstr>IBM Plex Sans Light</vt:lpstr>
      <vt:lpstr>Wingdings</vt:lpstr>
      <vt:lpstr>Aptos</vt:lpstr>
      <vt:lpstr>Arial</vt:lpstr>
      <vt:lpstr>Consolas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7</cp:revision>
  <dcterms:created xsi:type="dcterms:W3CDTF">2026-10-22T17:53:42Z</dcterms:created>
  <dcterms:modified xsi:type="dcterms:W3CDTF">2026-10-22T19:12:14Z</dcterms:modified>
</cp:coreProperties>
</file>