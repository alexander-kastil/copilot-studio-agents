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262" r:id="rId14"/>
    <p:sldId id="508" r:id="rId15"/>
    <p:sldId id="263" r:id="rId16"/>
    <p:sldId id="264" r:id="rId17"/>
    <p:sldId id="509" r:id="rId18"/>
    <p:sldId id="265" r:id="rId19"/>
    <p:sldId id="266" r:id="rId20"/>
    <p:sldId id="267" r:id="rId21"/>
    <p:sldId id="510" r:id="rId22"/>
    <p:sldId id="268" r:id="rId23"/>
    <p:sldId id="269" r:id="rId24"/>
    <p:sldId id="270" r:id="rId25"/>
  </p:sldIdLst>
  <p:sldSz cx="12192000" cy="6858000"/>
  <p:notesSz cx="6858000" cy="12192000"/>
  <p:embeddedFontLst>
    <p:embeddedFont>
      <p:font typeface="Consolas" panose="020B0609020204030204" pitchFamily="49" charset="0"/>
      <p:regular r:id="rId27"/>
      <p:bold r:id="rId28"/>
      <p:italic r:id="rId29"/>
      <p:boldItalic r:id="rId30"/>
    </p:embeddedFont>
    <p:embeddedFont>
      <p:font typeface="IBM Plex Sans" panose="020B0503050203000203" pitchFamily="34" charset="0"/>
      <p:regular r:id="rId31"/>
    </p:embeddedFont>
    <p:embeddedFont>
      <p:font typeface="IBM Plex Sans Light" panose="020B0403050203000203" pitchFamily="34" charset="0"/>
      <p:regular r:id="rId32"/>
      <p:italic r:id="rId33"/>
    </p:embeddedFont>
    <p:embeddedFont>
      <p:font typeface="Montserrat" panose="00000500000000000000" pitchFamily="2" charset="0"/>
      <p:regular r:id="rId34"/>
      <p:bold r:id="rId35"/>
      <p:italic r:id="rId36"/>
      <p:boldItalic r:id="rId37"/>
    </p:embeddedFont>
    <p:embeddedFont>
      <p:font typeface="Montserrat Bold" panose="00000800000000000000" pitchFamily="2" charset="0"/>
      <p:bold r:id="rId38"/>
    </p:embeddedFont>
    <p:embeddedFont>
      <p:font typeface="Poppins" panose="00000500000000000000" pitchFamily="2" charset="0"/>
      <p:regular r:id="rId39"/>
      <p:bold r:id="rId40"/>
    </p:embeddedFont>
    <p:embeddedFont>
      <p:font typeface="Poppins Bold" panose="00000800000000000000" pitchFamily="2" charset="0"/>
      <p:bold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38" Type="http://schemas.openxmlformats.org/officeDocument/2006/relationships/font" Target="fonts/font12.fntdata"/><Relationship Id="rId39" Type="http://schemas.openxmlformats.org/officeDocument/2006/relationships/font" Target="fonts/font13.fntdata"/><Relationship Id="rId40" Type="http://schemas.openxmlformats.org/officeDocument/2006/relationships/font" Target="fonts/font14.fntdata"/><Relationship Id="rId41" Type="http://schemas.openxmlformats.org/officeDocument/2006/relationships/font" Target="fonts/font1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2430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7426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23308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Building an agent is only half the job. This module covers what comes after it works on your screen: taking it from a personal sandbox to a production environment.</a:t>
            </a:r>
          </a:p>
          <a:p/>
          <a:p>
            <a:r>
              <a:t>Publish: one publish puts the agent into Teams, Microsoft 365 Copilot and SharePoint, and the optional topic adds websites, Direct Line and WhatsApp.</a:t>
            </a:r>
          </a:p>
          <a:p/>
          <a:p>
            <a:r>
              <a:t>Promote: solutions, deployment pipelines and Git move the agent between development, test and production without rebuilding it by hand.</a:t>
            </a:r>
          </a:p>
          <a:p/>
          <a:p>
            <a:r>
              <a:t>Build and migrate: the last topic hands the authoring to Claude Code with two Copilot Studio plugins, using the Grey Logistics IT Help Desk agent from module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five topics follow the real lifecycle of a Copilot Studio agent, and the numbered pills map each one onto this picture.</a:t>
            </a:r>
          </a:p>
          <a:p/>
          <a:p>
            <a:r>
              <a:t>Environments and solutions: a healthy setup uses development where makers build, test where changes are validated and production where agents reach real users. Solutions carry the agent between them, and Dataverse stores them.</a:t>
            </a:r>
          </a:p>
          <a:p/>
          <a:p>
            <a:r>
              <a:t>Microsoft channels: publishing creates the live version, and one publish updates Teams, Microsoft 365 Copilot and SharePoint at once.</a:t>
            </a:r>
          </a:p>
          <a:p/>
          <a:p>
            <a:r>
              <a:t>ALM and source control: deployment pipelines promote the solution from development to test to production. Git integration adds a source of truth outside Dataverse.</a:t>
            </a:r>
          </a:p>
          <a:p/>
          <a:p>
            <a:r>
              <a:t>Advanced channels: this optional topic covers agents that must reach people outside Microsoft 365, on a website, in your own app or on WhatsApp.</a:t>
            </a:r>
          </a:p>
          <a:p/>
          <a:p>
            <a:r>
              <a:t>Agentic building: Claude Code with the copilot-studio and mcs-assistant plugins clones the agent from development, edits it as .mcs.yml files and pushes it back.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Copilot Studio agent lives inside a Power Platform environment and is packaged inside a solution. This slide sets the foundation the rest of the module builds on.</a:t>
            </a:r>
          </a:p>
          <a:p/>
          <a:p>
            <a:r>
              <a:t>Power Platform Admin Center: this is the control plane. Admins create environments here, assign security and apply policies.</a:t>
            </a:r>
          </a:p>
          <a:p/>
          <a:p>
            <a:r>
              <a:t>Environment types: a tenant holds default, developer, sandbox and production environments, and the strategy for agents is development, test and production.</a:t>
            </a:r>
          </a:p>
          <a:p/>
          <a:p>
            <a:r>
              <a:t>Default and custom solution: agents land in the default solution automatically, which is fine for a quick build. For anything you plan to promote, create a custom solution with your own publisher and prefix and set it as your preferred solution before you build.</a:t>
            </a:r>
          </a:p>
          <a:p/>
          <a:p>
            <a:r>
              <a:t>Dataverse: it stores the solutions, the environment variables and the in-product pipelines.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Microsoft is retiring unmanaged developer environments, including the ones the free Power Apps Developer Plan creates on sign-up. The developer type stays, but only as a managed environment, one per user.</a:t>
            </a:r>
          </a:p>
          <a:p/>
          <a:p>
            <a:r>
              <a:t>The dates: creation of unmanaged developer environments ends on November 15, 2026. Suspension starts on December 15, 2026, and deletion of suspended environments on January 15, 2027.</a:t>
            </a:r>
          </a:p>
          <a:p/>
          <a:p>
            <a:r>
              <a:t>Admins: they filter Manage, Environments to Type Developer and Managed No and use Last activity to spot the ones in use. For each one still needed they enable Managed Environments, which needs premium licensing, or move its solutions to a sandbox.</a:t>
            </a:r>
          </a:p>
          <a:p/>
          <a:p>
            <a:r>
              <a:t>Default environment routing: admins turn it on so every maker gets a managed developer environment of their own.</a:t>
            </a:r>
          </a:p>
          <a:p/>
          <a:p>
            <a:r>
              <a:t>Makers: export the solutions from your developer environment before December 15, 2026. This is one more reason to build in a custom solution from the start, and a standard trial environment still lets you try premium capabilities.</a:t>
            </a:r>
          </a:p>
          <a:p/>
          <a:p>
            <a:r>
              <a:t>Not affected: managed developer environments, including the routed ones, and production, sandbox, trial and default environments.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agent packaged in a solution, the next step is to put it where users already work. Publishing and channels are the two halves of that step.</a:t>
            </a:r>
          </a:p>
          <a:p/>
          <a:p>
            <a:r>
              <a:t>Publishing: it creates the live version of the agent, and you must publish before anyone can use it.</a:t>
            </a:r>
          </a:p>
          <a:p/>
          <a:p>
            <a:r>
              <a:t>Every connected channel: publishing applies to all connected channels at once, so a single publish updates the agent everywhere.</a:t>
            </a:r>
          </a:p>
          <a:p/>
          <a:p>
            <a:r>
              <a:t>Microsoft channels: Teams and Microsoft 365 Copilot, and SharePoint, put the agent where Microsoft 365 users already work. The advanced channels on the right side of the diagram are the optional topic 4.</a:t>
            </a:r>
          </a:p>
          <a:p/>
          <a:p>
            <a:r>
              <a:t>Authentication model: Authenticate with Microsoft through Entra ID is the default; manual authentication and No authentication are the alternatives.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Channels page of CS-HR Buddy right after its publish in the module 3 demo. It shows how the authentication choice decides which channels you can connect.</a:t>
            </a:r>
          </a:p>
          <a:p/>
          <a:p>
            <a:r>
              <a:t>Published agent status: the page names who published the live version and when. Nothing appears in a channel before that first publish.</a:t>
            </a:r>
          </a:p>
          <a:p/>
          <a:p>
            <a:r>
              <a:t>Microsoft authentication: the banner says it plainly, only Teams and Microsoft 365 and SharePoint channels are available. That is the right setting for an internal HR agent whose users always sign in.</a:t>
            </a:r>
          </a:p>
          <a:p/>
          <a:p>
            <a:r>
              <a:t>Other channels: the tiles with the corner mark need manual authentication or No authentication. Each channel has its own connection steps, and some differ between Standard and GitHub Copilot agents.</a:t>
            </a:r>
          </a:p>
          <a:p/>
          <a:p>
            <a:r>
              <a:t>No authentication: anyone with the link can chat with the agent, and tools that rely on user credentials stop working. Choose it only for an agent that is meant to be open.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Publishing once is easy; the question is what users see after the next change. This chat in Teams comes from the module 3 demo, where one sentence was added to the Collect Employee Data topic and the agent was published again.</a:t>
            </a:r>
          </a:p>
          <a:p/>
          <a:p>
            <a:r>
              <a:t>Publish: every change reaches users only through Publish, and one publish updates Teams and Microsoft 365 Copilot at once.</a:t>
            </a:r>
          </a:p>
          <a:p/>
          <a:p>
            <a:r>
              <a:t>New session: updated content reaches users only after a new session starts, so a conversation that is already running keeps the old version.</a:t>
            </a:r>
          </a:p>
          <a:p/>
          <a:p>
            <a:r>
              <a:t>start over: typing start over in Teams forces that new session. The Publish dialog also offers Force newest version, which moves ongoing Teams chats at once but can interrupt them.</a:t>
            </a:r>
          </a:p>
          <a:p/>
          <a:p>
            <a:r>
              <a:t>New sentence: after start over the confirmation ends with "Ask me to collect your employee reward next.", the sentence the republish added.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 Lifecycle Management is the discipline of moving an agent through development, test and production in a way that is reliable and repeatable. This slide gives the model and its golden rules.</a:t>
            </a:r>
          </a:p>
          <a:p/>
          <a:p>
            <a:r>
              <a:t>Three environments: makers build in development, changes are validated in test, and agents reach real users in production.</a:t>
            </a:r>
          </a:p>
          <a:p/>
          <a:p>
            <a:r>
              <a:t>Only in development: the first golden rule is never to customize outside development.</a:t>
            </a:r>
          </a:p>
          <a:p/>
          <a:p>
            <a:r>
              <a:t>In the context of solutions: the second golden rule. Solutions are the carrier that transports the agent between the environments.</a:t>
            </a:r>
          </a:p>
          <a:p/>
          <a:p>
            <a:r>
              <a:t>Managed or unmanaged: when you import a solution into the next environment, you decide whether it arrives managed or unmanaged.</a:t>
            </a:r>
          </a:p>
          <a:p/>
          <a:p>
            <a:r>
              <a:t>Automated and auditable: without ALM, promoting an agent means rebuilding it by hand and hoping nothing drifts. Pipelines and source control turn that manual ritual into an automated, auditable release.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ALM rules say to work in solutions; this slide shows what actually travels in one and what stays behind.</a:t>
            </a:r>
          </a:p>
          <a:p/>
          <a:p>
            <a:r>
              <a:t>Custom solution: you create it and add the required objects, so the agent moves as one package between environments.</a:t>
            </a:r>
          </a:p>
          <a:p/>
          <a:p>
            <a:r>
              <a:t>Environment variables and connection references: they hold the settings that change per environment. The same agent carries different settings in dev, test and production without anyone editing the agent itself.</a:t>
            </a:r>
          </a:p>
          <a:p/>
          <a:p>
            <a:r>
              <a:t>Deployment pipelines: they deploy in one click from inside Copilot Studio. Pro-dev teams run the same promotion as CI/CD in Azure DevOps or GitHub.</a:t>
            </a:r>
          </a:p>
          <a:p/>
          <a:p>
            <a:r>
              <a:t>Native Git integration: it gives you a source of truth outside Dataverse, next to the solution in development.</a:t>
            </a:r>
          </a:p>
          <a:p/>
          <a:p>
            <a:r>
              <a:t>Post-deployment steps: deployed channels, authentication settings, sharing and Application Insights are not solution-aware. Plan them as steps in the target environment after every import.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30828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optional topic is for agents that must reach people outside Microsoft 365: on a public website, inside your own app or on a phone messenger. Each channel brings its own authentication limits.</a:t>
            </a:r>
          </a:p>
          <a:p/>
          <a:p>
            <a:r>
              <a:t>Demo website: every published agent gets one for testing with teammates and stakeholders. Learn is explicit that its URL never goes to customers.</a:t>
            </a:r>
          </a:p>
          <a:p/>
          <a:p>
            <a:r>
              <a:t>Live website: the embed code on the Web channel only appears with No authentication, because an anonymous visitor cannot sign in. Turn on secured access and use tokens.</a:t>
            </a:r>
          </a:p>
          <a:p/>
          <a:p>
            <a:r>
              <a:t>Mobile or custom app: the app talks to the agent over the Direct Line API. That is developer work, with the secret on the server and a token in the client.</a:t>
            </a:r>
          </a:p>
          <a:p/>
          <a:p>
            <a:r>
              <a:t>WhatsApp: it runs through Azure Communication Services and accepts only No authentication or manual authentication. Agents connected before October 23, 2026 keep working; no new connection can be set up after that date.</a:t>
            </a:r>
          </a:p>
          <a:p/>
          <a:p>
            <a:r>
              <a:t>Agent types: everything here applies to Standard agents. GitHub Copilot agents publish to Microsoft 365, Teams and a website today.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084182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Without further settings, anyone who knows an agent's ID can reach it through the demo and custom website channels. This slide shows how to close that door.</a:t>
            </a:r>
          </a:p>
          <a:p/>
          <a:p>
            <a:r>
              <a:t>Require secured access: it sits under Settings, Security, Web channel security. Every client must then present a Direct Line secret or a token generated from it, and the switch takes up to two hours to propagate, so plan it before a launch.</a:t>
            </a:r>
          </a:p>
          <a:p/>
          <a:p>
            <a:r>
              <a:t>Secret and token: a secret belongs only in server code. Your service exchanges it for a token that is valid for one conversation and expires unless it is refreshed.</a:t>
            </a:r>
          </a:p>
          <a:p/>
          <a:p>
            <a:r>
              <a:t>Two secrets: both work at the same time, so you move clients to the second secret and then regenerate the first.</a:t>
            </a:r>
          </a:p>
          <a:p/>
          <a:p>
            <a:r>
              <a:t>Direct Line: an app requests a token, starts a conversation, posts the user's messages and reads the agent's replies. For new apps, Learn also points to the Microsoft 365 Agents SDK client, which connects with the user's own sign-in.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30810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published agent gets a prebuilt demo website, and it exists for testing. This slide keeps it in that role.</a:t>
            </a:r>
          </a:p>
          <a:p/>
          <a:p>
            <a:r>
              <a:t>Testing with teammates: on the Demo website panel under Channels you set a welcome message and a few conversation starters, share the URL with teammates, and change the message whenever you want them to test something new.</a:t>
            </a:r>
          </a:p>
          <a:p/>
          <a:p>
            <a:r>
              <a:t>Never for customers: Learn is explicit that the demo site is not for production and that its URL never goes to customers. A live website embeds the agent with the Web channel's code or the Web Chat sample instead.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8044698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3 put agents under source control; this topic hands the authoring itself to a coding agent. Microsoft publishes two open-source plugins, and the class needs both.</a:t>
            </a:r>
          </a:p>
          <a:p/>
          <a:p>
            <a:r>
              <a:t>copilot-studio: it targets Standard agents in modules 3 to 5 and reaches Copilot Studio through the VS Code Copilot Studio extension. A session hook routes every request to one of four sub-agents, Manage, Author, Test and Advisor, which use 31 skills.</a:t>
            </a:r>
          </a:p>
          <a:p/>
          <a:p>
            <a:r>
              <a:t>mcs-assistant: it targets GitHub Copilot agents in module 6 through the Power Platform CLI 2.9.3 or later. Its migrate command moves a Standard agent to the GitHub Copilot harness, and chat tests a published agent from the terminal.</a:t>
            </a:r>
          </a:p>
          <a:p/>
          <a:p>
            <a:r>
              <a:t>One plugin per module: the migrate command warns that the two may conflict. Keep both installed and turn off the one the current module doesn't need in .claude/settings.local.json, as in the code on the left, then start a new session.</a:t>
            </a:r>
          </a:p>
          <a:p/>
          <a:p>
            <a:r>
              <a:t>Sharp edges: both plugins are experimental and the YAML schema can change without notice, so review generated YAML before you push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754582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demo hands three jobs on the Grey Logistics IT Help Desk agent to Claude Code: a review, a new topic and a move to the GitHub Copilot harness. Every change lands as a file you can diff.</a:t>
            </a:r>
          </a:p>
          <a:p/>
          <a:p>
            <a:r>
              <a:t>Clone first: the plugin can't create an agent, so you clone the existing one into src/cs-schema/agents and commit the clone.</a:t>
            </a:r>
          </a:p>
          <a:p/>
          <a:p>
            <a:r>
              <a:t>Advisor and Author: the Advisor reviews the agent and ranks its findings with file and line. The Author writes the VPN topic with three trigger phrases, a Windows or macOS question and numbered steps, and validation reports 0 errors.</a:t>
            </a:r>
          </a:p>
          <a:p/>
          <a:p>
            <a:r>
              <a:t>Pull before you push: a push over stale files fails with ConcurrencyVersionMismatch. The push creates a draft that only the canvas, the Test pane and evaluations see.</a:t>
            </a:r>
          </a:p>
          <a:p/>
          <a:p>
            <a:r>
              <a:t>Publish and point test: after you publish, the point test returns the operating system question from the new topic.</a:t>
            </a:r>
          </a:p>
          <a:p/>
          <a:p>
            <a:r>
              <a:t>Migrate: /mcs-assistant:migrate writes a MIGRATION-PLAN file, waits for your Approve and builds a new agent in which the VPN topic becomes the skill vpn-wont-connect. The original Standard agent stays unchanged.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144218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module with the habits that take an agent from a personal sandbox to a production environment.</a:t>
            </a:r>
          </a:p>
          <a:p/>
          <a:p>
            <a:r>
              <a:t>Custom solution: create it and set it as your preferred solution before you build, so every component is captured and the agent can move between environments.</a:t>
            </a:r>
          </a:p>
          <a:p/>
          <a:p>
            <a:r>
              <a:t>Publish and authenticate: one publish updates every connected channel, and the authentication model decides who can chat with the agent and which channels and tools still work.</a:t>
            </a:r>
          </a:p>
          <a:p/>
          <a:p>
            <a:r>
              <a:t>Pipelines and Git: promote the solution through development, test and production, then set up channels, authentication, sharing and Application Insights in the target.</a:t>
            </a:r>
          </a:p>
          <a:p/>
          <a:p>
            <a:r>
              <a:t>Coding agent: with the copilot-studio and mcs-assistant plugins every change becomes a file you can diff and review, and the portal stays the place to publish.</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118232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131517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2416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3603541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1297933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7</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Publishing &amp; Maintaining Copilot Studio Agents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Everything that happens after the agent works on your screen</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Automate Business Processes with Copilot Studio and Copilot Cowork</a:t>
            </a:r>
          </a:p>
        </p:txBody>
      </p:sp>
    </p:spTree>
    <p:extLst>
      <p:ext uri="{BB962C8B-B14F-4D97-AF65-F5344CB8AC3E}">
        <p14:creationId xmlns:p14="http://schemas.microsoft.com/office/powerpoint/2010/main" val="2684781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Environments, Solutions &amp; the Admin Center</a:t>
            </a:r>
          </a:p>
          <a:p>
            <a:pPr>
              <a:lnSpc>
                <a:spcPct val="95000"/>
              </a:lnSpc>
              <a:spcBef>
                <a:spcPts val="600"/>
              </a:spcBef>
            </a:pPr>
            <a:r>
              <a:rPr sz="1200" b="0">
                <a:solidFill>
                  <a:srgbClr val="595F67"/>
                </a:solidFill>
                <a:latin typeface="Poppins"/>
              </a:rPr>
              <a:t>Environment types, solutions and Dataverse</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Publishing Agents &amp; Microsoft Channels</a:t>
            </a:r>
          </a:p>
          <a:p>
            <a:pPr>
              <a:lnSpc>
                <a:spcPct val="95000"/>
              </a:lnSpc>
              <a:spcBef>
                <a:spcPts val="600"/>
              </a:spcBef>
            </a:pPr>
            <a:r>
              <a:rPr sz="1200" b="0">
                <a:solidFill>
                  <a:srgbClr val="595F67"/>
                </a:solidFill>
                <a:latin typeface="Poppins"/>
              </a:rPr>
              <a:t>Publish, authentication, Teams and SharePoint</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Application Lifecycle Management &amp; Source Control</a:t>
            </a:r>
          </a:p>
          <a:p>
            <a:pPr>
              <a:lnSpc>
                <a:spcPct val="95000"/>
              </a:lnSpc>
              <a:spcBef>
                <a:spcPts val="600"/>
              </a:spcBef>
            </a:pPr>
            <a:r>
              <a:rPr sz="1200" b="0">
                <a:solidFill>
                  <a:srgbClr val="595F67"/>
                </a:solidFill>
                <a:latin typeface="Poppins"/>
              </a:rPr>
              <a:t>Solutions, pipelines and Git</a:t>
            </a:r>
          </a:p>
        </p:txBody>
      </p:sp>
      <p:sp>
        <p:nvSpPr>
          <p:cNvPr id="14" name="gd-topics-box"/>
          <p:cNvSpPr/>
          <p:nvPr/>
        </p:nvSpPr>
        <p:spPr>
          <a:xfrm>
            <a:off x="2611944"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2611944"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2841944"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2841944"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Using Advanced Channels: WhatsApp, Web &amp; Direct Line</a:t>
            </a:r>
          </a:p>
          <a:p>
            <a:pPr>
              <a:lnSpc>
                <a:spcPct val="95000"/>
              </a:lnSpc>
              <a:spcBef>
                <a:spcPts val="600"/>
              </a:spcBef>
            </a:pPr>
            <a:r>
              <a:rPr sz="1200" b="0">
                <a:solidFill>
                  <a:srgbClr val="595F67"/>
                </a:solidFill>
                <a:latin typeface="Poppins"/>
              </a:rPr>
              <a:t>Optional: websites, Direct Line and WhatsApp</a:t>
            </a:r>
          </a:p>
        </p:txBody>
      </p:sp>
      <p:sp>
        <p:nvSpPr>
          <p:cNvPr id="18" name="gd-topics-box"/>
          <p:cNvSpPr/>
          <p:nvPr/>
        </p:nvSpPr>
        <p:spPr>
          <a:xfrm>
            <a:off x="6210299"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6210299"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6440299"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6440299"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Agentic Building: Copilot Studio Plugins for Coding Agents</a:t>
            </a:r>
          </a:p>
          <a:p>
            <a:pPr>
              <a:lnSpc>
                <a:spcPct val="95000"/>
              </a:lnSpc>
              <a:spcBef>
                <a:spcPts val="600"/>
              </a:spcBef>
            </a:pPr>
            <a:r>
              <a:rPr sz="1200" b="0">
                <a:solidFill>
                  <a:srgbClr val="595F67"/>
                </a:solidFill>
                <a:latin typeface="Poppins"/>
              </a:rPr>
              <a:t>Build and migrate agents from the terminal</a:t>
            </a:r>
          </a:p>
        </p:txBody>
      </p:sp>
      <p:sp>
        <p:nvSpPr>
          <p:cNvPr id="2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425185"/>
            <a:ext cx="4824773" cy="1515223"/>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Publishing &amp; Maintaining Copilot Studio Agents</a:t>
            </a:r>
            <a:endParaRPr lang="en-US" sz="3700" dirty="0"/>
          </a:p>
        </p:txBody>
      </p:sp>
      <p:sp>
        <p:nvSpPr>
          <p:cNvPr id="4" name="Text 1"/>
          <p:cNvSpPr/>
          <p:nvPr/>
        </p:nvSpPr>
        <p:spPr>
          <a:xfrm>
            <a:off x="609600" y="3092808"/>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Everything that happens after the agent works on your screen</a:t>
            </a:r>
            <a:endParaRPr lang="en-US" sz="2200" dirty="0"/>
          </a:p>
        </p:txBody>
      </p:sp>
      <p:sp>
        <p:nvSpPr>
          <p:cNvPr id="5" name="Text 2"/>
          <p:cNvSpPr/>
          <p:nvPr/>
        </p:nvSpPr>
        <p:spPr>
          <a:xfrm>
            <a:off x="609600" y="3948311"/>
            <a:ext cx="4824773" cy="145524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Publish</a:t>
            </a:r>
            <a:r>
              <a:rPr lang="en-US" sz="1400" dirty="0">
                <a:solidFill>
                  <a:srgbClr val="1B365D"/>
                </a:solidFill>
                <a:latin typeface="Poppins" pitchFamily="34" charset="0"/>
                <a:ea typeface="Poppins" pitchFamily="34" charset="-122"/>
                <a:cs typeface="Poppins" pitchFamily="34" charset="0"/>
              </a:rPr>
              <a:t> to the channels where people already work</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Promote</a:t>
            </a:r>
            <a:r>
              <a:rPr lang="en-US" sz="1400" dirty="0">
                <a:solidFill>
                  <a:srgbClr val="1B365D"/>
                </a:solidFill>
                <a:latin typeface="Poppins" pitchFamily="34" charset="0"/>
                <a:ea typeface="Poppins" pitchFamily="34" charset="-122"/>
                <a:cs typeface="Poppins" pitchFamily="34" charset="0"/>
              </a:rPr>
              <a:t> from development to test to production with solutions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Build and migrate</a:t>
            </a:r>
            <a:r>
              <a:rPr lang="en-US" sz="1400" dirty="0">
                <a:solidFill>
                  <a:srgbClr val="1B365D"/>
                </a:solidFill>
                <a:latin typeface="Poppins" pitchFamily="34" charset="0"/>
                <a:ea typeface="Poppins" pitchFamily="34" charset="-122"/>
                <a:cs typeface="Poppins" pitchFamily="34" charset="0"/>
              </a:rPr>
              <a:t> agents from the terminal with coding agents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Overview</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Five topics along the lifecycle of an agent</a:t>
            </a:r>
            <a:endParaRPr lang="en-US" sz="2200" dirty="0"/>
          </a:p>
        </p:txBody>
      </p:sp>
      <p:sp>
        <p:nvSpPr>
          <p:cNvPr id="4" name="Text 2"/>
          <p:cNvSpPr/>
          <p:nvPr/>
        </p:nvSpPr>
        <p:spPr>
          <a:xfrm>
            <a:off x="609600" y="2714767"/>
            <a:ext cx="4575839"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Environments and solutions</a:t>
            </a:r>
            <a:r>
              <a:rPr lang="en-US" sz="1400" dirty="0">
                <a:solidFill>
                  <a:srgbClr val="1B365D"/>
                </a:solidFill>
                <a:latin typeface="Poppins" pitchFamily="34" charset="0"/>
                <a:ea typeface="Poppins" pitchFamily="34" charset="-122"/>
                <a:cs typeface="Poppins" pitchFamily="34" charset="0"/>
              </a:rPr>
              <a:t>: development, test and production, with Dataverse holding the solution</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Microsoft channels</a:t>
            </a:r>
            <a:r>
              <a:rPr lang="en-US" sz="1400" dirty="0">
                <a:solidFill>
                  <a:srgbClr val="1B365D"/>
                </a:solidFill>
                <a:latin typeface="Poppins" pitchFamily="34" charset="0"/>
                <a:ea typeface="Poppins" pitchFamily="34" charset="-122"/>
                <a:cs typeface="Poppins" pitchFamily="34" charset="0"/>
              </a:rPr>
              <a:t>: one publish reaches Teams, Microsoft 365 Copilot and SharePoint</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ALM and source control</a:t>
            </a:r>
            <a:r>
              <a:rPr lang="en-US" sz="1400" dirty="0">
                <a:solidFill>
                  <a:srgbClr val="1B365D"/>
                </a:solidFill>
                <a:latin typeface="Poppins" pitchFamily="34" charset="0"/>
                <a:ea typeface="Poppins" pitchFamily="34" charset="-122"/>
                <a:cs typeface="Poppins" pitchFamily="34" charset="0"/>
              </a:rPr>
              <a:t>: deployment pipelines and Git move the solution forward</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Advanced channels</a:t>
            </a:r>
            <a:r>
              <a:rPr lang="en-US" sz="1400" dirty="0">
                <a:solidFill>
                  <a:srgbClr val="1B365D"/>
                </a:solidFill>
                <a:latin typeface="Poppins" pitchFamily="34" charset="0"/>
                <a:ea typeface="Poppins" pitchFamily="34" charset="-122"/>
                <a:cs typeface="Poppins" pitchFamily="34" charset="0"/>
              </a:rPr>
              <a:t> (optional): websites, Direct Line and WhatsApp</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Agentic building</a:t>
            </a:r>
            <a:r>
              <a:rPr lang="en-US" sz="1400" dirty="0">
                <a:solidFill>
                  <a:srgbClr val="1B365D"/>
                </a:solidFill>
                <a:latin typeface="Poppins" pitchFamily="34" charset="0"/>
                <a:ea typeface="Poppins" pitchFamily="34" charset="-122"/>
                <a:cs typeface="Poppins" pitchFamily="34" charset="0"/>
              </a:rPr>
              <a:t>: a coding agent clones and pushes the agent as files</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Environments, Solutions &amp; the Admin Center</a:t>
            </a:r>
          </a:p>
          <a:p>
            <a:pPr>
              <a:lnSpc>
                <a:spcPct val="95000"/>
              </a:lnSpc>
              <a:spcBef>
                <a:spcPts val="1400"/>
              </a:spcBef>
            </a:pPr>
            <a:r>
              <a:rPr sz="2000" b="0">
                <a:solidFill>
                  <a:srgbClr val="595F67"/>
                </a:solidFill>
                <a:latin typeface="Poppins"/>
              </a:rPr>
              <a:t>Environment types, solutions and Dataverse</a:t>
            </a:r>
          </a:p>
        </p:txBody>
      </p:sp>
      <p:sp>
        <p:nvSpPr>
          <p:cNvPr id="5" name="gd-topics-box"/>
          <p:cNvSpPr/>
          <p:nvPr/>
        </p:nvSpPr>
        <p:spPr>
          <a:xfrm>
            <a:off x="6100000"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Environments, solutions and Dataverse</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Where every agent lives and how it is packaged</a:t>
            </a:r>
            <a:endParaRPr lang="en-US" sz="2200" dirty="0"/>
          </a:p>
        </p:txBody>
      </p:sp>
      <p:sp>
        <p:nvSpPr>
          <p:cNvPr id="4" name="Text 2"/>
          <p:cNvSpPr/>
          <p:nvPr/>
        </p:nvSpPr>
        <p:spPr>
          <a:xfrm>
            <a:off x="609600" y="2839577"/>
            <a:ext cx="4575839"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Power Platform Admin Center</a:t>
            </a:r>
            <a:r>
              <a:rPr lang="en-US" sz="1400" dirty="0">
                <a:solidFill>
                  <a:srgbClr val="1B365D"/>
                </a:solidFill>
                <a:latin typeface="Poppins" pitchFamily="34" charset="0"/>
                <a:ea typeface="Poppins" pitchFamily="34" charset="-122"/>
                <a:cs typeface="Poppins" pitchFamily="34" charset="0"/>
              </a:rPr>
              <a:t>: admins create environments, assign security and apply policies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Environment types</a:t>
            </a:r>
            <a:r>
              <a:rPr lang="en-US" sz="1400" dirty="0">
                <a:solidFill>
                  <a:srgbClr val="1B365D"/>
                </a:solidFill>
                <a:latin typeface="Poppins" pitchFamily="34" charset="0"/>
                <a:ea typeface="Poppins" pitchFamily="34" charset="-122"/>
                <a:cs typeface="Poppins" pitchFamily="34" charset="0"/>
              </a:rPr>
              <a:t>: default, developer, sandbox and production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New agents land in the </a:t>
            </a:r>
            <a:r>
              <a:rPr lang="en-US" sz="1400" b="1" dirty="0">
                <a:solidFill>
                  <a:srgbClr val="1B365D"/>
                </a:solidFill>
                <a:latin typeface="Poppins" pitchFamily="34" charset="0"/>
                <a:ea typeface="Poppins" pitchFamily="34" charset="-122"/>
                <a:cs typeface="Poppins" pitchFamily="34" charset="0"/>
              </a:rPr>
              <a:t>default solution</a:t>
            </a:r>
            <a:r>
              <a:rPr lang="en-US" sz="1400" dirty="0">
                <a:solidFill>
                  <a:srgbClr val="1B365D"/>
                </a:solidFill>
                <a:latin typeface="Poppins" pitchFamily="34" charset="0"/>
                <a:ea typeface="Poppins" pitchFamily="34" charset="-122"/>
                <a:cs typeface="Poppins" pitchFamily="34" charset="0"/>
              </a:rPr>
              <a:t>; a </a:t>
            </a:r>
            <a:r>
              <a:rPr lang="en-US" sz="1400" b="1" dirty="0">
                <a:solidFill>
                  <a:srgbClr val="1B365D"/>
                </a:solidFill>
                <a:latin typeface="Poppins" pitchFamily="34" charset="0"/>
                <a:ea typeface="Poppins" pitchFamily="34" charset="-122"/>
                <a:cs typeface="Poppins" pitchFamily="34" charset="0"/>
              </a:rPr>
              <a:t>custom solution</a:t>
            </a:r>
            <a:r>
              <a:rPr lang="en-US" sz="1400" dirty="0">
                <a:solidFill>
                  <a:srgbClr val="1B365D"/>
                </a:solidFill>
                <a:latin typeface="Poppins" pitchFamily="34" charset="0"/>
                <a:ea typeface="Poppins" pitchFamily="34" charset="-122"/>
                <a:cs typeface="Poppins" pitchFamily="34" charset="0"/>
              </a:rPr>
              <a:t> set as preferred captures every component</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Dataverse</a:t>
            </a:r>
            <a:r>
              <a:rPr lang="en-US" sz="1400" dirty="0">
                <a:solidFill>
                  <a:srgbClr val="1B365D"/>
                </a:solidFill>
                <a:latin typeface="Poppins" pitchFamily="34" charset="0"/>
                <a:ea typeface="Poppins" pitchFamily="34" charset="-122"/>
                <a:cs typeface="Poppins" pitchFamily="34" charset="0"/>
              </a:rPr>
              <a:t> stores solutions, environment variables and in-product pipelines</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Unmanaged developer environments</a:t>
            </a:r>
            <a:endParaRPr lang="en-US" sz="275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Creation ends November 15, 2026; suspension follows on December 15</a:t>
            </a:r>
            <a:endParaRPr lang="en-US" sz="1650" dirty="0"/>
          </a:p>
        </p:txBody>
      </p:sp>
      <p:pic>
        <p:nvPicPr>
          <p:cNvPr id="4" name="Image 0" descr="preencoded.png"/>
          <p:cNvPicPr>
            <a:picLocks noChangeAspect="1"/>
          </p:cNvPicPr>
          <p:nvPr/>
        </p:nvPicPr>
        <p:blipFill>
          <a:blip r:embed="rId3"/>
          <a:stretch>
            <a:fillRect/>
          </a:stretch>
        </p:blipFill>
        <p:spPr>
          <a:xfrm>
            <a:off x="661475" y="1445022"/>
            <a:ext cx="8151509" cy="4585295"/>
          </a:xfrm>
          <a:prstGeom prst="rect">
            <a:avLst/>
          </a:prstGeom>
        </p:spPr>
      </p:pic>
      <p:sp>
        <p:nvSpPr>
          <p:cNvPr id="5" name="Text 2"/>
          <p:cNvSpPr/>
          <p:nvPr/>
        </p:nvSpPr>
        <p:spPr>
          <a:xfrm>
            <a:off x="609600" y="6157260"/>
            <a:ext cx="11176000" cy="173633"/>
          </a:xfrm>
          <a:prstGeom prst="rect">
            <a:avLst/>
          </a:prstGeom>
          <a:noFill/>
          <a:ln/>
        </p:spPr>
        <p:txBody>
          <a:bodyPr wrap="none" lIns="0" tIns="0" rIns="0" bIns="0" rtlCol="0" anchor="t"/>
          <a:lstStyle/>
          <a:p>
            <a:pPr marL="223520" indent="-223520" algn="l">
              <a:lnSpc>
                <a:spcPct val="102000"/>
              </a:lnSpc>
              <a:buSzPct val="100000"/>
              <a:buChar char="•"/>
            </a:pPr>
            <a:r>
              <a:rPr lang="en-US" sz="1100" dirty="0">
                <a:solidFill>
                  <a:srgbClr val="1B365D"/>
                </a:solidFill>
                <a:latin typeface="Poppins" pitchFamily="34" charset="0"/>
                <a:ea typeface="Poppins" pitchFamily="34" charset="-122"/>
                <a:cs typeface="Poppins" pitchFamily="34" charset="0"/>
              </a:rPr>
              <a:t>Export your solutions or move to a </a:t>
            </a:r>
            <a:r>
              <a:rPr lang="en-US" sz="1100" b="1" dirty="0">
                <a:solidFill>
                  <a:srgbClr val="1B365D"/>
                </a:solidFill>
                <a:latin typeface="Poppins" pitchFamily="34" charset="0"/>
                <a:ea typeface="Poppins" pitchFamily="34" charset="-122"/>
                <a:cs typeface="Poppins" pitchFamily="34" charset="0"/>
              </a:rPr>
              <a:t>managed environment</a:t>
            </a:r>
            <a:r>
              <a:rPr lang="en-US" sz="1100" dirty="0">
                <a:solidFill>
                  <a:srgbClr val="1B365D"/>
                </a:solidFill>
                <a:latin typeface="Poppins" pitchFamily="34" charset="0"/>
                <a:ea typeface="Poppins" pitchFamily="34" charset="-122"/>
                <a:cs typeface="Poppins" pitchFamily="34" charset="0"/>
              </a:rPr>
              <a:t> before December 15, 2026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Publishing Agents &amp; Microsoft Channels</a:t>
            </a:r>
          </a:p>
          <a:p>
            <a:pPr>
              <a:lnSpc>
                <a:spcPct val="95000"/>
              </a:lnSpc>
              <a:spcBef>
                <a:spcPts val="1400"/>
              </a:spcBef>
            </a:pPr>
            <a:r>
              <a:rPr sz="2000" b="0">
                <a:solidFill>
                  <a:srgbClr val="595F67"/>
                </a:solidFill>
                <a:latin typeface="Poppins"/>
              </a:rPr>
              <a:t>Publish, authentication, Teams and SharePoint</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Publishing and channels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One publish updates every connected channel</a:t>
            </a:r>
            <a:endParaRPr lang="en-US" sz="2200" dirty="0"/>
          </a:p>
        </p:txBody>
      </p:sp>
      <p:sp>
        <p:nvSpPr>
          <p:cNvPr id="4" name="Text 2"/>
          <p:cNvSpPr/>
          <p:nvPr/>
        </p:nvSpPr>
        <p:spPr>
          <a:xfrm>
            <a:off x="609600" y="3089196"/>
            <a:ext cx="457583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Publishing</a:t>
            </a:r>
            <a:r>
              <a:rPr lang="en-US" sz="1400" dirty="0">
                <a:solidFill>
                  <a:srgbClr val="1B365D"/>
                </a:solidFill>
                <a:latin typeface="Poppins" pitchFamily="34" charset="0"/>
                <a:ea typeface="Poppins" pitchFamily="34" charset="-122"/>
                <a:cs typeface="Poppins" pitchFamily="34" charset="0"/>
              </a:rPr>
              <a:t> creates the live version; nobody can use the agent before you publish</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One publish updates </a:t>
            </a:r>
            <a:r>
              <a:rPr lang="en-US" sz="1400" b="1" dirty="0">
                <a:solidFill>
                  <a:srgbClr val="1B365D"/>
                </a:solidFill>
                <a:latin typeface="Poppins" pitchFamily="34" charset="0"/>
                <a:ea typeface="Poppins" pitchFamily="34" charset="-122"/>
                <a:cs typeface="Poppins" pitchFamily="34" charset="0"/>
              </a:rPr>
              <a:t>every connected channel</a:t>
            </a:r>
            <a:r>
              <a:rPr lang="en-US" sz="1400" dirty="0">
                <a:solidFill>
                  <a:srgbClr val="1B365D"/>
                </a:solidFill>
                <a:latin typeface="Poppins" pitchFamily="34" charset="0"/>
                <a:ea typeface="Poppins" pitchFamily="34" charset="-122"/>
                <a:cs typeface="Poppins" pitchFamily="34" charset="0"/>
              </a:rPr>
              <a:t> at once</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Microsoft channels</a:t>
            </a:r>
            <a:r>
              <a:rPr lang="en-US" sz="1400" dirty="0">
                <a:solidFill>
                  <a:srgbClr val="1B365D"/>
                </a:solidFill>
                <a:latin typeface="Poppins" pitchFamily="34" charset="0"/>
                <a:ea typeface="Poppins" pitchFamily="34" charset="-122"/>
                <a:cs typeface="Poppins" pitchFamily="34" charset="0"/>
              </a:rPr>
              <a:t>: Teams and Microsoft 365 Copilot, and SharePoint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pitchFamily="34" charset="0"/>
                <a:ea typeface="Poppins" pitchFamily="34" charset="-122"/>
                <a:cs typeface="Poppins" pitchFamily="34" charset="0"/>
              </a:rPr>
              <a:t>authentication model</a:t>
            </a:r>
            <a:r>
              <a:rPr lang="en-US" sz="1400" dirty="0">
                <a:solidFill>
                  <a:srgbClr val="1B365D"/>
                </a:solidFill>
                <a:latin typeface="Poppins" pitchFamily="34" charset="0"/>
                <a:ea typeface="Poppins" pitchFamily="34" charset="-122"/>
                <a:cs typeface="Poppins" pitchFamily="34" charset="0"/>
              </a:rPr>
              <a:t> is chosen at publish time: Entra ID by default, manual or none</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Authentication and channel choice</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The Channels page of a published agent</a:t>
            </a:r>
            <a:endParaRPr lang="en-US" sz="2200" dirty="0"/>
          </a:p>
        </p:txBody>
      </p:sp>
      <p:sp>
        <p:nvSpPr>
          <p:cNvPr id="4" name="Text 2"/>
          <p:cNvSpPr/>
          <p:nvPr/>
        </p:nvSpPr>
        <p:spPr>
          <a:xfrm>
            <a:off x="609600" y="3089196"/>
            <a:ext cx="457583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Published agent status</a:t>
            </a:r>
            <a:r>
              <a:rPr lang="en-US" sz="1400" dirty="0">
                <a:solidFill>
                  <a:srgbClr val="1B365D"/>
                </a:solidFill>
                <a:latin typeface="Poppins" pitchFamily="34" charset="0"/>
                <a:ea typeface="Poppins" pitchFamily="34" charset="-122"/>
                <a:cs typeface="Poppins" pitchFamily="34" charset="0"/>
              </a:rPr>
              <a:t> shows who published and when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With </a:t>
            </a:r>
            <a:r>
              <a:rPr lang="en-US" sz="1400" b="1" dirty="0">
                <a:solidFill>
                  <a:srgbClr val="1B365D"/>
                </a:solidFill>
                <a:latin typeface="Poppins" pitchFamily="34" charset="0"/>
                <a:ea typeface="Poppins" pitchFamily="34" charset="-122"/>
                <a:cs typeface="Poppins" pitchFamily="34" charset="0"/>
              </a:rPr>
              <a:t>Microsoft authentication</a:t>
            </a:r>
            <a:r>
              <a:rPr lang="en-US" sz="1400" dirty="0">
                <a:solidFill>
                  <a:srgbClr val="1B365D"/>
                </a:solidFill>
                <a:latin typeface="Poppins" pitchFamily="34" charset="0"/>
                <a:ea typeface="Poppins" pitchFamily="34" charset="-122"/>
                <a:cs typeface="Poppins" pitchFamily="34" charset="0"/>
              </a:rPr>
              <a:t>, only Teams and Microsoft 365 and SharePoint are available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Other channels need </a:t>
            </a:r>
            <a:r>
              <a:rPr lang="en-US" sz="1400" b="1" dirty="0">
                <a:solidFill>
                  <a:srgbClr val="1B365D"/>
                </a:solidFill>
                <a:latin typeface="Poppins" pitchFamily="34" charset="0"/>
                <a:ea typeface="Poppins" pitchFamily="34" charset="-122"/>
                <a:cs typeface="Poppins" pitchFamily="34" charset="0"/>
              </a:rPr>
              <a:t>manual</a:t>
            </a:r>
            <a:r>
              <a:rPr lang="en-US" sz="1400" dirty="0">
                <a:solidFill>
                  <a:srgbClr val="1B365D"/>
                </a:solidFill>
                <a:latin typeface="Poppins" pitchFamily="34" charset="0"/>
                <a:ea typeface="Poppins" pitchFamily="34" charset="-122"/>
                <a:cs typeface="Poppins" pitchFamily="34" charset="0"/>
              </a:rPr>
              <a:t> or </a:t>
            </a:r>
            <a:r>
              <a:rPr lang="en-US" sz="1400" b="1" dirty="0">
                <a:solidFill>
                  <a:srgbClr val="1B365D"/>
                </a:solidFill>
                <a:latin typeface="Poppins" pitchFamily="34" charset="0"/>
                <a:ea typeface="Poppins" pitchFamily="34" charset="-122"/>
                <a:cs typeface="Poppins" pitchFamily="34" charset="0"/>
              </a:rPr>
              <a:t>No authentication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No authentication lets anyone with the link chat and blocks tools that rely on </a:t>
            </a:r>
            <a:r>
              <a:rPr lang="en-US" sz="1400" b="1" dirty="0">
                <a:solidFill>
                  <a:srgbClr val="1B365D"/>
                </a:solidFill>
                <a:latin typeface="Poppins" pitchFamily="34" charset="0"/>
                <a:ea typeface="Poppins" pitchFamily="34" charset="-122"/>
                <a:cs typeface="Poppins" pitchFamily="34" charset="0"/>
              </a:rPr>
              <a:t>user credentials</a:t>
            </a:r>
            <a:endParaRPr lang="en-US" sz="1450" dirty="0"/>
          </a:p>
        </p:txBody>
      </p:sp>
      <p:pic>
        <p:nvPicPr>
          <p:cNvPr id="5" name="Image 0" descr="preencoded.png"/>
          <p:cNvPicPr>
            <a:picLocks noChangeAspect="1"/>
          </p:cNvPicPr>
          <p:nvPr/>
        </p:nvPicPr>
        <p:blipFill>
          <a:blip r:embed="rId3"/>
          <a:stretch>
            <a:fillRect/>
          </a:stretch>
        </p:blipFill>
        <p:spPr>
          <a:xfrm>
            <a:off x="5652946" y="2757091"/>
            <a:ext cx="5295768" cy="26479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Republishing a change</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One publish, then a new session in Teams</a:t>
            </a:r>
            <a:endParaRPr lang="en-US" sz="2200" dirty="0"/>
          </a:p>
        </p:txBody>
      </p:sp>
      <p:sp>
        <p:nvSpPr>
          <p:cNvPr id="4" name="Text 2"/>
          <p:cNvSpPr/>
          <p:nvPr/>
        </p:nvSpPr>
        <p:spPr>
          <a:xfrm>
            <a:off x="609600" y="3214005"/>
            <a:ext cx="4575839" cy="2050554"/>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Every change reaches users only through </a:t>
            </a:r>
            <a:r>
              <a:rPr lang="en-US" sz="1400" b="1" dirty="0">
                <a:solidFill>
                  <a:srgbClr val="1B365D"/>
                </a:solidFill>
                <a:latin typeface="Poppins" pitchFamily="34" charset="0"/>
                <a:ea typeface="Poppins" pitchFamily="34" charset="-122"/>
                <a:cs typeface="Poppins" pitchFamily="34" charset="0"/>
              </a:rPr>
              <a:t>Publish</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running conversation keeps the old version until a </a:t>
            </a:r>
            <a:r>
              <a:rPr lang="en-US" sz="1400" b="1" dirty="0">
                <a:solidFill>
                  <a:srgbClr val="1B365D"/>
                </a:solidFill>
                <a:latin typeface="Poppins" pitchFamily="34" charset="0"/>
                <a:ea typeface="Poppins" pitchFamily="34" charset="-122"/>
                <a:cs typeface="Poppins" pitchFamily="34" charset="0"/>
              </a:rPr>
              <a:t>new session</a:t>
            </a:r>
            <a:r>
              <a:rPr lang="en-US" sz="1400" dirty="0">
                <a:solidFill>
                  <a:srgbClr val="1B365D"/>
                </a:solidFill>
                <a:latin typeface="Poppins" pitchFamily="34" charset="0"/>
                <a:ea typeface="Poppins" pitchFamily="34" charset="-122"/>
                <a:cs typeface="Poppins" pitchFamily="34" charset="0"/>
              </a:rPr>
              <a:t> starts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start over</a:t>
            </a:r>
            <a:r>
              <a:rPr lang="en-US" sz="1400" dirty="0">
                <a:solidFill>
                  <a:srgbClr val="1B365D"/>
                </a:solidFill>
                <a:latin typeface="Poppins" pitchFamily="34" charset="0"/>
                <a:ea typeface="Poppins" pitchFamily="34" charset="-122"/>
                <a:cs typeface="Poppins" pitchFamily="34" charset="0"/>
              </a:rPr>
              <a:t> forces the new session in Teams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last answer ends with the </a:t>
            </a:r>
            <a:r>
              <a:rPr lang="en-US" sz="1400" b="1" dirty="0">
                <a:solidFill>
                  <a:srgbClr val="1B365D"/>
                </a:solidFill>
                <a:latin typeface="Poppins" pitchFamily="34" charset="0"/>
                <a:ea typeface="Poppins" pitchFamily="34" charset="-122"/>
                <a:cs typeface="Poppins" pitchFamily="34" charset="0"/>
              </a:rPr>
              <a:t>new sentence</a:t>
            </a:r>
            <a:r>
              <a:rPr lang="en-US" sz="1400" dirty="0">
                <a:solidFill>
                  <a:srgbClr val="1B365D"/>
                </a:solidFill>
                <a:latin typeface="Poppins" pitchFamily="34" charset="0"/>
                <a:ea typeface="Poppins" pitchFamily="34" charset="-122"/>
                <a:cs typeface="Poppins" pitchFamily="34" charset="0"/>
              </a:rPr>
              <a:t> from the republished topic</a:t>
            </a:r>
            <a:endParaRPr lang="en-US" sz="1450" dirty="0"/>
          </a:p>
        </p:txBody>
      </p:sp>
      <p:pic>
        <p:nvPicPr>
          <p:cNvPr id="5" name="Image 0" descr="preencoded.png"/>
          <p:cNvPicPr>
            <a:picLocks noChangeAspect="1"/>
          </p:cNvPicPr>
          <p:nvPr/>
        </p:nvPicPr>
        <p:blipFill>
          <a:blip r:embed="rId3"/>
          <a:stretch>
            <a:fillRect/>
          </a:stretch>
        </p:blipFill>
        <p:spPr>
          <a:xfrm>
            <a:off x="5652946" y="2699941"/>
            <a:ext cx="4063898" cy="27622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Application Lifecycle Management &amp; Source Control</a:t>
            </a:r>
          </a:p>
          <a:p>
            <a:pPr>
              <a:lnSpc>
                <a:spcPct val="95000"/>
              </a:lnSpc>
              <a:spcBef>
                <a:spcPts val="1400"/>
              </a:spcBef>
            </a:pPr>
            <a:r>
              <a:rPr sz="2000" b="0">
                <a:solidFill>
                  <a:srgbClr val="595F67"/>
                </a:solidFill>
                <a:latin typeface="Poppins"/>
              </a:rPr>
              <a:t>Solutions, pipelines and Git</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556440"/>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ALM for Copilot Studio agents</a:t>
            </a:r>
            <a:endParaRPr lang="en-US" sz="3700" dirty="0"/>
          </a:p>
        </p:txBody>
      </p:sp>
      <p:sp>
        <p:nvSpPr>
          <p:cNvPr id="4" name="Text 1"/>
          <p:cNvSpPr/>
          <p:nvPr/>
        </p:nvSpPr>
        <p:spPr>
          <a:xfrm>
            <a:off x="609600" y="2711935"/>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Development, test and production, always in solutions</a:t>
            </a:r>
            <a:endParaRPr lang="en-US" sz="2200" dirty="0"/>
          </a:p>
        </p:txBody>
      </p:sp>
      <p:sp>
        <p:nvSpPr>
          <p:cNvPr id="5" name="Text 2"/>
          <p:cNvSpPr/>
          <p:nvPr/>
        </p:nvSpPr>
        <p:spPr>
          <a:xfrm>
            <a:off x="609600" y="3567438"/>
            <a:ext cx="4824773" cy="2116634"/>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Three environments</a:t>
            </a:r>
            <a:r>
              <a:rPr lang="en-US" sz="1400" dirty="0">
                <a:solidFill>
                  <a:srgbClr val="1B365D"/>
                </a:solidFill>
                <a:latin typeface="Poppins" pitchFamily="34" charset="0"/>
                <a:ea typeface="Poppins" pitchFamily="34" charset="-122"/>
                <a:cs typeface="Poppins" pitchFamily="34" charset="0"/>
              </a:rPr>
              <a:t>: development, test and production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Customize </a:t>
            </a:r>
            <a:r>
              <a:rPr lang="en-US" sz="1400" b="1" dirty="0">
                <a:solidFill>
                  <a:srgbClr val="1B365D"/>
                </a:solidFill>
                <a:latin typeface="Poppins" pitchFamily="34" charset="0"/>
                <a:ea typeface="Poppins" pitchFamily="34" charset="-122"/>
                <a:cs typeface="Poppins" pitchFamily="34" charset="0"/>
              </a:rPr>
              <a:t>only in development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Always work </a:t>
            </a:r>
            <a:r>
              <a:rPr lang="en-US" sz="1400" b="1" dirty="0">
                <a:solidFill>
                  <a:srgbClr val="1B365D"/>
                </a:solidFill>
                <a:latin typeface="Poppins" pitchFamily="34" charset="0"/>
                <a:ea typeface="Poppins" pitchFamily="34" charset="-122"/>
                <a:cs typeface="Poppins" pitchFamily="34" charset="0"/>
              </a:rPr>
              <a:t>in the context of solutions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Decide </a:t>
            </a:r>
            <a:r>
              <a:rPr lang="en-US" sz="1400" b="1" dirty="0">
                <a:solidFill>
                  <a:srgbClr val="1B365D"/>
                </a:solidFill>
                <a:latin typeface="Poppins" pitchFamily="34" charset="0"/>
                <a:ea typeface="Poppins" pitchFamily="34" charset="-122"/>
                <a:cs typeface="Poppins" pitchFamily="34" charset="0"/>
              </a:rPr>
              <a:t>managed or unmanaged</a:t>
            </a:r>
            <a:r>
              <a:rPr lang="en-US" sz="1400" dirty="0">
                <a:solidFill>
                  <a:srgbClr val="1B365D"/>
                </a:solidFill>
                <a:latin typeface="Poppins" pitchFamily="34" charset="0"/>
                <a:ea typeface="Poppins" pitchFamily="34" charset="-122"/>
                <a:cs typeface="Poppins" pitchFamily="34" charset="0"/>
              </a:rPr>
              <a:t> when you import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Pipelines and source control make each release </a:t>
            </a:r>
            <a:r>
              <a:rPr lang="en-US" sz="1400" b="1" dirty="0">
                <a:solidFill>
                  <a:srgbClr val="1B365D"/>
                </a:solidFill>
                <a:latin typeface="Poppins" pitchFamily="34" charset="0"/>
                <a:ea typeface="Poppins" pitchFamily="34" charset="-122"/>
                <a:cs typeface="Poppins" pitchFamily="34" charset="0"/>
              </a:rPr>
              <a:t>automated and auditable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What a solution carries</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And what you set up after deployment</a:t>
            </a:r>
            <a:endParaRPr lang="en-US" sz="1850" dirty="0"/>
          </a:p>
        </p:txBody>
      </p:sp>
      <p:sp>
        <p:nvSpPr>
          <p:cNvPr id="4" name="Text 2"/>
          <p:cNvSpPr/>
          <p:nvPr/>
        </p:nvSpPr>
        <p:spPr>
          <a:xfrm>
            <a:off x="609600" y="2569031"/>
            <a:ext cx="4575839" cy="3704332"/>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custom solution</a:t>
            </a:r>
            <a:r>
              <a:rPr lang="en-US" sz="1400" dirty="0">
                <a:solidFill>
                  <a:srgbClr val="1B365D"/>
                </a:solidFill>
                <a:latin typeface="Poppins" pitchFamily="34" charset="0"/>
                <a:ea typeface="Poppins" pitchFamily="34" charset="-122"/>
                <a:cs typeface="Poppins" pitchFamily="34" charset="0"/>
              </a:rPr>
              <a:t> carries the agent and the objects it needs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Environment variables</a:t>
            </a:r>
            <a:r>
              <a:rPr lang="en-US" sz="1400" dirty="0">
                <a:solidFill>
                  <a:srgbClr val="1B365D"/>
                </a:solidFill>
                <a:latin typeface="Poppins" pitchFamily="34" charset="0"/>
                <a:ea typeface="Poppins" pitchFamily="34" charset="-122"/>
                <a:cs typeface="Poppins" pitchFamily="34" charset="0"/>
              </a:rPr>
              <a:t> and </a:t>
            </a:r>
            <a:r>
              <a:rPr lang="en-US" sz="1400" b="1" dirty="0">
                <a:solidFill>
                  <a:srgbClr val="1B365D"/>
                </a:solidFill>
                <a:latin typeface="Poppins Bold" pitchFamily="34" charset="0"/>
                <a:ea typeface="Poppins Bold" pitchFamily="34" charset="-122"/>
                <a:cs typeface="Poppins Bold" pitchFamily="34" charset="0"/>
              </a:rPr>
              <a:t>connection references</a:t>
            </a:r>
            <a:r>
              <a:rPr lang="en-US" sz="1400" dirty="0">
                <a:solidFill>
                  <a:srgbClr val="1B365D"/>
                </a:solidFill>
                <a:latin typeface="Poppins" pitchFamily="34" charset="0"/>
                <a:ea typeface="Poppins" pitchFamily="34" charset="-122"/>
                <a:cs typeface="Poppins" pitchFamily="34" charset="0"/>
              </a:rPr>
              <a:t> hold the settings that change per environment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Deployment pipelines</a:t>
            </a:r>
            <a:r>
              <a:rPr lang="en-US" sz="1400" dirty="0">
                <a:solidFill>
                  <a:srgbClr val="1B365D"/>
                </a:solidFill>
                <a:latin typeface="Poppins" pitchFamily="34" charset="0"/>
                <a:ea typeface="Poppins" pitchFamily="34" charset="-122"/>
                <a:cs typeface="Poppins" pitchFamily="34" charset="0"/>
              </a:rPr>
              <a:t> promote in one click inside Copilot Studio; Azure DevOps or GitHub run pro-dev CI/CD</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Native Git integration</a:t>
            </a:r>
            <a:r>
              <a:rPr lang="en-US" sz="1400" dirty="0">
                <a:solidFill>
                  <a:srgbClr val="1B365D"/>
                </a:solidFill>
                <a:latin typeface="Poppins" pitchFamily="34" charset="0"/>
                <a:ea typeface="Poppins" pitchFamily="34" charset="-122"/>
                <a:cs typeface="Poppins" pitchFamily="34" charset="0"/>
              </a:rPr>
              <a:t> keeps a source of truth outside Dataverse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Deployed channels, authentication settings, sharing and Application Insights need </a:t>
            </a:r>
            <a:r>
              <a:rPr lang="en-US" sz="1400" b="1" dirty="0">
                <a:solidFill>
                  <a:srgbClr val="1B365D"/>
                </a:solidFill>
                <a:latin typeface="Poppins Bold" pitchFamily="34" charset="0"/>
                <a:ea typeface="Poppins Bold" pitchFamily="34" charset="-122"/>
                <a:cs typeface="Poppins Bold" pitchFamily="34" charset="0"/>
              </a:rPr>
              <a:t>post-deployment steps</a:t>
            </a:r>
            <a:endParaRPr lang="en-US" sz="1450" dirty="0"/>
          </a:p>
        </p:txBody>
      </p:sp>
      <p:pic>
        <p:nvPicPr>
          <p:cNvPr id="5" name="Image 0" descr="preencoded.png"/>
          <p:cNvPicPr>
            <a:picLocks noChangeAspect="1"/>
          </p:cNvPicPr>
          <p:nvPr/>
        </p:nvPicPr>
        <p:blipFill>
          <a:blip r:embed="rId3"/>
          <a:stretch>
            <a:fillRect/>
          </a:stretch>
        </p:blipFill>
        <p:spPr>
          <a:xfrm>
            <a:off x="5652946" y="2530177"/>
            <a:ext cx="5883525" cy="3309541"/>
          </a:xfrm>
          <a:prstGeom prst="rect">
            <a:avLst/>
          </a:prstGeom>
        </p:spPr>
      </p:pic>
    </p:spTree>
    <p:extLst>
      <p:ext uri="{BB962C8B-B14F-4D97-AF65-F5344CB8AC3E}">
        <p14:creationId xmlns:p14="http://schemas.microsoft.com/office/powerpoint/2010/main" val="3294172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Using Advanced Channels: WhatsApp, Web &amp; Direct Line</a:t>
            </a:r>
          </a:p>
          <a:p>
            <a:pPr>
              <a:lnSpc>
                <a:spcPct val="95000"/>
              </a:lnSpc>
              <a:spcBef>
                <a:spcPts val="1400"/>
              </a:spcBef>
            </a:pPr>
            <a:r>
              <a:rPr sz="2000" b="0">
                <a:solidFill>
                  <a:srgbClr val="595F67"/>
                </a:solidFill>
                <a:latin typeface="Poppins"/>
              </a:rPr>
              <a:t>Optional: websites, Direct Line and WhatsApp</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Choosing an advanced channel</a:t>
            </a:r>
            <a:endParaRPr lang="en-US" sz="2700" dirty="0"/>
          </a:p>
        </p:txBody>
      </p:sp>
      <p:sp>
        <p:nvSpPr>
          <p:cNvPr id="3" name="Text 1"/>
          <p:cNvSpPr/>
          <p:nvPr/>
        </p:nvSpPr>
        <p:spPr>
          <a:xfrm>
            <a:off x="609600" y="1100568"/>
            <a:ext cx="11176000" cy="299890"/>
          </a:xfrm>
          <a:prstGeom prst="rect">
            <a:avLst/>
          </a:prstGeom>
          <a:noFill/>
          <a:ln/>
        </p:spPr>
        <p:txBody>
          <a:bodyPr wrap="square" lIns="0" tIns="0" rIns="0" bIns="0" rtlCol="0" anchor="t">
            <a:spAutoFit/>
          </a:bodyPr>
          <a:lstStyle/>
          <a:p>
            <a:pPr marL="0" indent="0" algn="l">
              <a:lnSpc>
                <a:spcPct val="101000"/>
              </a:lnSpc>
              <a:buNone/>
            </a:pPr>
            <a:r>
              <a:rPr lang="en-US" sz="2000" b="1" dirty="0">
                <a:solidFill>
                  <a:srgbClr val="0D0D0D"/>
                </a:solidFill>
                <a:latin typeface="Montserrat Bold" pitchFamily="34" charset="0"/>
                <a:ea typeface="Poppins" pitchFamily="34" charset="-122"/>
                <a:cs typeface="Poppins" pitchFamily="34" charset="0"/>
              </a:rPr>
              <a:t>Reach beyond Microsoft 365, with its own sign-in limits</a:t>
            </a:r>
            <a:endParaRPr lang="en-US" sz="1350" dirty="0"/>
          </a:p>
        </p:txBody>
      </p:sp>
      <p:pic>
        <p:nvPicPr>
          <p:cNvPr id="4" name="Image 0" descr="preencoded.png"/>
          <p:cNvPicPr>
            <a:picLocks noChangeAspect="1"/>
          </p:cNvPicPr>
          <p:nvPr/>
        </p:nvPicPr>
        <p:blipFill>
          <a:blip r:embed="rId3"/>
          <a:stretch>
            <a:fillRect/>
          </a:stretch>
        </p:blipFill>
        <p:spPr>
          <a:xfrm>
            <a:off x="661475" y="1471414"/>
            <a:ext cx="8151509" cy="4585295"/>
          </a:xfrm>
          <a:prstGeom prst="rect">
            <a:avLst/>
          </a:prstGeom>
        </p:spPr>
      </p:pic>
      <p:sp>
        <p:nvSpPr>
          <p:cNvPr id="5" name="Text 2"/>
          <p:cNvSpPr/>
          <p:nvPr/>
        </p:nvSpPr>
        <p:spPr>
          <a:xfrm>
            <a:off x="609600" y="6175054"/>
            <a:ext cx="11176000" cy="165894"/>
          </a:xfrm>
          <a:prstGeom prst="rect">
            <a:avLst/>
          </a:prstGeom>
          <a:noFill/>
          <a:ln/>
        </p:spPr>
        <p:txBody>
          <a:bodyPr wrap="none" lIns="0" tIns="0" rIns="0" bIns="0" rtlCol="0" anchor="t"/>
          <a:lstStyle/>
          <a:p>
            <a:pPr marL="0" indent="0" algn="l">
              <a:lnSpc>
                <a:spcPct val="101000"/>
              </a:lnSpc>
              <a:buNone/>
            </a:pPr>
            <a:r>
              <a:rPr lang="en-US" sz="1050" dirty="0">
                <a:solidFill>
                  <a:srgbClr val="1B365D"/>
                </a:solidFill>
                <a:latin typeface="Poppins" pitchFamily="34" charset="0"/>
                <a:ea typeface="Poppins" pitchFamily="34" charset="-122"/>
                <a:cs typeface="Poppins" pitchFamily="34" charset="0"/>
              </a:rPr>
              <a:t>Advanced channels are </a:t>
            </a:r>
            <a:r>
              <a:rPr lang="en-US" sz="1050" b="1" dirty="0">
                <a:solidFill>
                  <a:srgbClr val="1B365D"/>
                </a:solidFill>
                <a:latin typeface="Poppins Bold" pitchFamily="34" charset="0"/>
                <a:ea typeface="Poppins Bold" pitchFamily="34" charset="-122"/>
                <a:cs typeface="Poppins Bold" pitchFamily="34" charset="0"/>
              </a:rPr>
              <a:t>Standard-agent</a:t>
            </a:r>
            <a:r>
              <a:rPr lang="en-US" sz="1050" dirty="0">
                <a:solidFill>
                  <a:srgbClr val="1B365D"/>
                </a:solidFill>
                <a:latin typeface="Poppins" pitchFamily="34" charset="0"/>
                <a:ea typeface="Poppins" pitchFamily="34" charset="-122"/>
                <a:cs typeface="Poppins" pitchFamily="34" charset="0"/>
              </a:rPr>
              <a:t> channels and trade Microsoft sign-in for reach</a:t>
            </a:r>
            <a:endParaRPr lang="en-US" sz="1050" dirty="0"/>
          </a:p>
        </p:txBody>
      </p:sp>
    </p:spTree>
    <p:extLst>
      <p:ext uri="{BB962C8B-B14F-4D97-AF65-F5344CB8AC3E}">
        <p14:creationId xmlns:p14="http://schemas.microsoft.com/office/powerpoint/2010/main" val="665897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Web channel security and Direct Line</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The secret stays on the server, the client gets a token</a:t>
            </a:r>
            <a:endParaRPr lang="en-US" sz="1850" dirty="0"/>
          </a:p>
        </p:txBody>
      </p:sp>
      <p:sp>
        <p:nvSpPr>
          <p:cNvPr id="4" name="Text 2"/>
          <p:cNvSpPr/>
          <p:nvPr/>
        </p:nvSpPr>
        <p:spPr>
          <a:xfrm>
            <a:off x="609600" y="3193078"/>
            <a:ext cx="457583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Require secured access</a:t>
            </a:r>
            <a:r>
              <a:rPr lang="en-US" sz="1400" dirty="0">
                <a:solidFill>
                  <a:srgbClr val="1B365D"/>
                </a:solidFill>
                <a:latin typeface="Poppins" pitchFamily="34" charset="0"/>
                <a:ea typeface="Poppins" pitchFamily="34" charset="-122"/>
                <a:cs typeface="Poppins" pitchFamily="34" charset="0"/>
              </a:rPr>
              <a:t> makes every client present a secret or a token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secret</a:t>
            </a:r>
            <a:r>
              <a:rPr lang="en-US" sz="1400" dirty="0">
                <a:solidFill>
                  <a:srgbClr val="1B365D"/>
                </a:solidFill>
                <a:latin typeface="Poppins" pitchFamily="34" charset="0"/>
                <a:ea typeface="Poppins" pitchFamily="34" charset="-122"/>
                <a:cs typeface="Poppins" pitchFamily="34" charset="0"/>
              </a:rPr>
              <a:t> lives only in server code; browsers and apps get a </a:t>
            </a:r>
            <a:r>
              <a:rPr lang="en-US" sz="1400" b="1" dirty="0">
                <a:solidFill>
                  <a:srgbClr val="1B365D"/>
                </a:solidFill>
                <a:latin typeface="Poppins Bold" pitchFamily="34" charset="0"/>
                <a:ea typeface="Poppins Bold" pitchFamily="34" charset="-122"/>
                <a:cs typeface="Poppins Bold" pitchFamily="34" charset="0"/>
              </a:rPr>
              <a:t>token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Two secrets work at once, so you </a:t>
            </a:r>
            <a:r>
              <a:rPr lang="en-US" sz="1400" b="1" dirty="0">
                <a:solidFill>
                  <a:srgbClr val="1B365D"/>
                </a:solidFill>
                <a:latin typeface="Poppins Bold" pitchFamily="34" charset="0"/>
                <a:ea typeface="Poppins Bold" pitchFamily="34" charset="-122"/>
                <a:cs typeface="Poppins Bold" pitchFamily="34" charset="0"/>
              </a:rPr>
              <a:t>rotate without downtime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app starts a conversation, posts messages and reads replies over </a:t>
            </a:r>
            <a:r>
              <a:rPr lang="en-US" sz="1400" b="1" dirty="0">
                <a:solidFill>
                  <a:srgbClr val="1B365D"/>
                </a:solidFill>
                <a:latin typeface="Poppins Bold" pitchFamily="34" charset="0"/>
                <a:ea typeface="Poppins Bold" pitchFamily="34" charset="-122"/>
                <a:cs typeface="Poppins Bold" pitchFamily="34" charset="0"/>
              </a:rPr>
              <a:t>Direct Line</a:t>
            </a:r>
            <a:endParaRPr lang="en-US" sz="1450" dirty="0"/>
          </a:p>
        </p:txBody>
      </p:sp>
      <p:pic>
        <p:nvPicPr>
          <p:cNvPr id="5" name="Image 0" descr="preencoded.png"/>
          <p:cNvPicPr>
            <a:picLocks noChangeAspect="1"/>
          </p:cNvPicPr>
          <p:nvPr/>
        </p:nvPicPr>
        <p:blipFill>
          <a:blip r:embed="rId3"/>
          <a:stretch>
            <a:fillRect/>
          </a:stretch>
        </p:blipFill>
        <p:spPr>
          <a:xfrm>
            <a:off x="5652946" y="2530177"/>
            <a:ext cx="5883525" cy="3309541"/>
          </a:xfrm>
          <a:prstGeom prst="rect">
            <a:avLst/>
          </a:prstGeom>
        </p:spPr>
      </p:pic>
    </p:spTree>
    <p:extLst>
      <p:ext uri="{BB962C8B-B14F-4D97-AF65-F5344CB8AC3E}">
        <p14:creationId xmlns:p14="http://schemas.microsoft.com/office/powerpoint/2010/main" val="29614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127797" y="0"/>
            <a:ext cx="4063799" cy="6858000"/>
          </a:xfrm>
          <a:prstGeom prst="rect">
            <a:avLst/>
          </a:prstGeom>
        </p:spPr>
      </p:pic>
      <p:sp>
        <p:nvSpPr>
          <p:cNvPr id="3" name="Text 0"/>
          <p:cNvSpPr/>
          <p:nvPr/>
        </p:nvSpPr>
        <p:spPr>
          <a:xfrm>
            <a:off x="661475" y="2410185"/>
            <a:ext cx="6804847" cy="590649"/>
          </a:xfrm>
          <a:prstGeom prst="rect">
            <a:avLst/>
          </a:prstGeom>
          <a:noFill/>
          <a:ln/>
        </p:spPr>
        <p:txBody>
          <a:bodyPr wrap="none" lIns="0" tIns="0" rIns="0" bIns="0" rtlCol="0" anchor="t"/>
          <a:lstStyle/>
          <a:p>
            <a:pPr marL="0" indent="0" algn="l">
              <a:lnSpc>
                <a:spcPct val="104000"/>
              </a:lnSpc>
              <a:buNone/>
            </a:pPr>
            <a:r>
              <a:rPr lang="en-US" sz="3700" b="1" dirty="0">
                <a:solidFill>
                  <a:srgbClr val="1B365D"/>
                </a:solidFill>
                <a:latin typeface="Montserrat Bold" pitchFamily="34" charset="0"/>
                <a:ea typeface="Montserrat Bold" pitchFamily="34" charset="-122"/>
                <a:cs typeface="Montserrat Bold" pitchFamily="34" charset="0"/>
              </a:rPr>
              <a:t>The demo website</a:t>
            </a:r>
            <a:endParaRPr lang="en-US" sz="3700" dirty="0"/>
          </a:p>
        </p:txBody>
      </p:sp>
      <p:sp>
        <p:nvSpPr>
          <p:cNvPr id="4" name="Text 1"/>
          <p:cNvSpPr/>
          <p:nvPr/>
        </p:nvSpPr>
        <p:spPr>
          <a:xfrm>
            <a:off x="661475" y="3263702"/>
            <a:ext cx="6804847" cy="1204714"/>
          </a:xfrm>
          <a:prstGeom prst="rect">
            <a:avLst/>
          </a:prstGeom>
          <a:noFill/>
          <a:ln/>
        </p:spPr>
        <p:txBody>
          <a:bodyPr wrap="square" lIns="0" tIns="0" rIns="0" bIns="0" rtlCol="0" anchor="t"/>
          <a:lstStyle/>
          <a:p>
            <a:pPr marL="0" indent="0" algn="l">
              <a:lnSpc>
                <a:spcPct val="117000"/>
              </a:lnSpc>
              <a:spcAft>
                <a:spcPts val="1650"/>
              </a:spcAft>
              <a:buNone/>
            </a:pPr>
            <a:r>
              <a:rPr lang="en-US" sz="1850" dirty="0">
                <a:solidFill>
                  <a:srgbClr val="1B365D"/>
                </a:solidFill>
                <a:latin typeface="Poppins" pitchFamily="34" charset="0"/>
                <a:ea typeface="Poppins" pitchFamily="34" charset="-122"/>
                <a:cs typeface="Poppins" pitchFamily="34" charset="0"/>
              </a:rPr>
              <a:t>For testing with teammates, never for customers</a:t>
            </a:r>
            <a:endParaRPr lang="en-US" sz="1850" dirty="0"/>
          </a:p>
          <a:p>
            <a:pPr marL="0" indent="0" algn="l">
              <a:lnSpc>
                <a:spcPct val="117000"/>
              </a:lnSpc>
              <a:buNone/>
            </a:pPr>
            <a:r>
              <a:rPr lang="en-US" sz="1850" dirty="0">
                <a:solidFill>
                  <a:srgbClr val="1B365D"/>
                </a:solidFill>
                <a:latin typeface="Poppins" pitchFamily="34" charset="0"/>
                <a:ea typeface="Poppins" pitchFamily="34" charset="-122"/>
                <a:cs typeface="Poppins" pitchFamily="34" charset="0"/>
              </a:rPr>
              <a:t>Share the </a:t>
            </a:r>
            <a:r>
              <a:rPr lang="en-US" sz="1850" b="1" dirty="0">
                <a:solidFill>
                  <a:srgbClr val="1B365D"/>
                </a:solidFill>
                <a:latin typeface="Poppins Bold" pitchFamily="34" charset="0"/>
                <a:ea typeface="Poppins Bold" pitchFamily="34" charset="-122"/>
                <a:cs typeface="Poppins Bold" pitchFamily="34" charset="0"/>
              </a:rPr>
              <a:t>demo website</a:t>
            </a:r>
            <a:r>
              <a:rPr lang="en-US" sz="1850" dirty="0">
                <a:solidFill>
                  <a:srgbClr val="1B365D"/>
                </a:solidFill>
                <a:latin typeface="Poppins" pitchFamily="34" charset="0"/>
                <a:ea typeface="Poppins" pitchFamily="34" charset="-122"/>
                <a:cs typeface="Poppins" pitchFamily="34" charset="0"/>
              </a:rPr>
              <a:t> with teammates to test each change, and keep its URL away from customers</a:t>
            </a:r>
            <a:endParaRPr lang="en-US" sz="1850" dirty="0"/>
          </a:p>
        </p:txBody>
      </p:sp>
    </p:spTree>
    <p:extLst>
      <p:ext uri="{BB962C8B-B14F-4D97-AF65-F5344CB8AC3E}">
        <p14:creationId xmlns:p14="http://schemas.microsoft.com/office/powerpoint/2010/main" val="186242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Agentic Building: Copilot Studio Plugins for Coding Agents</a:t>
            </a:r>
          </a:p>
          <a:p>
            <a:pPr>
              <a:lnSpc>
                <a:spcPct val="95000"/>
              </a:lnSpc>
              <a:spcBef>
                <a:spcPts val="1400"/>
              </a:spcBef>
            </a:pPr>
            <a:r>
              <a:rPr sz="2000" b="0">
                <a:solidFill>
                  <a:srgbClr val="595F67"/>
                </a:solidFill>
                <a:latin typeface="Poppins"/>
              </a:rPr>
              <a:t>Build and migrate agents from the terminal</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Copilot Studio plugins for coding agents</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One plugin per agent type, one active at a time</a:t>
            </a:r>
            <a:endParaRPr lang="en-US" sz="1850" dirty="0"/>
          </a:p>
        </p:txBody>
      </p:sp>
      <p:sp>
        <p:nvSpPr>
          <p:cNvPr id="4" name="Shape 2"/>
          <p:cNvSpPr/>
          <p:nvPr/>
        </p:nvSpPr>
        <p:spPr>
          <a:xfrm>
            <a:off x="525350" y="2317552"/>
            <a:ext cx="4796214" cy="3734792"/>
          </a:xfrm>
          <a:prstGeom prst="roundRect">
            <a:avLst>
              <a:gd name="adj" fmla="val 759"/>
            </a:avLst>
          </a:prstGeom>
          <a:solidFill>
            <a:srgbClr val="F2F3F5"/>
          </a:solidFill>
          <a:ln/>
        </p:spPr>
        <p:txBody>
          <a:bodyPr/>
          <a:lstStyle/>
          <a:p>
            <a:endParaRPr/>
          </a:p>
        </p:txBody>
      </p:sp>
      <p:sp>
        <p:nvSpPr>
          <p:cNvPr id="5" name="Shape 3"/>
          <p:cNvSpPr/>
          <p:nvPr/>
        </p:nvSpPr>
        <p:spPr>
          <a:xfrm>
            <a:off x="714357" y="3088680"/>
            <a:ext cx="4418200" cy="2192536"/>
          </a:xfrm>
          <a:prstGeom prst="roundRect">
            <a:avLst>
              <a:gd name="adj" fmla="val 1293"/>
            </a:avLst>
          </a:prstGeom>
          <a:solidFill>
            <a:srgbClr val="E5E6E8"/>
          </a:solidFill>
          <a:ln/>
        </p:spPr>
        <p:txBody>
          <a:bodyPr/>
          <a:lstStyle/>
          <a:p>
            <a:endParaRPr/>
          </a:p>
        </p:txBody>
      </p:sp>
      <p:sp>
        <p:nvSpPr>
          <p:cNvPr id="6" name="Text 4"/>
          <p:cNvSpPr/>
          <p:nvPr/>
        </p:nvSpPr>
        <p:spPr>
          <a:xfrm>
            <a:off x="609600" y="3345731"/>
            <a:ext cx="4296149" cy="1814513"/>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a:t>
            </a:r>
            <a:endParaRPr lang="en-US" sz="145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  "enabledPlugins": {</a:t>
            </a:r>
            <a:endParaRPr lang="en-US" sz="145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    "mcs-assistant@copilot-studio-plugin": false</a:t>
            </a:r>
            <a:endParaRPr lang="en-US" sz="145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  }</a:t>
            </a:r>
            <a:endParaRPr lang="en-US" sz="145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a:t>
            </a:r>
            <a:endParaRPr lang="en-US" sz="1450" dirty="0"/>
          </a:p>
        </p:txBody>
      </p:sp>
      <p:pic>
        <p:nvPicPr>
          <p:cNvPr id="7" name="Image 0" descr="preencoded.png"/>
          <p:cNvPicPr>
            <a:picLocks noChangeAspect="1"/>
          </p:cNvPicPr>
          <p:nvPr/>
        </p:nvPicPr>
        <p:blipFill>
          <a:blip r:embed="rId3"/>
          <a:stretch>
            <a:fillRect/>
          </a:stretch>
        </p:blipFill>
        <p:spPr>
          <a:xfrm>
            <a:off x="5652946" y="2530177"/>
            <a:ext cx="5883525" cy="3309541"/>
          </a:xfrm>
          <a:prstGeom prst="rect">
            <a:avLst/>
          </a:prstGeom>
        </p:spPr>
      </p:pic>
    </p:spTree>
    <p:extLst>
      <p:ext uri="{BB962C8B-B14F-4D97-AF65-F5344CB8AC3E}">
        <p14:creationId xmlns:p14="http://schemas.microsoft.com/office/powerpoint/2010/main" val="3858419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Building and migrating from the terminal</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The Grey Logistics IT Help Desk, cloned, extended, published and migrated</a:t>
            </a:r>
            <a:endParaRPr lang="en-US" sz="1850" dirty="0"/>
          </a:p>
        </p:txBody>
      </p:sp>
      <p:sp>
        <p:nvSpPr>
          <p:cNvPr id="4" name="Text 2"/>
          <p:cNvSpPr/>
          <p:nvPr/>
        </p:nvSpPr>
        <p:spPr>
          <a:xfrm>
            <a:off x="609600" y="2818649"/>
            <a:ext cx="4575839" cy="343971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Clone first</a:t>
            </a:r>
            <a:r>
              <a:rPr lang="en-US" sz="1400" dirty="0">
                <a:solidFill>
                  <a:srgbClr val="1B365D"/>
                </a:solidFill>
                <a:latin typeface="Poppins" pitchFamily="34" charset="0"/>
                <a:ea typeface="Poppins" pitchFamily="34" charset="-122"/>
                <a:cs typeface="Poppins" pitchFamily="34" charset="0"/>
              </a:rPr>
              <a:t>: the plugin works only on an agent that already exists in an environment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Advisor</a:t>
            </a:r>
            <a:r>
              <a:rPr lang="en-US" sz="1400" dirty="0">
                <a:solidFill>
                  <a:srgbClr val="1B365D"/>
                </a:solidFill>
                <a:latin typeface="Poppins" pitchFamily="34" charset="0"/>
                <a:ea typeface="Poppins" pitchFamily="34" charset="-122"/>
                <a:cs typeface="Poppins" pitchFamily="34" charset="0"/>
              </a:rPr>
              <a:t> ranks findings High, Medium and Low; the </a:t>
            </a:r>
            <a:r>
              <a:rPr lang="en-US" sz="1400" b="1" dirty="0">
                <a:solidFill>
                  <a:srgbClr val="1B365D"/>
                </a:solidFill>
                <a:latin typeface="Poppins Bold" pitchFamily="34" charset="0"/>
                <a:ea typeface="Poppins Bold" pitchFamily="34" charset="-122"/>
                <a:cs typeface="Poppins Bold" pitchFamily="34" charset="0"/>
              </a:rPr>
              <a:t>Author</a:t>
            </a:r>
            <a:r>
              <a:rPr lang="en-US" sz="1400" dirty="0">
                <a:solidFill>
                  <a:srgbClr val="1B365D"/>
                </a:solidFill>
                <a:latin typeface="Poppins" pitchFamily="34" charset="0"/>
                <a:ea typeface="Poppins" pitchFamily="34" charset="-122"/>
                <a:cs typeface="Poppins" pitchFamily="34" charset="0"/>
              </a:rPr>
              <a:t> writes a validated VPN topic</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Pull before you push</a:t>
            </a:r>
            <a:r>
              <a:rPr lang="en-US" sz="1400" dirty="0">
                <a:solidFill>
                  <a:srgbClr val="1B365D"/>
                </a:solidFill>
                <a:latin typeface="Poppins" pitchFamily="34" charset="0"/>
                <a:ea typeface="Poppins" pitchFamily="34" charset="-122"/>
                <a:cs typeface="Poppins" pitchFamily="34" charset="0"/>
              </a:rPr>
              <a:t>: the push lands as a draft for the Test pane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Publish</a:t>
            </a:r>
            <a:r>
              <a:rPr lang="en-US" sz="1400" dirty="0">
                <a:solidFill>
                  <a:srgbClr val="1B365D"/>
                </a:solidFill>
                <a:latin typeface="Poppins" pitchFamily="34" charset="0"/>
                <a:ea typeface="Poppins" pitchFamily="34" charset="-122"/>
                <a:cs typeface="Poppins" pitchFamily="34" charset="0"/>
              </a:rPr>
              <a:t>, then point test with "My VPN won't connect on my laptop"</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/mcs-assistant:migrate</a:t>
            </a:r>
            <a:r>
              <a:rPr lang="en-US" sz="1400" dirty="0">
                <a:solidFill>
                  <a:srgbClr val="1B365D"/>
                </a:solidFill>
                <a:latin typeface="Poppins" pitchFamily="34" charset="0"/>
                <a:ea typeface="Poppins" pitchFamily="34" charset="-122"/>
                <a:cs typeface="Poppins" pitchFamily="34" charset="0"/>
              </a:rPr>
              <a:t> builds GH-Grey Logistics IT Help Desk; the original stays unchanged</a:t>
            </a:r>
            <a:endParaRPr lang="en-US" sz="1450" dirty="0"/>
          </a:p>
        </p:txBody>
      </p:sp>
      <p:pic>
        <p:nvPicPr>
          <p:cNvPr id="5" name="Image 0" descr="preencoded.png"/>
          <p:cNvPicPr>
            <a:picLocks noChangeAspect="1"/>
          </p:cNvPicPr>
          <p:nvPr/>
        </p:nvPicPr>
        <p:blipFill>
          <a:blip r:embed="rId3"/>
          <a:stretch>
            <a:fillRect/>
          </a:stretch>
        </p:blipFill>
        <p:spPr>
          <a:xfrm>
            <a:off x="5652946" y="2530177"/>
            <a:ext cx="5883525" cy="3309541"/>
          </a:xfrm>
          <a:prstGeom prst="rect">
            <a:avLst/>
          </a:prstGeom>
        </p:spPr>
      </p:pic>
    </p:spTree>
    <p:extLst>
      <p:ext uri="{BB962C8B-B14F-4D97-AF65-F5344CB8AC3E}">
        <p14:creationId xmlns:p14="http://schemas.microsoft.com/office/powerpoint/2010/main" val="1712228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652685"/>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Takeaways</a:t>
            </a:r>
            <a:endParaRPr lang="en-US" sz="3700" dirty="0"/>
          </a:p>
        </p:txBody>
      </p:sp>
      <p:sp>
        <p:nvSpPr>
          <p:cNvPr id="4" name="Text 1"/>
          <p:cNvSpPr/>
          <p:nvPr/>
        </p:nvSpPr>
        <p:spPr>
          <a:xfrm>
            <a:off x="609600" y="2296053"/>
            <a:ext cx="5181449" cy="696922"/>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From a personal sandbox to production</a:t>
            </a:r>
            <a:endParaRPr lang="en-US" sz="1850" dirty="0"/>
          </a:p>
        </p:txBody>
      </p:sp>
      <p:sp>
        <p:nvSpPr>
          <p:cNvPr id="5" name="Text 2"/>
          <p:cNvSpPr/>
          <p:nvPr/>
        </p:nvSpPr>
        <p:spPr>
          <a:xfrm>
            <a:off x="609600" y="3221575"/>
            <a:ext cx="4824773"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Build in a </a:t>
            </a:r>
            <a:r>
              <a:rPr lang="en-US" sz="1400" b="1" dirty="0">
                <a:solidFill>
                  <a:srgbClr val="1B365D"/>
                </a:solidFill>
                <a:latin typeface="Poppins Bold" pitchFamily="34" charset="0"/>
                <a:ea typeface="Poppins Bold" pitchFamily="34" charset="-122"/>
                <a:cs typeface="Poppins Bold" pitchFamily="34" charset="0"/>
              </a:rPr>
              <a:t>custom solution</a:t>
            </a:r>
            <a:r>
              <a:rPr lang="en-US" sz="1400" dirty="0">
                <a:solidFill>
                  <a:srgbClr val="1B365D"/>
                </a:solidFill>
                <a:latin typeface="Poppins" pitchFamily="34" charset="0"/>
                <a:ea typeface="Poppins" pitchFamily="34" charset="-122"/>
                <a:cs typeface="Poppins" pitchFamily="34" charset="0"/>
              </a:rPr>
              <a:t>, set as preferred, from the first component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Publish</a:t>
            </a:r>
            <a:r>
              <a:rPr lang="en-US" sz="1400" dirty="0">
                <a:solidFill>
                  <a:srgbClr val="1B365D"/>
                </a:solidFill>
                <a:latin typeface="Poppins" pitchFamily="34" charset="0"/>
                <a:ea typeface="Poppins" pitchFamily="34" charset="-122"/>
                <a:cs typeface="Poppins" pitchFamily="34" charset="0"/>
              </a:rPr>
              <a:t> once to every channel and choose the </a:t>
            </a:r>
            <a:r>
              <a:rPr lang="en-US" sz="1400" b="1" dirty="0">
                <a:solidFill>
                  <a:srgbClr val="1B365D"/>
                </a:solidFill>
                <a:latin typeface="Poppins Bold" pitchFamily="34" charset="0"/>
                <a:ea typeface="Poppins Bold" pitchFamily="34" charset="-122"/>
                <a:cs typeface="Poppins Bold" pitchFamily="34" charset="0"/>
              </a:rPr>
              <a:t>authentication model</a:t>
            </a:r>
            <a:r>
              <a:rPr lang="en-US" sz="1400" dirty="0">
                <a:solidFill>
                  <a:srgbClr val="1B365D"/>
                </a:solidFill>
                <a:latin typeface="Poppins" pitchFamily="34" charset="0"/>
                <a:ea typeface="Poppins" pitchFamily="34" charset="-122"/>
                <a:cs typeface="Poppins" pitchFamily="34" charset="0"/>
              </a:rPr>
              <a:t> with care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Promote with </a:t>
            </a:r>
            <a:r>
              <a:rPr lang="en-US" sz="1400" b="1" dirty="0">
                <a:solidFill>
                  <a:srgbClr val="1B365D"/>
                </a:solidFill>
                <a:latin typeface="Poppins Bold" pitchFamily="34" charset="0"/>
                <a:ea typeface="Poppins Bold" pitchFamily="34" charset="-122"/>
                <a:cs typeface="Poppins Bold" pitchFamily="34" charset="0"/>
              </a:rPr>
              <a:t>pipelines and Git</a:t>
            </a:r>
            <a:r>
              <a:rPr lang="en-US" sz="1400" dirty="0">
                <a:solidFill>
                  <a:srgbClr val="1B365D"/>
                </a:solidFill>
                <a:latin typeface="Poppins" pitchFamily="34" charset="0"/>
                <a:ea typeface="Poppins" pitchFamily="34" charset="-122"/>
                <a:cs typeface="Poppins" pitchFamily="34" charset="0"/>
              </a:rPr>
              <a:t>, then finish the </a:t>
            </a:r>
            <a:r>
              <a:rPr lang="en-US" sz="1400" b="1" dirty="0">
                <a:solidFill>
                  <a:srgbClr val="1B365D"/>
                </a:solidFill>
                <a:latin typeface="Poppins Bold" pitchFamily="34" charset="0"/>
                <a:ea typeface="Poppins Bold" pitchFamily="34" charset="-122"/>
                <a:cs typeface="Poppins Bold" pitchFamily="34" charset="0"/>
              </a:rPr>
              <a:t>post-deployment steps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Let a </a:t>
            </a:r>
            <a:r>
              <a:rPr lang="en-US" sz="1400" b="1" dirty="0">
                <a:solidFill>
                  <a:srgbClr val="1B365D"/>
                </a:solidFill>
                <a:latin typeface="Poppins Bold" pitchFamily="34" charset="0"/>
                <a:ea typeface="Poppins Bold" pitchFamily="34" charset="-122"/>
                <a:cs typeface="Poppins Bold" pitchFamily="34" charset="0"/>
              </a:rPr>
              <a:t>coding agent</a:t>
            </a:r>
            <a:r>
              <a:rPr lang="en-US" sz="1400" dirty="0">
                <a:solidFill>
                  <a:srgbClr val="1B365D"/>
                </a:solidFill>
                <a:latin typeface="Poppins" pitchFamily="34" charset="0"/>
                <a:ea typeface="Poppins" pitchFamily="34" charset="-122"/>
                <a:cs typeface="Poppins" pitchFamily="34" charset="0"/>
              </a:rPr>
              <a:t> author, validate and push the agent as files</a:t>
            </a:r>
            <a:endParaRPr lang="en-US" sz="1450" dirty="0"/>
          </a:p>
        </p:txBody>
      </p:sp>
    </p:spTree>
    <p:extLst>
      <p:ext uri="{BB962C8B-B14F-4D97-AF65-F5344CB8AC3E}">
        <p14:creationId xmlns:p14="http://schemas.microsoft.com/office/powerpoint/2010/main" val="3272421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1373</Words>
  <Application>Microsoft Office PowerPoint</Application>
  <PresentationFormat>Widescreen</PresentationFormat>
  <Paragraphs>182</Paragraphs>
  <Slides>24</Slides>
  <Notes>17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Poppins</vt:lpstr>
      <vt:lpstr>IBM Plex Sans Light</vt:lpstr>
      <vt:lpstr>IBM Plex Sans</vt:lpstr>
      <vt:lpstr>Calibri</vt:lpstr>
      <vt:lpstr>Poppins Bold</vt:lpstr>
      <vt:lpstr>Montserrat</vt:lpstr>
      <vt:lpstr>Wingdings</vt:lpstr>
      <vt:lpstr>Montserrat Bold</vt:lpstr>
      <vt:lpstr>Arial</vt:lpstr>
      <vt:lpstr>Aptos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2026-10-22T17:59:40Z</dcterms:created>
  <dcterms:modified xsi:type="dcterms:W3CDTF">2026-10-22T18:04:41Z</dcterms:modified>
</cp:coreProperties>
</file>