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502" r:id="rId2"/>
    <p:sldId id="503" r:id="rId3"/>
    <p:sldId id="504" r:id="rId4"/>
    <p:sldId id="505" r:id="rId5"/>
    <p:sldId id="256" r:id="rId6"/>
    <p:sldId id="257" r:id="rId7"/>
    <p:sldId id="506" r:id="rId8"/>
    <p:sldId id="258" r:id="rId9"/>
    <p:sldId id="259" r:id="rId10"/>
    <p:sldId id="260" r:id="rId11"/>
    <p:sldId id="507" r:id="rId12"/>
    <p:sldId id="261" r:id="rId13"/>
    <p:sldId id="262" r:id="rId14"/>
    <p:sldId id="263" r:id="rId15"/>
    <p:sldId id="508" r:id="rId16"/>
    <p:sldId id="264" r:id="rId17"/>
    <p:sldId id="265" r:id="rId18"/>
    <p:sldId id="266" r:id="rId19"/>
    <p:sldId id="509" r:id="rId20"/>
    <p:sldId id="267" r:id="rId21"/>
    <p:sldId id="268" r:id="rId22"/>
    <p:sldId id="269" r:id="rId23"/>
    <p:sldId id="510" r:id="rId24"/>
    <p:sldId id="270" r:id="rId25"/>
    <p:sldId id="271" r:id="rId26"/>
    <p:sldId id="272" r:id="rId27"/>
    <p:sldId id="273" r:id="rId28"/>
  </p:sldIdLst>
  <p:sldSz cx="12192000" cy="6858000"/>
  <p:notesSz cx="6858000" cy="12192000"/>
  <p:embeddedFontLst>
    <p:embeddedFont>
      <p:font typeface="Consolas" panose="020B0609020204030204" pitchFamily="49" charset="0"/>
      <p:regular r:id="rId30"/>
      <p:bold r:id="rId31"/>
      <p:italic r:id="rId32"/>
      <p:boldItalic r:id="rId33"/>
    </p:embeddedFont>
    <p:embeddedFont>
      <p:font typeface="IBM Plex Sans" panose="020B0503050203000203" pitchFamily="34" charset="0"/>
      <p:regular r:id="rId34"/>
      <p:boldItalic r:id="rId35"/>
    </p:embeddedFont>
    <p:embeddedFont>
      <p:font typeface="IBM Plex Sans Light" panose="020B0403050203000203" pitchFamily="34" charset="0"/>
      <p:regular r:id="rId36"/>
    </p:embeddedFont>
    <p:embeddedFont>
      <p:font typeface="Montserrat" panose="00000500000000000000" pitchFamily="2" charset="0"/>
      <p:regular r:id="rId37"/>
      <p:bold r:id="rId38"/>
      <p:italic r:id="rId39"/>
      <p:boldItalic r:id="rId40"/>
    </p:embeddedFont>
    <p:embeddedFont>
      <p:font typeface="Montserrat Bold" panose="00000800000000000000" pitchFamily="2" charset="0"/>
      <p:bold r:id="rId41"/>
    </p:embeddedFont>
    <p:embeddedFont>
      <p:font typeface="Poppins" panose="00000500000000000000" pitchFamily="2" charset="0"/>
      <p:regular r:id="rId42"/>
      <p:bold r:id="rId43"/>
    </p:embeddedFont>
    <p:embeddedFont>
      <p:font typeface="Poppins Bold" panose="00000800000000000000" pitchFamily="2" charset="0"/>
      <p:bold r:id="rId4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font" Target="fonts/font1.fntdata"/><Relationship Id="rId31" Type="http://schemas.openxmlformats.org/officeDocument/2006/relationships/font" Target="fonts/font2.fntdata"/><Relationship Id="rId32" Type="http://schemas.openxmlformats.org/officeDocument/2006/relationships/font" Target="fonts/font3.fntdata"/><Relationship Id="rId33" Type="http://schemas.openxmlformats.org/officeDocument/2006/relationships/font" Target="fonts/font4.fntdata"/><Relationship Id="rId34" Type="http://schemas.openxmlformats.org/officeDocument/2006/relationships/font" Target="fonts/font5.fntdata"/><Relationship Id="rId35" Type="http://schemas.openxmlformats.org/officeDocument/2006/relationships/font" Target="fonts/font6.fntdata"/><Relationship Id="rId36" Type="http://schemas.openxmlformats.org/officeDocument/2006/relationships/font" Target="fonts/font7.fntdata"/><Relationship Id="rId37" Type="http://schemas.openxmlformats.org/officeDocument/2006/relationships/font" Target="fonts/font8.fntdata"/><Relationship Id="rId38" Type="http://schemas.openxmlformats.org/officeDocument/2006/relationships/font" Target="fonts/font9.fntdata"/><Relationship Id="rId39" Type="http://schemas.openxmlformats.org/officeDocument/2006/relationships/font" Target="fonts/font10.fntdata"/><Relationship Id="rId40" Type="http://schemas.openxmlformats.org/officeDocument/2006/relationships/font" Target="fonts/font11.fntdata"/><Relationship Id="rId41" Type="http://schemas.openxmlformats.org/officeDocument/2006/relationships/font" Target="fonts/font12.fntdata"/><Relationship Id="rId42" Type="http://schemas.openxmlformats.org/officeDocument/2006/relationships/font" Target="fonts/font13.fntdata"/><Relationship Id="rId43" Type="http://schemas.openxmlformats.org/officeDocument/2006/relationships/font" Target="fonts/font14.fntdata"/><Relationship Id="rId44" Type="http://schemas.openxmlformats.org/officeDocument/2006/relationships/font" Target="fonts/font15.fntdata"/><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5147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0056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929185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Cowork completes the work you hand it, and a Copilot Studio agent answers when someone asks. A teammate agent holds its own identity, remembers what the team tells it and keeps a business process moving without waiting for a prompt.</a:t>
            </a:r>
          </a:p>
          <a:p/>
          <a:p>
            <a:r>
              <a:t>Autopilot: the persistent personal agent Microsoft announced on September 25, 2026. A user gives it a name, a role and a goal, and in Microsoft's supplier review example it prepares the reviews and follows up with stakeholders.</a:t>
            </a:r>
          </a:p>
          <a:p/>
          <a:p>
            <a:r>
              <a:t>Agent accounts: the build path for makers. A Copilot Studio agent gets its own Microsoft Entra ID, mailbox and Teams presence, so colleagues work with it like with any member of the organization.</a:t>
            </a:r>
          </a:p>
          <a:p/>
          <a:p>
            <a:r>
              <a:t>Frontier previews: both are Frontier previews as of October 2026. Agent accounts need a Frontier-enrolled tenant, an early release environment and per-agent licenses, so the admin steps come before the class.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module follows the two ways Microsoft 365 delivers a teammate today, and the diagram places each topic on one of them. Topics 1, 3 and 5 carry the core path; topics 2 and 4 deepen it for tenants with preview access.</a:t>
            </a:r>
          </a:p>
          <a:p/>
          <a:p>
            <a:r>
              <a:t>Meet Autopilot: we start with the four properties that make an agent a teammate. Then we place Autopilot beside Chat, Cowork, Code and Copilot Studio agents.</a:t>
            </a:r>
          </a:p>
          <a:p/>
          <a:p>
            <a:r>
              <a:t>Working with Autopilot: how you brief it, how it keeps working in the background, and which actions still stop for your approval.</a:t>
            </a:r>
          </a:p>
          <a:p/>
          <a:p>
            <a:r>
              <a:t>Agent accounts: the maker path. You give a Copilot Studio agent its own Entra ID, mailbox and Teams presence and publish it.</a:t>
            </a:r>
          </a:p>
          <a:p/>
          <a:p>
            <a:r>
              <a:t>Proactive teammates: triggers make the agent act without a prompt. The Cadence example ties the schedule, the tools and the reviewers together.</a:t>
            </a:r>
          </a:p>
          <a:p/>
          <a:p>
            <a:r>
              <a:t>Shared memory, licensing and governance: both paths end here. Shared memory, the per-agent license pool and the admin activation steps decide whether anyone can build at 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agents in this course wait for a person to start them. The grid sets the four properties of a teammate against an assistant such as Chat or Cowork.</a:t>
            </a:r>
          </a:p>
          <a:p/>
          <a:p>
            <a:r>
              <a:t>Identity: its actions are attributed to it, not to you. Admins audit it like any other account.</a:t>
            </a:r>
          </a:p>
          <a:p/>
          <a:p>
            <a:r>
              <a:t>Memory: context one person explains carries into the next conversation. The memory belongs to the process and the team, not to one user.</a:t>
            </a:r>
          </a:p>
          <a:p/>
          <a:p>
            <a:r>
              <a:t>Reach: it works where people already work, in Teams, Outlook, chats, channels and documents. Colleagues reach it with an @mention.</a:t>
            </a:r>
          </a:p>
          <a:p/>
          <a:p>
            <a:r>
              <a:t>Persistence: it watches channels, follows up on threads and resumes a project days later without a new prompt. That is the line between delegating one task to Cowork and handing a whole process to an agent that owns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September 25, 2026, Microsoft introduced a redesigned Copilot with three parts. This slide places Autopilot among them.</a:t>
            </a:r>
          </a:p>
          <a:p/>
          <a:p>
            <a:r>
              <a:t>Home: Chat and Cowork come together here. Copilot routes each request to Chat, Cowork or Code.</a:t>
            </a:r>
          </a:p>
          <a:p/>
          <a:p>
            <a:r>
              <a:t>Code: anyone describes an app, tracker, dashboard or automation in natural language. It is powered by the same technology as GitHub Copilot and runs in a sandbox that can be hosted in your tenant.</a:t>
            </a:r>
          </a:p>
          <a:p/>
          <a:p>
            <a:r>
              <a:t>Autopilot: Microsoft calls it your digital teammate. You give it a name, a role and a goal, and in the supplier review example it builds the schedule and workback plan, handles prep and follow-ups, and reaches out to stakeholders for updates.</a:t>
            </a:r>
          </a:p>
          <a:p/>
          <a:p>
            <a:r>
              <a:t>Identity, memory, computer and workspace: Autopilot is cloud-hosted in your tenant and grounded in Microsoft IQ. Permissions, audit and governance sit behind every action.</a:t>
            </a:r>
          </a:p>
          <a:p/>
          <a:p>
            <a:r>
              <a:t>Microsoft Scout: Learn still documents the product under that name as of October 2026. Windows Autopilot is Intune device provisioning, and the GitHub Copilot app has its own Autopilot session mode.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products deliver the teammate model today. This slide shows who builds each one and where both end up.</a:t>
            </a:r>
          </a:p>
          <a:p/>
          <a:p>
            <a:r>
              <a:t>Autopilot: the ready-made teammate a user sets up in Copilot. The user describes a name, a role and a goal.</a:t>
            </a:r>
          </a:p>
          <a:p/>
          <a:p>
            <a:r>
              <a:t>Agent account: the build path for a maker who needs control over instructions, tools and triggers. It runs in Copilot Studio on the GitHub Copilot harness.</a:t>
            </a:r>
          </a:p>
          <a:p/>
          <a:p>
            <a:r>
              <a:t>Identity: both end in the same place, an identity that admins govern like any other member of the organization. Agent 365 and Entra carry that governance.</a:t>
            </a:r>
          </a:p>
          <a:p/>
          <a:p>
            <a:r>
              <a:t>Private preview: Microsoft expanded Autopilot to private preview at the end of September 2026. Home and Code roll out through the Frontier program first.</a:t>
            </a:r>
          </a:p>
          <a:p/>
          <a:p>
            <a:r>
              <a:t>Usage-based billing: plan consumption through Copilot Credits rather than a per-user seat. Lab 1 asks you to pick one of the two paths for your own process.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Autopilot starts from three inputs: a name, a role and a goal. A good brief reads like the handover you would give a new colleague, and this one is the supplier review example from the topic.</a:t>
            </a:r>
          </a:p>
          <a:p/>
          <a:p>
            <a:r>
              <a:t>Name: colleagues find and @mention the teammate by it, so pick one the procurement team will recognize.</a:t>
            </a:r>
          </a:p>
          <a:p/>
          <a:p>
            <a:r>
              <a:t>Role: it says which part of the process the teammate owns, here the quarterly supplier review for the procurement team.</a:t>
            </a:r>
          </a:p>
          <a:p/>
          <a:p>
            <a:r>
              <a:t>Goal: what done looks like. Every active supplier has a scorecard, a review meeting and recorded actions by the end of the quarter.</a:t>
            </a:r>
          </a:p>
          <a:p/>
          <a:p>
            <a:r>
              <a:t>Boundaries and escalation: you set the objective and the limits, and the brief names the decisions that come back to you. Suppliers are contacted only through the shared mailbox, and any supplier with two missed deliveries or an open quality incident is escalated.</a:t>
            </a:r>
          </a:p>
          <a:p/>
          <a:p>
            <a:r>
              <a:t>Steps: the brief leaves them open on purpose. Working out the schedule, the follow-ups and the reminders is the work you are handing over.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teammate is only useful when you can trust it with work you are not watching. This slide shows the two background modes beside the interactive conversation.</a:t>
            </a:r>
          </a:p>
          <a:p/>
          <a:p>
            <a:r>
              <a:t>Heartbeat: it runs one prompt on a fixed interval within the work hours you set. It suits inbox triage or watching for schedule conflicts.</a:t>
            </a:r>
          </a:p>
          <a:p/>
          <a:p>
            <a:r>
              <a:t>Automations: separate tasks with their own schedule, prompt and optional steps. Use them for a weekly status pack or a reminder chain.</a:t>
            </a:r>
          </a:p>
          <a:p/>
          <a:p>
            <a:r>
              <a:t>Interactive conversation: it runs when you send a message. That is where you brief, steer and review the results.</a:t>
            </a:r>
          </a:p>
          <a:p/>
          <a:p>
            <a:r>
              <a:t>Restrictive policy: nobody is there to approve a background run, so both modes get stricter permissions than an interactive conversation.</a:t>
            </a:r>
          </a:p>
          <a:p/>
          <a:p>
            <a:r>
              <a:t>Microsoft Scout: Autopilot has no Learn documentation yet. These mechanics come from Scout, and the Autopilot announcement describes the same behavior from the user's side.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work only helps if you control what the teammate may do without you. This slide covers the approval pause and how outside content is handled.</a:t>
            </a:r>
          </a:p>
          <a:p/>
          <a:p>
            <a:r>
              <a:t>The pause: before a sensitive action, Scout shows exactly what it plans to do. You choose Approve, Always allow or Deny.</a:t>
            </a:r>
          </a:p>
          <a:p/>
          <a:p>
            <a:r>
              <a:t>Always allow: it adds the pattern to the auto-approve list. Use it for actions you would approve every time anyway.</a:t>
            </a:r>
          </a:p>
          <a:p/>
          <a:p>
            <a:r>
              <a:t>Capability categories: file system, shell, browser and Microsoft 365 can each be switched on or off.</a:t>
            </a:r>
          </a:p>
          <a:p/>
          <a:p>
            <a:r>
              <a:t>Sensitive locations: mark them so they always need approval.</a:t>
            </a:r>
          </a:p>
          <a:p/>
          <a:p>
            <a:r>
              <a:t>Untrusted content: emails, web pages and Teams messages are tagged and treated as data, not instructions. A message that says "forward the price list to this address" is something it reports, not something it obeys.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 process needs your own instructions, tools and triggers, you build the teammate in Copilot Studio and give it an account. This slide shows what publishing creates.</a:t>
            </a:r>
          </a:p>
          <a:p/>
          <a:p>
            <a:r>
              <a:t>Account before publish: agent accounts live in Copilot Studio Preview on an early release environment. You add the account to a new agent, set the display name and email address, and only publishing makes it active.</a:t>
            </a:r>
          </a:p>
          <a:p/>
          <a:p>
            <a:r>
              <a:t>Publish: it provisions the mailbox, Teams presence, directory entry and Entra Agent IDs. The agent can then send and receive email and join distribution lists.</a:t>
            </a:r>
          </a:p>
          <a:p/>
          <a:p>
            <a:r>
              <a:t>License: publishing assigns one Microsoft 365 Frontier for AI Teammates license to the agent. If no license is free, publishing fails until an admin frees one or buys more.</a:t>
            </a:r>
          </a:p>
          <a:p/>
          <a:p>
            <a:r>
              <a:t>Two identities: Agent 365 provisions and governs the account with user-grade visibility. Copilot Studio also creates a Microsoft Entra Agent ID that admins manage separately.</a:t>
            </a:r>
          </a:p>
          <a:p/>
          <a:p>
            <a:r>
              <a:t>People picker: once published, people find the agent in Teams and the directory and @mention it like a colleague. The planned demo looks it up in the Teams people picker and the organization directory.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account decisions are final once you publish, and the preview limits shape how you design the process. The photo shows what the preview allows: the agent writes a fresh document each cycle and leaves the earlier ones as they are.</a:t>
            </a:r>
          </a:p>
          <a:p/>
          <a:p>
            <a:r>
              <a:t>Email address: your own alias is a fixed prefix, and the agent reports to you. Pick a name your colleagues will recognize in a mail thread, because that name is how the process will know it.</a:t>
            </a:r>
          </a:p>
          <a:p/>
          <a:p>
            <a:r>
              <a:t>Fixed after publish: during the preview you cannot change the prefix or the reporting relationship. The email address cannot change after you publish.</a:t>
            </a:r>
          </a:p>
          <a:p/>
          <a:p>
            <a:r>
              <a:t>No external users, no co-authoring: the agent does not respond to anyone outside its tenant. It generates new documents but does not edit existing ones in place.</a:t>
            </a:r>
          </a:p>
          <a:p/>
          <a:p>
            <a:r>
              <a:t>250 people: it replies only in conversations with up to 250 people. The error reference for this limit is MCS-4043.</a:t>
            </a:r>
          </a:p>
          <a:p/>
          <a:p>
            <a:r>
              <a:t>Protected documents: files labeled Confidential or Internal Only are out of reach. A review agent that writes a fresh document each cycle works today; one that edits a shared tracker in place does not.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541777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account changes whose credentials the agent works with. The left side of the diagram is what the Module 5 run showed: CS-Returns Agent answered a returns mail through a shared-mailbox trigger, and Publish then listed the author's credentials as an item to review.</a:t>
            </a:r>
          </a:p>
          <a:p/>
          <a:p>
            <a:r>
              <a:t>Without an account: event triggers run on the author's credentials. The Publish dialog spells out the risk: if the trigger's instructions share data with other users, those users can use the author's credentials to reach information or complete a task.</a:t>
            </a:r>
          </a:p>
          <a:p/>
          <a:p>
            <a:r>
              <a:t>With an account: the agent acts as itself, with its own scoped access rights. Admins audit it as an identity, like any member of the organization.</a:t>
            </a:r>
          </a:p>
          <a:p/>
          <a:p>
            <a:r>
              <a:t>Agent account authentication: adding the account makes it the default for every tool that supports it. You can still change it per tool.</a:t>
            </a:r>
          </a:p>
          <a:p/>
          <a:p>
            <a:r>
              <a:t>End-user authentication: tools set this way still need each person to complete their own consent through Go to Agent Management.</a:t>
            </a:r>
          </a:p>
          <a:p/>
          <a:p>
            <a:r>
              <a:t>Least access: the account does not grant every tool permission automatically. Check which identity each tool uses and grant only the access the job needs.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502993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agent with an account has a name and a mailbox, but instructions alone do not make it act. This slide shows what starts its cycle.</a:t>
            </a:r>
          </a:p>
          <a:p/>
          <a:p>
            <a:r>
              <a:t>Recurrence: the schedule you set comes around. It fits weekly reviews, status packs and reminder chains.</a:t>
            </a:r>
          </a:p>
          <a:p/>
          <a:p>
            <a:r>
              <a:t>Email: a message arrives in the agent's mailbox. It fits the intake of requests, proposals or supplier updates.</a:t>
            </a:r>
          </a:p>
          <a:p/>
          <a:p>
            <a:r>
              <a:t>A person: someone @mentions it or sends it a task. It fits ad hoc questions, assignments and updates.</a:t>
            </a:r>
          </a:p>
          <a:p/>
          <a:p>
            <a:r>
              <a:t>Three pieces: writing "every Monday, prepare the review" into the instructions does nothing until a recurrence trigger exists and the tools can reach the sources. Treat trigger, tools and instructions as three separate pieces of configuration.</a:t>
            </a:r>
          </a:p>
          <a:p/>
          <a:p>
            <a:r>
              <a:t>GitHub Copilot harness: Microsoft announced triggers for agents on it on October 15, 2026. The rollout runs through the Frontier program, alongside agent accounts and business process memory.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850551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Cadence is the execution-review agent from the Learn documentation and a useful template for any review process. The diagram shows one cycle from the trigger to the people who decide.</a:t>
            </a:r>
          </a:p>
          <a:p/>
          <a:p>
            <a:r>
              <a:t>Inputs: the maker gives it an approved workstream tracker and a small internal reviewer group. Then come supported tools and a recurrence trigger.</a:t>
            </a:r>
          </a:p>
          <a:p/>
          <a:p>
            <a:r>
              <a:t>Scheduled run: it reads the tracker and status evidence, identifies blockers and missing updates, generates a new review document and sends reviewers the link.</a:t>
            </a:r>
          </a:p>
          <a:p/>
          <a:p>
            <a:r>
              <a:t>New document: the design works inside the preview limits on purpose. Cadence creates a fresh document each cycle because co-authoring an existing one is not supported.</a:t>
            </a:r>
          </a:p>
          <a:p/>
          <a:p>
            <a:r>
              <a:t>Preserve uncertainty: its instructions say a missing reply does not mean the work is on track. It must not invent metrics, owners, dates or completion.</a:t>
            </a:r>
          </a:p>
          <a:p/>
          <a:p>
            <a:r>
              <a:t>Stop and explain: when a source, connection, permission or output tool is unavailable, it says what is missing and stops the affected action. People own prioritization and sign-off.</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60498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Colleagues reach an agent with an account through the tools they already use. The photo shows the part that stays with people: a finance team signing off on the weekly review its agent prepared.</a:t>
            </a:r>
          </a:p>
          <a:p/>
          <a:p>
            <a:r>
              <a:t>Teams and Outlook: people ask questions, assign work or contribute updates there. They can also delegate a process task by Teams message or email and keep working.</a:t>
            </a:r>
          </a:p>
          <a:p/>
          <a:p>
            <a:r>
              <a:t>Comments in Office documents: an @mention in Word, Excel or PowerPoint brings the agent into a document. During the preview this supports limited scenarios only.</a:t>
            </a:r>
          </a:p>
          <a:p/>
          <a:p>
            <a:r>
              <a:t>People decide: the agent prepares, chases and summarizes, while people set priorities and sign off. In Microsoft's example a finance lead's budget agent prepares the weekly review each Tuesday, and the finance team contributes updates through the tools it already uses.</a:t>
            </a:r>
          </a:p>
          <a:p/>
          <a:p>
            <a:r>
              <a:t>Attribution: the agent acts with its own credentials, so an admin sees which actions it took, under which identity and with which permissions. Nobody approves a scheduled run as it happens, which is why the human checkpoints in the instructions matter.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97223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teammate that remembers what the whole team tells it is useful and risky at the same time. This slide shows how shared memory behaves.</a:t>
            </a:r>
          </a:p>
          <a:p/>
          <a:p>
            <a:r>
              <a:t>One memory: what one person explains benefits the whole team. The agent uses it instead of personal memory, even in one-to-one chats.</a:t>
            </a:r>
          </a:p>
          <a:p/>
          <a:p>
            <a:r>
              <a:t>No privacy boundary: a record about one person can be used in later conversations with others. The People card says anything shared can be summarized for any user, regardless of sensitivity label.</a:t>
            </a:r>
          </a:p>
          <a:p/>
          <a:p>
            <a:r>
              <a:t>Never kept: ID numbers, passwords and tokens, assessments of anyone's performance or conduct, health information, and anything someone asks it to forget. When a memory conflicts with the instructions, the agent follows the instructions and corrects the memory.</a:t>
            </a:r>
          </a:p>
          <a:p/>
          <a:p>
            <a:r>
              <a:t>View or delete: everyone who interacts with the agent can view or delete its saved memories. If no one interacts with it for 28 days, the system deletes them.</a:t>
            </a:r>
          </a:p>
          <a:p/>
          <a:p>
            <a:r>
              <a:t>No opt-out: end users cannot opt out, and admins can only turn agent accounts off altogether. Write the team briefing with that in mind.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263553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None of this works until a tenant is prepared, and the order matters. Run these steps before the class starts.</a:t>
            </a:r>
          </a:p>
          <a:p/>
          <a:p>
            <a:r>
              <a:t>Frontier enrollment: a global admin enrolls the tenant from the Microsoft 365 admin center under Agents, Overview, Try now, and accepts the Agent 365 terms.</a:t>
            </a:r>
          </a:p>
          <a:p/>
          <a:p>
            <a:r>
              <a:t>Copilot Studio (Frontier): an admin opens All Agents, filters by Agent template: Yes, activates it and picks the users or groups. Only those users and groups can create agents with accounts.</a:t>
            </a:r>
          </a:p>
          <a:p/>
          <a:p>
            <a:r>
              <a:t>Agent accounts: in the Power Platform admin center, under Copilot, Settings, an admin turns on Agent accounts for the environment.</a:t>
            </a:r>
          </a:p>
          <a:p/>
          <a:p>
            <a:r>
              <a:t>Release cycle: the environment must be set to Early. Agent accounts live on an environment that uses the early release cycle.</a:t>
            </a:r>
          </a:p>
          <a:p/>
          <a:p>
            <a:r>
              <a:t>European Economic Area: Teams is licensed separately there. The agent still gets its account, mailbox and directory entry, but appears in Teams only if the tenant licenses Teams.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9117829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separate things need licensing, and they are easy to confuse. This slide separates who needs what.</a:t>
            </a:r>
          </a:p>
          <a:p/>
          <a:p>
            <a:r>
              <a:t>Maker license: the person who builds the agent needs Microsoft 365 E5 with the Agent 365 add-on, or Microsoft 365 E7, which includes Agent 365.</a:t>
            </a:r>
          </a:p>
          <a:p/>
          <a:p>
            <a:r>
              <a:t>Frontier for AI Teammates: each agent with an account gets one, assigned at publish. The tenant receives a pool on Frontier enrollment, and in a class that pool is the scarce resource.</a:t>
            </a:r>
          </a:p>
          <a:p/>
          <a:p>
            <a:r>
              <a:t>Copilot Credits: building, testing, evaluating and running the agent all consume credits on usage-based billing.</a:t>
            </a:r>
          </a:p>
          <a:p/>
          <a:p>
            <a:r>
              <a:t>Agent 365: agents are covered under their owner's license rather than needing their own Agent 365 seat. When the Frontier pool is empty, an admin removes a license from another agent or acquires more.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354531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points to carry out of this module. Both products are Frontier previews as of October 2026, so treat the module as a forward look you run in a prepared tenant, with the readiness checklist done first.</a:t>
            </a:r>
          </a:p>
          <a:p/>
          <a:p>
            <a:r>
              <a:t>Teammate: identity, memory, reach and persistence separate it from an assistant. It owns a process instead of finishing one task.</a:t>
            </a:r>
          </a:p>
          <a:p/>
          <a:p>
            <a:r>
              <a:t>Autopilot or agent account: a user sets up Autopilot with a name, a role and a goal. A maker builds an agent with an account when the process needs its own instructions, tools and triggers.</a:t>
            </a:r>
          </a:p>
          <a:p/>
          <a:p>
            <a:r>
              <a:t>Trigger, tools and instructions: instructions alone do not create a schedule or grant access. The Cadence pattern shows all three working together.</a:t>
            </a:r>
          </a:p>
          <a:p/>
          <a:p>
            <a:r>
              <a:t>Shared memory: there is no privacy boundary between users and no opt-out in the preview. Tell people to share only what they would share with the whole team.</a:t>
            </a:r>
          </a:p>
          <a:p/>
          <a:p>
            <a:r>
              <a:t>Frontier enrollment and licenses: activation runs in four steps, and each agent with an account takes a Frontier for AI Teammates license from the pool. Check the pool before participants publish.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246385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1421271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425396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878031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248850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8</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AI Teammates: Autopilot &amp; Agent Accounts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Agents with their own identity that keep a business process moving</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Automate Business Processes with Copilot Studio and Copilot Cowork</a:t>
            </a:r>
          </a:p>
        </p:txBody>
      </p:sp>
    </p:spTree>
    <p:extLst>
      <p:ext uri="{BB962C8B-B14F-4D97-AF65-F5344CB8AC3E}">
        <p14:creationId xmlns:p14="http://schemas.microsoft.com/office/powerpoint/2010/main" val="3880702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Meet Autopilot: Digital Teammates in Microsoft 365</a:t>
            </a:r>
          </a:p>
          <a:p>
            <a:pPr>
              <a:lnSpc>
                <a:spcPct val="95000"/>
              </a:lnSpc>
              <a:spcBef>
                <a:spcPts val="600"/>
              </a:spcBef>
            </a:pPr>
            <a:r>
              <a:rPr sz="1200" b="0">
                <a:solidFill>
                  <a:srgbClr val="595F67"/>
                </a:solidFill>
                <a:latin typeface="Poppins"/>
              </a:rPr>
              <a:t>What makes an agent a teammate</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Working with Autopilot: Goals, Memory &amp; Long-Running Work</a:t>
            </a:r>
          </a:p>
          <a:p>
            <a:pPr>
              <a:lnSpc>
                <a:spcPct val="95000"/>
              </a:lnSpc>
              <a:spcBef>
                <a:spcPts val="600"/>
              </a:spcBef>
            </a:pPr>
            <a:r>
              <a:rPr sz="1200" b="0">
                <a:solidFill>
                  <a:srgbClr val="595F67"/>
                </a:solidFill>
                <a:latin typeface="Poppins"/>
              </a:rPr>
              <a:t>The brief, background work and approvals</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Agent Accounts: Give a Copilot Studio Agent Its Own Identity</a:t>
            </a:r>
          </a:p>
          <a:p>
            <a:pPr>
              <a:lnSpc>
                <a:spcPct val="95000"/>
              </a:lnSpc>
              <a:spcBef>
                <a:spcPts val="600"/>
              </a:spcBef>
            </a:pPr>
            <a:r>
              <a:rPr sz="1200" b="0">
                <a:solidFill>
                  <a:srgbClr val="595F67"/>
                </a:solidFill>
                <a:latin typeface="Poppins"/>
              </a:rPr>
              <a:t>From agent account to publish</a:t>
            </a:r>
          </a:p>
        </p:txBody>
      </p:sp>
      <p:sp>
        <p:nvSpPr>
          <p:cNvPr id="14" name="gd-topics-box"/>
          <p:cNvSpPr/>
          <p:nvPr/>
        </p:nvSpPr>
        <p:spPr>
          <a:xfrm>
            <a:off x="2611944"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2611944"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2841944"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2841944"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Proactive Teammates: Triggers, Email &amp; Teams Mentions</a:t>
            </a:r>
          </a:p>
          <a:p>
            <a:pPr>
              <a:lnSpc>
                <a:spcPct val="95000"/>
              </a:lnSpc>
              <a:spcBef>
                <a:spcPts val="600"/>
              </a:spcBef>
            </a:pPr>
            <a:r>
              <a:rPr sz="1200" b="0">
                <a:solidFill>
                  <a:srgbClr val="595F67"/>
                </a:solidFill>
                <a:latin typeface="Poppins"/>
              </a:rPr>
              <a:t>What starts the agent's cycle</a:t>
            </a:r>
          </a:p>
        </p:txBody>
      </p:sp>
      <p:sp>
        <p:nvSpPr>
          <p:cNvPr id="18" name="gd-topics-box"/>
          <p:cNvSpPr/>
          <p:nvPr/>
        </p:nvSpPr>
        <p:spPr>
          <a:xfrm>
            <a:off x="6210299"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6210299"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6440299"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6440299"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Shared Memory, Licensing &amp; Teammate Governance</a:t>
            </a:r>
          </a:p>
          <a:p>
            <a:pPr>
              <a:lnSpc>
                <a:spcPct val="95000"/>
              </a:lnSpc>
              <a:spcBef>
                <a:spcPts val="600"/>
              </a:spcBef>
            </a:pPr>
            <a:r>
              <a:rPr sz="1200" b="0">
                <a:solidFill>
                  <a:srgbClr val="595F67"/>
                </a:solidFill>
                <a:latin typeface="Poppins"/>
              </a:rPr>
              <a:t>What the tenant needs before anyone builds</a:t>
            </a:r>
          </a:p>
        </p:txBody>
      </p:sp>
      <p:sp>
        <p:nvSpPr>
          <p:cNvPr id="2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549995"/>
            <a:ext cx="4824773" cy="1515223"/>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AI Teammates: Autopilot &amp; Agent Accounts</a:t>
            </a:r>
            <a:endParaRPr lang="en-US" sz="3700" dirty="0"/>
          </a:p>
        </p:txBody>
      </p:sp>
      <p:sp>
        <p:nvSpPr>
          <p:cNvPr id="4" name="Text 1"/>
          <p:cNvSpPr/>
          <p:nvPr/>
        </p:nvSpPr>
        <p:spPr>
          <a:xfrm>
            <a:off x="609600" y="3217618"/>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Agents with their own identity that keep a business process moving</a:t>
            </a:r>
            <a:endParaRPr lang="en-US" sz="2200" dirty="0"/>
          </a:p>
        </p:txBody>
      </p:sp>
      <p:sp>
        <p:nvSpPr>
          <p:cNvPr id="5" name="Text 2"/>
          <p:cNvSpPr/>
          <p:nvPr/>
        </p:nvSpPr>
        <p:spPr>
          <a:xfrm>
            <a:off x="609600" y="4073121"/>
            <a:ext cx="4824773" cy="145524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Autopilot</a:t>
            </a:r>
            <a:r>
              <a:rPr lang="en-US" sz="1400" dirty="0">
                <a:solidFill>
                  <a:srgbClr val="1B365D"/>
                </a:solidFill>
                <a:latin typeface="Poppins" pitchFamily="34" charset="0"/>
                <a:ea typeface="Poppins" pitchFamily="34" charset="-122"/>
                <a:cs typeface="Poppins" pitchFamily="34" charset="0"/>
              </a:rPr>
              <a:t>: the persistent personal agent a user sets up in Copilot</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Agent accounts</a:t>
            </a:r>
            <a:r>
              <a:rPr lang="en-US" sz="1400" dirty="0">
                <a:solidFill>
                  <a:srgbClr val="1B365D"/>
                </a:solidFill>
                <a:latin typeface="Poppins" pitchFamily="34" charset="0"/>
                <a:ea typeface="Poppins" pitchFamily="34" charset="-122"/>
                <a:cs typeface="Poppins" pitchFamily="34" charset="0"/>
              </a:rPr>
              <a:t>: a Copilot Studio agent with its own Entra ID, mailbox and Teams presence</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Frontier previews</a:t>
            </a:r>
            <a:r>
              <a:rPr lang="en-US" sz="1400" dirty="0">
                <a:solidFill>
                  <a:srgbClr val="1B365D"/>
                </a:solidFill>
                <a:latin typeface="Poppins" pitchFamily="34" charset="0"/>
                <a:ea typeface="Poppins" pitchFamily="34" charset="-122"/>
                <a:cs typeface="Poppins" pitchFamily="34" charset="0"/>
              </a:rPr>
              <a:t> you run in a prepared tenant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Overview</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Five topics along two paths to a teammate</a:t>
            </a:r>
            <a:endParaRPr lang="en-US" sz="2200" dirty="0"/>
          </a:p>
        </p:txBody>
      </p:sp>
      <p:sp>
        <p:nvSpPr>
          <p:cNvPr id="4" name="Text 2"/>
          <p:cNvSpPr/>
          <p:nvPr/>
        </p:nvSpPr>
        <p:spPr>
          <a:xfrm>
            <a:off x="609600" y="2839577"/>
            <a:ext cx="4575839"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Meet Autopilot</a:t>
            </a:r>
            <a:r>
              <a:rPr lang="en-US" sz="1400" dirty="0">
                <a:solidFill>
                  <a:srgbClr val="1B365D"/>
                </a:solidFill>
                <a:latin typeface="Poppins" pitchFamily="34" charset="0"/>
                <a:ea typeface="Poppins" pitchFamily="34" charset="-122"/>
                <a:cs typeface="Poppins" pitchFamily="34" charset="0"/>
              </a:rPr>
              <a:t>: what makes an agent a teammate and where Autopilot sits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Working with Autopilot</a:t>
            </a:r>
            <a:r>
              <a:rPr lang="en-US" sz="1400" dirty="0">
                <a:solidFill>
                  <a:srgbClr val="1B365D"/>
                </a:solidFill>
                <a:latin typeface="Poppins" pitchFamily="34" charset="0"/>
                <a:ea typeface="Poppins" pitchFamily="34" charset="-122"/>
                <a:cs typeface="Poppins" pitchFamily="34" charset="0"/>
              </a:rPr>
              <a:t>: the brief, background work and approvals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Agent accounts</a:t>
            </a:r>
            <a:r>
              <a:rPr lang="en-US" sz="1400" dirty="0">
                <a:solidFill>
                  <a:srgbClr val="1B365D"/>
                </a:solidFill>
                <a:latin typeface="Poppins" pitchFamily="34" charset="0"/>
                <a:ea typeface="Poppins" pitchFamily="34" charset="-122"/>
                <a:cs typeface="Poppins" pitchFamily="34" charset="0"/>
              </a:rPr>
              <a:t>: a Copilot Studio agent with its own identity</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Proactive teammates</a:t>
            </a:r>
            <a:r>
              <a:rPr lang="en-US" sz="1400" dirty="0">
                <a:solidFill>
                  <a:srgbClr val="1B365D"/>
                </a:solidFill>
                <a:latin typeface="Poppins" pitchFamily="34" charset="0"/>
                <a:ea typeface="Poppins" pitchFamily="34" charset="-122"/>
                <a:cs typeface="Poppins" pitchFamily="34" charset="0"/>
              </a:rPr>
              <a:t>: triggers, email and Teams mentions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Shared memory, licensing and governance</a:t>
            </a:r>
            <a:r>
              <a:rPr lang="en-US" sz="1400" dirty="0">
                <a:solidFill>
                  <a:srgbClr val="1B365D"/>
                </a:solidFill>
                <a:latin typeface="Poppins" pitchFamily="34" charset="0"/>
                <a:ea typeface="Poppins" pitchFamily="34" charset="-122"/>
                <a:cs typeface="Poppins" pitchFamily="34" charset="0"/>
              </a:rPr>
              <a:t>: what the tenant needs first</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Meet Autopilot: Digital Teammates in Microsoft 365</a:t>
            </a:r>
          </a:p>
          <a:p>
            <a:pPr>
              <a:lnSpc>
                <a:spcPct val="95000"/>
              </a:lnSpc>
              <a:spcBef>
                <a:spcPts val="1400"/>
              </a:spcBef>
            </a:pPr>
            <a:r>
              <a:rPr sz="2000" b="0">
                <a:solidFill>
                  <a:srgbClr val="595F67"/>
                </a:solidFill>
                <a:latin typeface="Poppins"/>
              </a:rPr>
              <a:t>What makes an agent a teammate</a:t>
            </a:r>
          </a:p>
        </p:txBody>
      </p:sp>
      <p:sp>
        <p:nvSpPr>
          <p:cNvPr id="5" name="gd-topics-box"/>
          <p:cNvSpPr/>
          <p:nvPr/>
        </p:nvSpPr>
        <p:spPr>
          <a:xfrm>
            <a:off x="6100000"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94960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What makes an agent a teammate</a:t>
            </a:r>
            <a:endParaRPr lang="en-US" sz="2700" dirty="0"/>
          </a:p>
        </p:txBody>
      </p:sp>
      <p:sp>
        <p:nvSpPr>
          <p:cNvPr id="3" name="Text 1"/>
          <p:cNvSpPr/>
          <p:nvPr/>
        </p:nvSpPr>
        <p:spPr>
          <a:xfrm>
            <a:off x="609600" y="1100568"/>
            <a:ext cx="9496073"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Four properties that separate a teammate from an assistant</a:t>
            </a:r>
            <a:endParaRPr lang="en-US" sz="1600" dirty="0"/>
          </a:p>
        </p:txBody>
      </p:sp>
      <p:pic>
        <p:nvPicPr>
          <p:cNvPr id="4" name="Image 0" descr="preencoded.png"/>
          <p:cNvPicPr>
            <a:picLocks noChangeAspect="1"/>
          </p:cNvPicPr>
          <p:nvPr/>
        </p:nvPicPr>
        <p:blipFill>
          <a:blip r:embed="rId3"/>
          <a:stretch>
            <a:fillRect/>
          </a:stretch>
        </p:blipFill>
        <p:spPr>
          <a:xfrm>
            <a:off x="2085923" y="1380827"/>
            <a:ext cx="8019750" cy="4511179"/>
          </a:xfrm>
          <a:prstGeom prst="rect">
            <a:avLst/>
          </a:prstGeom>
        </p:spPr>
      </p:pic>
      <p:sp>
        <p:nvSpPr>
          <p:cNvPr id="5" name="Text 2"/>
          <p:cNvSpPr/>
          <p:nvPr/>
        </p:nvSpPr>
        <p:spPr>
          <a:xfrm>
            <a:off x="609600" y="6049253"/>
            <a:ext cx="9496073" cy="390525"/>
          </a:xfrm>
          <a:prstGeom prst="rect">
            <a:avLst/>
          </a:prstGeom>
          <a:noFill/>
          <a:ln/>
        </p:spPr>
        <p:txBody>
          <a:bodyPr wrap="square" lIns="0" tIns="0" rIns="0" bIns="0" rtlCol="0" anchor="t">
            <a:normAutofit/>
          </a:bodyPr>
          <a:lstStyle/>
          <a:p>
            <a:pPr marL="213360" indent="-213360" algn="l">
              <a:lnSpc>
                <a:spcPct val="117000"/>
              </a:lnSpc>
              <a:buSzPct val="100000"/>
              <a:buChar char="•"/>
            </a:pPr>
            <a:r>
              <a:rPr lang="en-US" sz="1050" dirty="0">
                <a:solidFill>
                  <a:srgbClr val="1B365D"/>
                </a:solidFill>
                <a:latin typeface="Poppins" pitchFamily="34" charset="0"/>
                <a:ea typeface="Poppins" pitchFamily="34" charset="-122"/>
                <a:cs typeface="Poppins" pitchFamily="34" charset="0"/>
              </a:rPr>
              <a:t>A </a:t>
            </a:r>
            <a:r>
              <a:rPr lang="en-US" sz="1050" b="1" dirty="0">
                <a:solidFill>
                  <a:srgbClr val="1B365D"/>
                </a:solidFill>
                <a:latin typeface="Poppins" pitchFamily="34" charset="0"/>
                <a:ea typeface="Poppins" pitchFamily="34" charset="-122"/>
                <a:cs typeface="Poppins" pitchFamily="34" charset="0"/>
              </a:rPr>
              <a:t>teammate</a:t>
            </a:r>
            <a:r>
              <a:rPr lang="en-US" sz="1050" dirty="0">
                <a:solidFill>
                  <a:srgbClr val="1B365D"/>
                </a:solidFill>
                <a:latin typeface="Poppins" pitchFamily="34" charset="0"/>
                <a:ea typeface="Poppins" pitchFamily="34" charset="-122"/>
                <a:cs typeface="Poppins" pitchFamily="34" charset="0"/>
              </a:rPr>
              <a:t> acts as itself, keeps its memory for the team, works in Teams, Outlook and documents, and starts from a goal, a schedule or an incoming signal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Autopilot in the new Copilot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Home, Code and Autopilot, announced on September 25, 2026</a:t>
            </a:r>
            <a:endParaRPr lang="en-US" sz="2200" dirty="0"/>
          </a:p>
        </p:txBody>
      </p:sp>
      <p:sp>
        <p:nvSpPr>
          <p:cNvPr id="4" name="Text 2"/>
          <p:cNvSpPr/>
          <p:nvPr/>
        </p:nvSpPr>
        <p:spPr>
          <a:xfrm>
            <a:off x="609600" y="2839577"/>
            <a:ext cx="4575839"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Home</a:t>
            </a:r>
            <a:r>
              <a:rPr lang="en-US" sz="1400" dirty="0">
                <a:solidFill>
                  <a:srgbClr val="1B365D"/>
                </a:solidFill>
                <a:latin typeface="Poppins" pitchFamily="34" charset="0"/>
                <a:ea typeface="Poppins" pitchFamily="34" charset="-122"/>
                <a:cs typeface="Poppins" pitchFamily="34" charset="0"/>
              </a:rPr>
              <a:t>: the new starting point where Chat and Cowork come together</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Code</a:t>
            </a:r>
            <a:r>
              <a:rPr lang="en-US" sz="1400" dirty="0">
                <a:solidFill>
                  <a:srgbClr val="1B365D"/>
                </a:solidFill>
                <a:latin typeface="Poppins" pitchFamily="34" charset="0"/>
                <a:ea typeface="Poppins" pitchFamily="34" charset="-122"/>
                <a:cs typeface="Poppins" pitchFamily="34" charset="0"/>
              </a:rPr>
              <a:t>: an app, tracker, dashboard or automation built from a description</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Autopilot</a:t>
            </a:r>
            <a:r>
              <a:rPr lang="en-US" sz="1400" dirty="0">
                <a:solidFill>
                  <a:srgbClr val="1B365D"/>
                </a:solidFill>
                <a:latin typeface="Poppins" pitchFamily="34" charset="0"/>
                <a:ea typeface="Poppins" pitchFamily="34" charset="-122"/>
                <a:cs typeface="Poppins" pitchFamily="34" charset="0"/>
              </a:rPr>
              <a:t>: a persistent, proactive and personal agent that keeps working when you're not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Its own </a:t>
            </a:r>
            <a:r>
              <a:rPr lang="en-US" sz="1400" b="1" dirty="0">
                <a:solidFill>
                  <a:srgbClr val="1B365D"/>
                </a:solidFill>
                <a:latin typeface="Poppins" pitchFamily="34" charset="0"/>
                <a:ea typeface="Poppins" pitchFamily="34" charset="-122"/>
                <a:cs typeface="Poppins" pitchFamily="34" charset="0"/>
              </a:rPr>
              <a:t>identity, memory, computer and workspace</a:t>
            </a:r>
            <a:r>
              <a:rPr lang="en-US" sz="1400" dirty="0">
                <a:solidFill>
                  <a:srgbClr val="1B365D"/>
                </a:solidFill>
                <a:latin typeface="Poppins" pitchFamily="34" charset="0"/>
                <a:ea typeface="Poppins" pitchFamily="34" charset="-122"/>
                <a:cs typeface="Poppins" pitchFamily="34" charset="0"/>
              </a:rPr>
              <a:t>, built on Microsoft IQ</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Previously </a:t>
            </a:r>
            <a:r>
              <a:rPr lang="en-US" sz="1400" b="1" dirty="0">
                <a:solidFill>
                  <a:srgbClr val="1B365D"/>
                </a:solidFill>
                <a:latin typeface="Poppins" pitchFamily="34" charset="0"/>
                <a:ea typeface="Poppins" pitchFamily="34" charset="-122"/>
                <a:cs typeface="Poppins" pitchFamily="34" charset="0"/>
              </a:rPr>
              <a:t>Microsoft Scout</a:t>
            </a:r>
            <a:r>
              <a:rPr lang="en-US" sz="1400" dirty="0">
                <a:solidFill>
                  <a:srgbClr val="1B365D"/>
                </a:solidFill>
                <a:latin typeface="Poppins" pitchFamily="34" charset="0"/>
                <a:ea typeface="Poppins" pitchFamily="34" charset="-122"/>
                <a:cs typeface="Poppins" pitchFamily="34" charset="0"/>
              </a:rPr>
              <a:t>; unrelated to Windows Autopilot in Intune</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Autopilot or an agent account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Two ways Microsoft 365 delivers a teammate today</a:t>
            </a:r>
            <a:endParaRPr lang="en-US" sz="2200" dirty="0"/>
          </a:p>
        </p:txBody>
      </p:sp>
      <p:sp>
        <p:nvSpPr>
          <p:cNvPr id="4" name="Text 2"/>
          <p:cNvSpPr/>
          <p:nvPr/>
        </p:nvSpPr>
        <p:spPr>
          <a:xfrm>
            <a:off x="609600" y="2839577"/>
            <a:ext cx="4575839"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Autopilot</a:t>
            </a:r>
            <a:r>
              <a:rPr lang="en-US" sz="1400" dirty="0">
                <a:solidFill>
                  <a:srgbClr val="1B365D"/>
                </a:solidFill>
                <a:latin typeface="Poppins" pitchFamily="34" charset="0"/>
                <a:ea typeface="Poppins" pitchFamily="34" charset="-122"/>
                <a:cs typeface="Poppins" pitchFamily="34" charset="0"/>
              </a:rPr>
              <a:t>: a user describes the name, role and goal</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Agent account</a:t>
            </a:r>
            <a:r>
              <a:rPr lang="en-US" sz="1400" dirty="0">
                <a:solidFill>
                  <a:srgbClr val="1B365D"/>
                </a:solidFill>
                <a:latin typeface="Poppins" pitchFamily="34" charset="0"/>
                <a:ea typeface="Poppins" pitchFamily="34" charset="-122"/>
                <a:cs typeface="Poppins" pitchFamily="34" charset="0"/>
              </a:rPr>
              <a:t>: a maker configures instructions, tools and triggers in Copilot Studio</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Both end in an </a:t>
            </a:r>
            <a:r>
              <a:rPr lang="en-US" sz="1400" b="1" dirty="0">
                <a:solidFill>
                  <a:srgbClr val="1B365D"/>
                </a:solidFill>
                <a:latin typeface="Poppins" pitchFamily="34" charset="0"/>
                <a:ea typeface="Poppins" pitchFamily="34" charset="-122"/>
                <a:cs typeface="Poppins" pitchFamily="34" charset="0"/>
              </a:rPr>
              <a:t>identity</a:t>
            </a:r>
            <a:r>
              <a:rPr lang="en-US" sz="1400" dirty="0">
                <a:solidFill>
                  <a:srgbClr val="1B365D"/>
                </a:solidFill>
                <a:latin typeface="Poppins" pitchFamily="34" charset="0"/>
                <a:ea typeface="Poppins" pitchFamily="34" charset="-122"/>
                <a:cs typeface="Poppins" pitchFamily="34" charset="0"/>
              </a:rPr>
              <a:t> that admins govern in Agent 365 and Entra</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Private preview</a:t>
            </a:r>
            <a:r>
              <a:rPr lang="en-US" sz="1400" dirty="0">
                <a:solidFill>
                  <a:srgbClr val="1B365D"/>
                </a:solidFill>
                <a:latin typeface="Poppins" pitchFamily="34" charset="0"/>
                <a:ea typeface="Poppins" pitchFamily="34" charset="-122"/>
                <a:cs typeface="Poppins" pitchFamily="34" charset="0"/>
              </a:rPr>
              <a:t>: Autopilot has no general availability date yet</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Usage-based billing</a:t>
            </a:r>
            <a:r>
              <a:rPr lang="en-US" sz="1400" dirty="0">
                <a:solidFill>
                  <a:srgbClr val="1B365D"/>
                </a:solidFill>
                <a:latin typeface="Poppins" pitchFamily="34" charset="0"/>
                <a:ea typeface="Poppins" pitchFamily="34" charset="-122"/>
                <a:cs typeface="Poppins" pitchFamily="34" charset="0"/>
              </a:rPr>
              <a:t>: Cowork, Code and Autopilot consume Copilot Credits</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Working with Autopilot: Goals, Memory &amp; Long-Running Work</a:t>
            </a:r>
          </a:p>
          <a:p>
            <a:pPr>
              <a:lnSpc>
                <a:spcPct val="95000"/>
              </a:lnSpc>
              <a:spcBef>
                <a:spcPts val="1400"/>
              </a:spcBef>
            </a:pPr>
            <a:r>
              <a:rPr sz="2000" b="0">
                <a:solidFill>
                  <a:srgbClr val="595F67"/>
                </a:solidFill>
                <a:latin typeface="Poppins"/>
              </a:rPr>
              <a:t>The brief, background work and approvals</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910645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Briefing Autopilot</a:t>
            </a:r>
            <a:endParaRPr lang="en-US" sz="2450" dirty="0"/>
          </a:p>
        </p:txBody>
      </p:sp>
      <p:sp>
        <p:nvSpPr>
          <p:cNvPr id="3" name="Text 1"/>
          <p:cNvSpPr/>
          <p:nvPr/>
        </p:nvSpPr>
        <p:spPr>
          <a:xfrm>
            <a:off x="609600" y="1100568"/>
            <a:ext cx="910645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Name, role, goal and the boundaries you set</a:t>
            </a:r>
            <a:endParaRPr lang="en-US" sz="1450" dirty="0"/>
          </a:p>
        </p:txBody>
      </p:sp>
      <p:sp>
        <p:nvSpPr>
          <p:cNvPr id="4" name="Shape 2"/>
          <p:cNvSpPr/>
          <p:nvPr/>
        </p:nvSpPr>
        <p:spPr>
          <a:xfrm>
            <a:off x="406400" y="1905000"/>
            <a:ext cx="5791200" cy="2667000"/>
          </a:xfrm>
          <a:prstGeom prst="roundRect">
            <a:avLst>
              <a:gd name="adj" fmla="val 497"/>
            </a:avLst>
          </a:prstGeom>
          <a:solidFill>
            <a:srgbClr val="F3F4F6"/>
          </a:solidFill>
          <a:ln/>
        </p:spPr>
        <p:txBody>
          <a:bodyPr/>
          <a:lstStyle/>
          <a:p>
            <a:endParaRPr/>
          </a:p>
        </p:txBody>
      </p:sp>
      <p:sp>
        <p:nvSpPr>
          <p:cNvPr id="5" name="Text 3"/>
          <p:cNvSpPr/>
          <p:nvPr/>
        </p:nvSpPr>
        <p:spPr>
          <a:xfrm>
            <a:off x="584200" y="2057400"/>
            <a:ext cx="5435600" cy="2362200"/>
          </a:xfrm>
          <a:prstGeom prst="rect">
            <a:avLst/>
          </a:prstGeom>
          <a:noFill/>
          <a:ln/>
        </p:spPr>
        <p:txBody>
          <a:bodyPr wrap="square" lIns="0" tIns="0" rIns="0" bIns="0" rtlCol="0" anchor="t">
            <a:normAutofit/>
          </a:bodyPr>
          <a:lstStyle/>
          <a:p>
            <a:pPr marL="0" indent="0" algn="l">
              <a:lnSpc>
                <a:spcPct val="117000"/>
              </a:lnSpc>
              <a:buNone/>
            </a:pPr>
            <a:r>
              <a:rPr lang="en-US" sz="1200" dirty="0">
                <a:solidFill>
                  <a:srgbClr val="1B365D"/>
                </a:solidFill>
                <a:highlight>
                  <a:srgbClr val="E6E7E9"/>
                </a:highlight>
                <a:latin typeface="Consolas" pitchFamily="34" charset="0"/>
                <a:ea typeface="Consolas" pitchFamily="34" charset="-122"/>
                <a:cs typeface="Consolas" pitchFamily="34" charset="0"/>
              </a:rPr>
              <a:t>Name: Supplier Review Lead</a:t>
            </a:r>
            <a:endParaRPr lang="en-US" sz="950" dirty="0"/>
          </a:p>
          <a:p>
            <a:pPr marL="0" indent="0" algn="l">
              <a:lnSpc>
                <a:spcPct val="117000"/>
              </a:lnSpc>
              <a:buNone/>
            </a:pPr>
            <a:r>
              <a:rPr lang="en-US" sz="1200" dirty="0">
                <a:solidFill>
                  <a:srgbClr val="1B365D"/>
                </a:solidFill>
                <a:highlight>
                  <a:srgbClr val="E6E7E9"/>
                </a:highlight>
                <a:latin typeface="Consolas" pitchFamily="34" charset="0"/>
                <a:ea typeface="Consolas" pitchFamily="34" charset="-122"/>
                <a:cs typeface="Consolas" pitchFamily="34" charset="0"/>
              </a:rPr>
              <a:t>Role: Run the quarterly supplier review for the procurement team.</a:t>
            </a:r>
            <a:endParaRPr lang="en-US" sz="950" dirty="0"/>
          </a:p>
          <a:p>
            <a:pPr marL="0" indent="0" algn="l">
              <a:lnSpc>
                <a:spcPct val="117000"/>
              </a:lnSpc>
              <a:buNone/>
            </a:pPr>
            <a:r>
              <a:rPr lang="en-US" sz="1200" dirty="0">
                <a:solidFill>
                  <a:srgbClr val="1B365D"/>
                </a:solidFill>
                <a:highlight>
                  <a:srgbClr val="E6E7E9"/>
                </a:highlight>
                <a:latin typeface="Consolas" pitchFamily="34" charset="0"/>
                <a:ea typeface="Consolas" pitchFamily="34" charset="-122"/>
                <a:cs typeface="Consolas" pitchFamily="34" charset="0"/>
              </a:rPr>
              <a:t>Goal: Every active supplier has a scorecard, a review meeting, and recorded actions by the end of the quarter.</a:t>
            </a:r>
            <a:endParaRPr lang="en-US" sz="950" dirty="0"/>
          </a:p>
          <a:p>
            <a:pPr marL="0" indent="0" algn="l">
              <a:lnSpc>
                <a:spcPct val="117000"/>
              </a:lnSpc>
              <a:buNone/>
            </a:pPr>
            <a:r>
              <a:rPr lang="en-US" sz="1200" dirty="0">
                <a:solidFill>
                  <a:srgbClr val="1B365D"/>
                </a:solidFill>
                <a:highlight>
                  <a:srgbClr val="E6E7E9"/>
                </a:highlight>
                <a:latin typeface="Consolas" pitchFamily="34" charset="0"/>
                <a:ea typeface="Consolas" pitchFamily="34" charset="-122"/>
                <a:cs typeface="Consolas" pitchFamily="34" charset="0"/>
              </a:rPr>
              <a:t>Boundaries: Contact suppliers only through the procurement shared mailbox. Ask me before you move a meeting with a supplier executive.</a:t>
            </a:r>
            <a:endParaRPr lang="en-US" sz="950" dirty="0"/>
          </a:p>
          <a:p>
            <a:pPr marL="0" indent="0" algn="l">
              <a:lnSpc>
                <a:spcPct val="117000"/>
              </a:lnSpc>
              <a:buNone/>
            </a:pPr>
            <a:r>
              <a:rPr lang="en-US" sz="1200" dirty="0">
                <a:solidFill>
                  <a:srgbClr val="1B365D"/>
                </a:solidFill>
                <a:highlight>
                  <a:srgbClr val="E6E7E9"/>
                </a:highlight>
                <a:latin typeface="Consolas" pitchFamily="34" charset="0"/>
                <a:ea typeface="Consolas" pitchFamily="34" charset="-122"/>
                <a:cs typeface="Consolas" pitchFamily="34" charset="0"/>
              </a:rPr>
              <a:t>Escalate: Any supplier with two missed deliveries or an open quality incident.</a:t>
            </a:r>
            <a:endParaRPr lang="en-US" sz="950" dirty="0"/>
          </a:p>
        </p:txBody>
      </p:sp>
      <p:pic>
        <p:nvPicPr>
          <p:cNvPr id="6" name="Image 0" descr="preencoded.png"/>
          <p:cNvPicPr>
            <a:picLocks noChangeAspect="1"/>
          </p:cNvPicPr>
          <p:nvPr/>
        </p:nvPicPr>
        <p:blipFill>
          <a:blip r:embed="rId3"/>
          <a:stretch>
            <a:fillRect/>
          </a:stretch>
        </p:blipFill>
        <p:spPr>
          <a:xfrm>
            <a:off x="6404509" y="1610583"/>
            <a:ext cx="3315609" cy="494258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Heartbeat and automations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How Autopilot keeps working in the background</a:t>
            </a:r>
            <a:endParaRPr lang="en-US" sz="2200" dirty="0"/>
          </a:p>
        </p:txBody>
      </p:sp>
      <p:sp>
        <p:nvSpPr>
          <p:cNvPr id="4" name="Text 2"/>
          <p:cNvSpPr/>
          <p:nvPr/>
        </p:nvSpPr>
        <p:spPr>
          <a:xfrm>
            <a:off x="609600" y="2714767"/>
            <a:ext cx="4575839"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Heartbeat</a:t>
            </a:r>
            <a:r>
              <a:rPr lang="en-US" sz="1400" dirty="0">
                <a:solidFill>
                  <a:srgbClr val="1B365D"/>
                </a:solidFill>
                <a:latin typeface="Poppins" pitchFamily="34" charset="0"/>
                <a:ea typeface="Poppins" pitchFamily="34" charset="-122"/>
                <a:cs typeface="Poppins" pitchFamily="34" charset="0"/>
              </a:rPr>
              <a:t>: one prompt every 15 minutes, 30 minutes, 1 hour or 2 hours, within your work hours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Automations</a:t>
            </a:r>
            <a:r>
              <a:rPr lang="en-US" sz="1400" dirty="0">
                <a:solidFill>
                  <a:srgbClr val="1B365D"/>
                </a:solidFill>
                <a:latin typeface="Poppins" pitchFamily="34" charset="0"/>
                <a:ea typeface="Poppins" pitchFamily="34" charset="-122"/>
                <a:cs typeface="Poppins" pitchFamily="34" charset="0"/>
              </a:rPr>
              <a:t>: schedule-triggered, condition-triggered or one-shot</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Interactive conversation</a:t>
            </a:r>
            <a:r>
              <a:rPr lang="en-US" sz="1400" dirty="0">
                <a:solidFill>
                  <a:srgbClr val="1B365D"/>
                </a:solidFill>
                <a:latin typeface="Poppins" pitchFamily="34" charset="0"/>
                <a:ea typeface="Poppins" pitchFamily="34" charset="-122"/>
                <a:cs typeface="Poppins" pitchFamily="34" charset="0"/>
              </a:rPr>
              <a:t>: briefing, steering and reviewing results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Background modes run under a </a:t>
            </a:r>
            <a:r>
              <a:rPr lang="en-US" sz="1400" b="1" dirty="0">
                <a:solidFill>
                  <a:srgbClr val="1B365D"/>
                </a:solidFill>
                <a:latin typeface="Poppins" pitchFamily="34" charset="0"/>
                <a:ea typeface="Poppins" pitchFamily="34" charset="-122"/>
                <a:cs typeface="Poppins" pitchFamily="34" charset="0"/>
              </a:rPr>
              <a:t>more restrictive permission policy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Mechanics documented for </a:t>
            </a:r>
            <a:r>
              <a:rPr lang="en-US" sz="1400" b="1" dirty="0">
                <a:solidFill>
                  <a:srgbClr val="1B365D"/>
                </a:solidFill>
                <a:latin typeface="Poppins" pitchFamily="34" charset="0"/>
                <a:ea typeface="Poppins" pitchFamily="34" charset="-122"/>
                <a:cs typeface="Poppins" pitchFamily="34" charset="0"/>
              </a:rPr>
              <a:t>Microsoft Scout</a:t>
            </a:r>
            <a:r>
              <a:rPr lang="en-US" sz="1400" dirty="0">
                <a:solidFill>
                  <a:srgbClr val="1B365D"/>
                </a:solidFill>
                <a:latin typeface="Poppins" pitchFamily="34" charset="0"/>
                <a:ea typeface="Poppins" pitchFamily="34" charset="-122"/>
                <a:cs typeface="Poppins" pitchFamily="34" charset="0"/>
              </a:rPr>
              <a:t>, the preview Autopilot grew out of</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Approvals and untrusted content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What pauses for you and what stays data</a:t>
            </a:r>
            <a:endParaRPr lang="en-US" sz="2200" dirty="0"/>
          </a:p>
        </p:txBody>
      </p:sp>
      <p:sp>
        <p:nvSpPr>
          <p:cNvPr id="4" name="Text 2"/>
          <p:cNvSpPr/>
          <p:nvPr/>
        </p:nvSpPr>
        <p:spPr>
          <a:xfrm>
            <a:off x="609600" y="2839577"/>
            <a:ext cx="4575839" cy="264586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Before it </a:t>
            </a:r>
            <a:r>
              <a:rPr lang="en-US" sz="1400" b="1" dirty="0">
                <a:solidFill>
                  <a:srgbClr val="1B365D"/>
                </a:solidFill>
                <a:latin typeface="Poppins" pitchFamily="34" charset="0"/>
                <a:ea typeface="Poppins" pitchFamily="34" charset="-122"/>
                <a:cs typeface="Poppins" pitchFamily="34" charset="0"/>
              </a:rPr>
              <a:t>sends an email, posts in Teams or runs a command</a:t>
            </a:r>
            <a:r>
              <a:rPr lang="en-US" sz="1400" dirty="0">
                <a:solidFill>
                  <a:srgbClr val="1B365D"/>
                </a:solidFill>
                <a:latin typeface="Poppins" pitchFamily="34" charset="0"/>
                <a:ea typeface="Poppins" pitchFamily="34" charset="-122"/>
                <a:cs typeface="Poppins" pitchFamily="34" charset="0"/>
              </a:rPr>
              <a:t>, it pauses and shows its plan</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Always allow</a:t>
            </a:r>
            <a:r>
              <a:rPr lang="en-US" sz="1400" dirty="0">
                <a:solidFill>
                  <a:srgbClr val="1B365D"/>
                </a:solidFill>
                <a:latin typeface="Poppins" pitchFamily="34" charset="0"/>
                <a:ea typeface="Poppins" pitchFamily="34" charset="-122"/>
                <a:cs typeface="Poppins" pitchFamily="34" charset="0"/>
              </a:rPr>
              <a:t> adds the pattern to the auto-approve list</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Capability categories</a:t>
            </a:r>
            <a:r>
              <a:rPr lang="en-US" sz="1400" dirty="0">
                <a:solidFill>
                  <a:srgbClr val="1B365D"/>
                </a:solidFill>
                <a:latin typeface="Poppins" pitchFamily="34" charset="0"/>
                <a:ea typeface="Poppins" pitchFamily="34" charset="-122"/>
                <a:cs typeface="Poppins" pitchFamily="34" charset="0"/>
              </a:rPr>
              <a:t> (file system, shell, browser, Microsoft 365) switch on or off</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Sensitive locations</a:t>
            </a:r>
            <a:r>
              <a:rPr lang="en-US" sz="1400" dirty="0">
                <a:solidFill>
                  <a:srgbClr val="1B365D"/>
                </a:solidFill>
                <a:latin typeface="Poppins" pitchFamily="34" charset="0"/>
                <a:ea typeface="Poppins" pitchFamily="34" charset="-122"/>
                <a:cs typeface="Poppins" pitchFamily="34" charset="0"/>
              </a:rPr>
              <a:t> can always require approval</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Untrusted content</a:t>
            </a:r>
            <a:r>
              <a:rPr lang="en-US" sz="1400" dirty="0">
                <a:solidFill>
                  <a:srgbClr val="1B365D"/>
                </a:solidFill>
                <a:latin typeface="Poppins" pitchFamily="34" charset="0"/>
                <a:ea typeface="Poppins" pitchFamily="34" charset="-122"/>
                <a:cs typeface="Poppins" pitchFamily="34" charset="0"/>
              </a:rPr>
              <a:t> from emails, web pages and Teams messages stays data</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Agent Accounts: Give a Copilot Studio Agent Its Own Identity</a:t>
            </a:r>
          </a:p>
          <a:p>
            <a:pPr>
              <a:lnSpc>
                <a:spcPct val="95000"/>
              </a:lnSpc>
              <a:spcBef>
                <a:spcPts val="1400"/>
              </a:spcBef>
            </a:pPr>
            <a:r>
              <a:rPr sz="2000" b="0">
                <a:solidFill>
                  <a:srgbClr val="595F67"/>
                </a:solidFill>
                <a:latin typeface="Poppins"/>
              </a:rPr>
              <a:t>From agent account to publish</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pitchFamily="34" charset="-122"/>
                <a:cs typeface="Montserrat" pitchFamily="34" charset="0"/>
              </a:rPr>
              <a:t>Publishing an agent with an account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pitchFamily="34" charset="-122"/>
                <a:cs typeface="Montserrat" pitchFamily="34" charset="0"/>
              </a:rPr>
              <a:t>What the account provisions at publish</a:t>
            </a:r>
            <a:endParaRPr lang="en-US" sz="2200" dirty="0"/>
          </a:p>
        </p:txBody>
      </p:sp>
      <p:sp>
        <p:nvSpPr>
          <p:cNvPr id="4" name="Text 2"/>
          <p:cNvSpPr/>
          <p:nvPr/>
        </p:nvSpPr>
        <p:spPr>
          <a:xfrm>
            <a:off x="609600" y="2714767"/>
            <a:ext cx="4575839"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Add the </a:t>
            </a:r>
            <a:r>
              <a:rPr lang="en-US" sz="1400" b="1" dirty="0">
                <a:solidFill>
                  <a:srgbClr val="1B365D"/>
                </a:solidFill>
                <a:latin typeface="Poppins" pitchFamily="34" charset="0"/>
                <a:ea typeface="Poppins" pitchFamily="34" charset="-122"/>
                <a:cs typeface="Poppins" pitchFamily="34" charset="0"/>
              </a:rPr>
              <a:t>account</a:t>
            </a:r>
            <a:r>
              <a:rPr lang="en-US" sz="1400" dirty="0">
                <a:solidFill>
                  <a:srgbClr val="1B365D"/>
                </a:solidFill>
                <a:latin typeface="Poppins" pitchFamily="34" charset="0"/>
                <a:ea typeface="Poppins" pitchFamily="34" charset="-122"/>
                <a:cs typeface="Poppins" pitchFamily="34" charset="0"/>
              </a:rPr>
              <a:t> to a new agent before its first publish</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Publish</a:t>
            </a:r>
            <a:r>
              <a:rPr lang="en-US" sz="1400" dirty="0">
                <a:solidFill>
                  <a:srgbClr val="1B365D"/>
                </a:solidFill>
                <a:latin typeface="Poppins" pitchFamily="34" charset="0"/>
                <a:ea typeface="Poppins" pitchFamily="34" charset="-122"/>
                <a:cs typeface="Poppins" pitchFamily="34" charset="0"/>
              </a:rPr>
              <a:t> provisions the mailbox, Teams presence, directory entry and Entra Agent IDs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Each agent takes one </a:t>
            </a:r>
            <a:r>
              <a:rPr lang="en-US" sz="1400" b="1" dirty="0">
                <a:solidFill>
                  <a:srgbClr val="1B365D"/>
                </a:solidFill>
                <a:latin typeface="Poppins" pitchFamily="34" charset="0"/>
                <a:ea typeface="Poppins" pitchFamily="34" charset="-122"/>
                <a:cs typeface="Poppins" pitchFamily="34" charset="0"/>
              </a:rPr>
              <a:t>Frontier for AI Teammates</a:t>
            </a:r>
            <a:r>
              <a:rPr lang="en-US" sz="1400" dirty="0">
                <a:solidFill>
                  <a:srgbClr val="1B365D"/>
                </a:solidFill>
                <a:latin typeface="Poppins" pitchFamily="34" charset="0"/>
                <a:ea typeface="Poppins" pitchFamily="34" charset="-122"/>
                <a:cs typeface="Poppins" pitchFamily="34" charset="0"/>
              </a:rPr>
              <a:t> license; with none free, publishing fails</a:t>
            </a:r>
            <a:endParaRPr lang="en-US" sz="1450" dirty="0"/>
          </a:p>
          <a:p>
            <a:pPr marL="294640" indent="-294640" algn="l">
              <a:lnSpc>
                <a:spcPct val="117000"/>
              </a:lnSpc>
              <a:buSzPct val="100000"/>
              <a:buChar char="•"/>
            </a:pPr>
            <a:r>
              <a:rPr lang="en-US" sz="1400" b="1" dirty="0">
                <a:solidFill>
                  <a:srgbClr val="1B365D"/>
                </a:solidFill>
                <a:latin typeface="Poppins" pitchFamily="34" charset="0"/>
                <a:ea typeface="Poppins" pitchFamily="34" charset="-122"/>
                <a:cs typeface="Poppins" pitchFamily="34" charset="0"/>
              </a:rPr>
              <a:t>Agent 365</a:t>
            </a:r>
            <a:r>
              <a:rPr lang="en-US" sz="1400" dirty="0">
                <a:solidFill>
                  <a:srgbClr val="1B365D"/>
                </a:solidFill>
                <a:latin typeface="Poppins" pitchFamily="34" charset="0"/>
                <a:ea typeface="Poppins" pitchFamily="34" charset="-122"/>
                <a:cs typeface="Poppins" pitchFamily="34" charset="0"/>
              </a:rPr>
              <a:t> governs the account; admins manage the Entra Agent ID separately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Colleagues find it in the </a:t>
            </a:r>
            <a:r>
              <a:rPr lang="en-US" sz="1400" b="1" dirty="0">
                <a:solidFill>
                  <a:srgbClr val="1B365D"/>
                </a:solidFill>
                <a:latin typeface="Poppins" pitchFamily="34" charset="0"/>
                <a:ea typeface="Poppins" pitchFamily="34" charset="-122"/>
                <a:cs typeface="Poppins" pitchFamily="34" charset="0"/>
              </a:rPr>
              <a:t>Teams people picker</a:t>
            </a:r>
            <a:r>
              <a:rPr lang="en-US" sz="1400" dirty="0">
                <a:solidFill>
                  <a:srgbClr val="1B365D"/>
                </a:solidFill>
                <a:latin typeface="Poppins" pitchFamily="34" charset="0"/>
                <a:ea typeface="Poppins" pitchFamily="34" charset="-122"/>
                <a:cs typeface="Poppins" pitchFamily="34" charset="0"/>
              </a:rPr>
              <a:t> and the directory</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057203"/>
            <a:ext cx="4824773"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Identity and preview limits</a:t>
            </a:r>
            <a:endParaRPr lang="en-US" sz="3700" dirty="0"/>
          </a:p>
        </p:txBody>
      </p:sp>
      <p:sp>
        <p:nvSpPr>
          <p:cNvPr id="4" name="Text 1"/>
          <p:cNvSpPr/>
          <p:nvPr/>
        </p:nvSpPr>
        <p:spPr>
          <a:xfrm>
            <a:off x="609600" y="2212698"/>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Decisions to settle before you publish</a:t>
            </a:r>
            <a:endParaRPr lang="en-US" sz="2950" dirty="0"/>
          </a:p>
        </p:txBody>
      </p:sp>
      <p:sp>
        <p:nvSpPr>
          <p:cNvPr id="5" name="Text 2"/>
          <p:cNvSpPr/>
          <p:nvPr/>
        </p:nvSpPr>
        <p:spPr>
          <a:xfrm>
            <a:off x="609600" y="3068201"/>
            <a:ext cx="4824773"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email address</a:t>
            </a:r>
            <a:r>
              <a:rPr lang="en-US" sz="1400" dirty="0">
                <a:solidFill>
                  <a:srgbClr val="1B365D"/>
                </a:solidFill>
                <a:latin typeface="Poppins" pitchFamily="34" charset="0"/>
                <a:ea typeface="Poppins" pitchFamily="34" charset="-122"/>
                <a:cs typeface="Poppins" pitchFamily="34" charset="0"/>
              </a:rPr>
              <a:t> starts with your alias, and the agent reports to you</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In the preview neither can change, and the </a:t>
            </a:r>
            <a:r>
              <a:rPr lang="en-US" sz="1400" b="1" dirty="0">
                <a:solidFill>
                  <a:srgbClr val="1B365D"/>
                </a:solidFill>
                <a:latin typeface="Poppins Bold" pitchFamily="34" charset="0"/>
                <a:ea typeface="Poppins Bold" pitchFamily="34" charset="-122"/>
                <a:cs typeface="Poppins Bold" pitchFamily="34" charset="0"/>
              </a:rPr>
              <a:t>address</a:t>
            </a:r>
            <a:r>
              <a:rPr lang="en-US" sz="1400" dirty="0">
                <a:solidFill>
                  <a:srgbClr val="1B365D"/>
                </a:solidFill>
                <a:latin typeface="Poppins" pitchFamily="34" charset="0"/>
                <a:ea typeface="Poppins" pitchFamily="34" charset="-122"/>
                <a:cs typeface="Poppins" pitchFamily="34" charset="0"/>
              </a:rPr>
              <a:t> stays fixed once you publish</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No external users</a:t>
            </a:r>
            <a:r>
              <a:rPr lang="en-US" sz="1400" dirty="0">
                <a:solidFill>
                  <a:srgbClr val="1B365D"/>
                </a:solidFill>
                <a:latin typeface="Poppins" pitchFamily="34" charset="0"/>
                <a:ea typeface="Poppins" pitchFamily="34" charset="-122"/>
                <a:cs typeface="Poppins" pitchFamily="34" charset="0"/>
              </a:rPr>
              <a:t> and </a:t>
            </a:r>
            <a:r>
              <a:rPr lang="en-US" sz="1400" b="1" dirty="0">
                <a:solidFill>
                  <a:srgbClr val="1B365D"/>
                </a:solidFill>
                <a:latin typeface="Poppins Bold" pitchFamily="34" charset="0"/>
                <a:ea typeface="Poppins Bold" pitchFamily="34" charset="-122"/>
                <a:cs typeface="Poppins Bold" pitchFamily="34" charset="0"/>
              </a:rPr>
              <a:t>no co-authoring</a:t>
            </a:r>
            <a:r>
              <a:rPr lang="en-US" sz="1400" dirty="0">
                <a:solidFill>
                  <a:srgbClr val="1B365D"/>
                </a:solidFill>
                <a:latin typeface="Poppins" pitchFamily="34" charset="0"/>
                <a:ea typeface="Poppins" pitchFamily="34" charset="-122"/>
                <a:cs typeface="Poppins" pitchFamily="34" charset="0"/>
              </a:rPr>
              <a:t>: it writes new documents and leaves existing ones as they are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It replies only in conversations with up to </a:t>
            </a:r>
            <a:r>
              <a:rPr lang="en-US" sz="1400" b="1" dirty="0">
                <a:solidFill>
                  <a:srgbClr val="1B365D"/>
                </a:solidFill>
                <a:latin typeface="Poppins Bold" pitchFamily="34" charset="0"/>
                <a:ea typeface="Poppins Bold" pitchFamily="34" charset="-122"/>
                <a:cs typeface="Poppins Bold" pitchFamily="34" charset="0"/>
              </a:rPr>
              <a:t>250 people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It cannot read files labeled </a:t>
            </a:r>
            <a:r>
              <a:rPr lang="en-US" sz="1400" b="1" dirty="0">
                <a:solidFill>
                  <a:srgbClr val="1B365D"/>
                </a:solidFill>
                <a:latin typeface="Poppins Bold" pitchFamily="34" charset="0"/>
                <a:ea typeface="Poppins Bold" pitchFamily="34" charset="-122"/>
                <a:cs typeface="Poppins Bold" pitchFamily="34" charset="0"/>
              </a:rPr>
              <a:t>Confidential</a:t>
            </a:r>
            <a:r>
              <a:rPr lang="en-US" sz="1400" dirty="0">
                <a:solidFill>
                  <a:srgbClr val="1B365D"/>
                </a:solidFill>
                <a:latin typeface="Poppins" pitchFamily="34" charset="0"/>
                <a:ea typeface="Poppins" pitchFamily="34" charset="-122"/>
                <a:cs typeface="Poppins" pitchFamily="34" charset="0"/>
              </a:rPr>
              <a:t> or </a:t>
            </a:r>
            <a:r>
              <a:rPr lang="en-US" sz="1400" b="1" dirty="0">
                <a:solidFill>
                  <a:srgbClr val="1B365D"/>
                </a:solidFill>
                <a:latin typeface="Poppins Bold" pitchFamily="34" charset="0"/>
                <a:ea typeface="Poppins Bold" pitchFamily="34" charset="-122"/>
                <a:cs typeface="Poppins Bold" pitchFamily="34" charset="0"/>
              </a:rPr>
              <a:t>Internal Only</a:t>
            </a:r>
            <a:endParaRPr lang="en-US" sz="1450" dirty="0"/>
          </a:p>
        </p:txBody>
      </p:sp>
    </p:spTree>
    <p:extLst>
      <p:ext uri="{BB962C8B-B14F-4D97-AF65-F5344CB8AC3E}">
        <p14:creationId xmlns:p14="http://schemas.microsoft.com/office/powerpoint/2010/main" val="498793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Tool authentication</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From the author's credentials to the agent's own</a:t>
            </a:r>
            <a:endParaRPr lang="en-US" sz="2950" dirty="0"/>
          </a:p>
        </p:txBody>
      </p:sp>
      <p:sp>
        <p:nvSpPr>
          <p:cNvPr id="4" name="Text 2"/>
          <p:cNvSpPr/>
          <p:nvPr/>
        </p:nvSpPr>
        <p:spPr>
          <a:xfrm>
            <a:off x="609600" y="2648994"/>
            <a:ext cx="4575839" cy="343971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Without an account</a:t>
            </a:r>
            <a:r>
              <a:rPr lang="en-US" sz="1400" dirty="0">
                <a:solidFill>
                  <a:srgbClr val="1B365D"/>
                </a:solidFill>
                <a:latin typeface="Poppins" pitchFamily="34" charset="0"/>
                <a:ea typeface="Poppins" pitchFamily="34" charset="-122"/>
                <a:cs typeface="Poppins" pitchFamily="34" charset="0"/>
              </a:rPr>
              <a:t>: an event trigger runs on the author's credentials, and Publish warns about it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With an account</a:t>
            </a:r>
            <a:r>
              <a:rPr lang="en-US" sz="1400" dirty="0">
                <a:solidFill>
                  <a:srgbClr val="1B365D"/>
                </a:solidFill>
                <a:latin typeface="Poppins" pitchFamily="34" charset="0"/>
                <a:ea typeface="Poppins" pitchFamily="34" charset="-122"/>
                <a:cs typeface="Poppins" pitchFamily="34" charset="0"/>
              </a:rPr>
              <a:t>: the agent acts as itself, with its own scoped access rights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Agent account</a:t>
            </a:r>
            <a:r>
              <a:rPr lang="en-US" sz="1400" dirty="0">
                <a:solidFill>
                  <a:srgbClr val="1B365D"/>
                </a:solidFill>
                <a:latin typeface="Poppins" pitchFamily="34" charset="0"/>
                <a:ea typeface="Poppins" pitchFamily="34" charset="-122"/>
                <a:cs typeface="Poppins" pitchFamily="34" charset="0"/>
              </a:rPr>
              <a:t> becomes the default authentication for every tool that supports it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End-user authentication</a:t>
            </a:r>
            <a:r>
              <a:rPr lang="en-US" sz="1400" dirty="0">
                <a:solidFill>
                  <a:srgbClr val="1B365D"/>
                </a:solidFill>
                <a:latin typeface="Poppins" pitchFamily="34" charset="0"/>
                <a:ea typeface="Poppins" pitchFamily="34" charset="-122"/>
                <a:cs typeface="Poppins" pitchFamily="34" charset="0"/>
              </a:rPr>
              <a:t> still needs each person's consent through Go to Agent Management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Check which identity each tool uses and grant only the </a:t>
            </a:r>
            <a:r>
              <a:rPr lang="en-US" sz="1400" b="1" dirty="0">
                <a:solidFill>
                  <a:srgbClr val="1B365D"/>
                </a:solidFill>
                <a:latin typeface="Poppins Bold" pitchFamily="34" charset="0"/>
                <a:ea typeface="Poppins Bold" pitchFamily="34" charset="-122"/>
                <a:cs typeface="Poppins Bold" pitchFamily="34" charset="0"/>
              </a:rPr>
              <a:t>access the job needs</a:t>
            </a:r>
            <a:endParaRPr lang="en-US" sz="1450" dirty="0"/>
          </a:p>
        </p:txBody>
      </p:sp>
      <p:pic>
        <p:nvPicPr>
          <p:cNvPr id="5" name="Image 0" descr="preencoded.png"/>
          <p:cNvPicPr>
            <a:picLocks noChangeAspect="1"/>
          </p:cNvPicPr>
          <p:nvPr/>
        </p:nvPicPr>
        <p:blipFill>
          <a:blip r:embed="rId3"/>
          <a:stretch>
            <a:fillRect/>
          </a:stretch>
        </p:blipFill>
        <p:spPr>
          <a:xfrm>
            <a:off x="5652946" y="2485330"/>
            <a:ext cx="5883525" cy="3309541"/>
          </a:xfrm>
          <a:prstGeom prst="rect">
            <a:avLst/>
          </a:prstGeom>
        </p:spPr>
      </p:pic>
    </p:spTree>
    <p:extLst>
      <p:ext uri="{BB962C8B-B14F-4D97-AF65-F5344CB8AC3E}">
        <p14:creationId xmlns:p14="http://schemas.microsoft.com/office/powerpoint/2010/main" val="3799520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Proactive Teammates: Triggers, Email &amp; Teams Mentions</a:t>
            </a:r>
          </a:p>
          <a:p>
            <a:pPr>
              <a:lnSpc>
                <a:spcPct val="95000"/>
              </a:lnSpc>
              <a:spcBef>
                <a:spcPts val="1400"/>
              </a:spcBef>
            </a:pPr>
            <a:r>
              <a:rPr sz="2000" b="0">
                <a:solidFill>
                  <a:srgbClr val="595F67"/>
                </a:solidFill>
                <a:latin typeface="Poppins"/>
              </a:rPr>
              <a:t>What starts the agent's cycle</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Triggers, tools and instructions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Three pieces that start an agent's cycle</a:t>
            </a:r>
            <a:endParaRPr lang="en-US" sz="2950" dirty="0"/>
          </a:p>
        </p:txBody>
      </p:sp>
      <p:sp>
        <p:nvSpPr>
          <p:cNvPr id="4" name="Text 2"/>
          <p:cNvSpPr/>
          <p:nvPr/>
        </p:nvSpPr>
        <p:spPr>
          <a:xfrm>
            <a:off x="609600" y="3023421"/>
            <a:ext cx="4575839"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Recurrence</a:t>
            </a:r>
            <a:r>
              <a:rPr lang="en-US" sz="1400" dirty="0">
                <a:solidFill>
                  <a:srgbClr val="1B365D"/>
                </a:solidFill>
                <a:latin typeface="Poppins" pitchFamily="34" charset="0"/>
                <a:ea typeface="Poppins" pitchFamily="34" charset="-122"/>
                <a:cs typeface="Poppins" pitchFamily="34" charset="0"/>
              </a:rPr>
              <a:t>: the schedule you set comes around</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Email</a:t>
            </a:r>
            <a:r>
              <a:rPr lang="en-US" sz="1400" dirty="0">
                <a:solidFill>
                  <a:srgbClr val="1B365D"/>
                </a:solidFill>
                <a:latin typeface="Poppins" pitchFamily="34" charset="0"/>
                <a:ea typeface="Poppins" pitchFamily="34" charset="-122"/>
                <a:cs typeface="Poppins" pitchFamily="34" charset="0"/>
              </a:rPr>
              <a:t>: a message arrives in the agent's mailbox</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 person</a:t>
            </a:r>
            <a:r>
              <a:rPr lang="en-US" sz="1400" dirty="0">
                <a:solidFill>
                  <a:srgbClr val="1B365D"/>
                </a:solidFill>
                <a:latin typeface="Poppins" pitchFamily="34" charset="0"/>
                <a:ea typeface="Poppins" pitchFamily="34" charset="-122"/>
                <a:cs typeface="Poppins" pitchFamily="34" charset="0"/>
              </a:rPr>
              <a:t>: someone @mentions it or sends it a task</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Instructions alone don't create a </a:t>
            </a:r>
            <a:r>
              <a:rPr lang="en-US" sz="1400" b="1" dirty="0">
                <a:solidFill>
                  <a:srgbClr val="1B365D"/>
                </a:solidFill>
                <a:latin typeface="Poppins Bold" pitchFamily="34" charset="0"/>
                <a:ea typeface="Poppins Bold" pitchFamily="34" charset="-122"/>
                <a:cs typeface="Poppins Bold" pitchFamily="34" charset="0"/>
              </a:rPr>
              <a:t>schedule</a:t>
            </a:r>
            <a:r>
              <a:rPr lang="en-US" sz="1400" dirty="0">
                <a:solidFill>
                  <a:srgbClr val="1B365D"/>
                </a:solidFill>
                <a:latin typeface="Poppins" pitchFamily="34" charset="0"/>
                <a:ea typeface="Poppins" pitchFamily="34" charset="-122"/>
                <a:cs typeface="Poppins" pitchFamily="34" charset="0"/>
              </a:rPr>
              <a:t> or grant access</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Triggers for the </a:t>
            </a:r>
            <a:r>
              <a:rPr lang="en-US" sz="1400" b="1" dirty="0">
                <a:solidFill>
                  <a:srgbClr val="1B365D"/>
                </a:solidFill>
                <a:latin typeface="Poppins Bold" pitchFamily="34" charset="0"/>
                <a:ea typeface="Poppins Bold" pitchFamily="34" charset="-122"/>
                <a:cs typeface="Poppins Bold" pitchFamily="34" charset="0"/>
              </a:rPr>
              <a:t>GitHub Copilot harness</a:t>
            </a:r>
            <a:r>
              <a:rPr lang="en-US" sz="1400" dirty="0">
                <a:solidFill>
                  <a:srgbClr val="1B365D"/>
                </a:solidFill>
                <a:latin typeface="Poppins" pitchFamily="34" charset="0"/>
                <a:ea typeface="Poppins" pitchFamily="34" charset="-122"/>
                <a:cs typeface="Poppins" pitchFamily="34" charset="0"/>
              </a:rPr>
              <a:t> were announced on October 15, 2026</a:t>
            </a:r>
            <a:endParaRPr lang="en-US" sz="1450" dirty="0"/>
          </a:p>
        </p:txBody>
      </p:sp>
      <p:pic>
        <p:nvPicPr>
          <p:cNvPr id="5" name="Image 0" descr="preencoded.png"/>
          <p:cNvPicPr>
            <a:picLocks noChangeAspect="1"/>
          </p:cNvPicPr>
          <p:nvPr/>
        </p:nvPicPr>
        <p:blipFill>
          <a:blip r:embed="rId3"/>
          <a:stretch>
            <a:fillRect/>
          </a:stretch>
        </p:blipFill>
        <p:spPr>
          <a:xfrm>
            <a:off x="5652946" y="2485330"/>
            <a:ext cx="5883525" cy="3309541"/>
          </a:xfrm>
          <a:prstGeom prst="rect">
            <a:avLst/>
          </a:prstGeom>
        </p:spPr>
      </p:pic>
    </p:spTree>
    <p:extLst>
      <p:ext uri="{BB962C8B-B14F-4D97-AF65-F5344CB8AC3E}">
        <p14:creationId xmlns:p14="http://schemas.microsoft.com/office/powerpoint/2010/main" val="3847331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The Cadence pattern</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An execution-review agent from the Learn documentation</a:t>
            </a:r>
            <a:endParaRPr lang="en-US" sz="2950" dirty="0"/>
          </a:p>
        </p:txBody>
      </p:sp>
      <p:sp>
        <p:nvSpPr>
          <p:cNvPr id="4" name="Text 2"/>
          <p:cNvSpPr/>
          <p:nvPr/>
        </p:nvSpPr>
        <p:spPr>
          <a:xfrm>
            <a:off x="609600" y="3134852"/>
            <a:ext cx="4575839"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Inputs</a:t>
            </a:r>
            <a:r>
              <a:rPr lang="en-US" sz="1400" dirty="0">
                <a:solidFill>
                  <a:srgbClr val="1B365D"/>
                </a:solidFill>
                <a:latin typeface="Poppins" pitchFamily="34" charset="0"/>
                <a:ea typeface="Poppins" pitchFamily="34" charset="-122"/>
                <a:cs typeface="Poppins" pitchFamily="34" charset="0"/>
              </a:rPr>
              <a:t>: an approved workstream tracker and a small internal reviewer group</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Each </a:t>
            </a:r>
            <a:r>
              <a:rPr lang="en-US" sz="1400" b="1" dirty="0">
                <a:solidFill>
                  <a:srgbClr val="1B365D"/>
                </a:solidFill>
                <a:latin typeface="Poppins Bold" pitchFamily="34" charset="0"/>
                <a:ea typeface="Poppins Bold" pitchFamily="34" charset="-122"/>
                <a:cs typeface="Poppins Bold" pitchFamily="34" charset="0"/>
              </a:rPr>
              <a:t>scheduled run</a:t>
            </a:r>
            <a:r>
              <a:rPr lang="en-US" sz="1400" dirty="0">
                <a:solidFill>
                  <a:srgbClr val="1B365D"/>
                </a:solidFill>
                <a:latin typeface="Poppins" pitchFamily="34" charset="0"/>
                <a:ea typeface="Poppins" pitchFamily="34" charset="-122"/>
                <a:cs typeface="Poppins" pitchFamily="34" charset="0"/>
              </a:rPr>
              <a:t> reads the tracker, finds blockers and creates a review document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new document</a:t>
            </a:r>
            <a:r>
              <a:rPr lang="en-US" sz="1400" dirty="0">
                <a:solidFill>
                  <a:srgbClr val="1B365D"/>
                </a:solidFill>
                <a:latin typeface="Poppins" pitchFamily="34" charset="0"/>
                <a:ea typeface="Poppins" pitchFamily="34" charset="-122"/>
                <a:cs typeface="Poppins" pitchFamily="34" charset="0"/>
              </a:rPr>
              <a:t> each cycle, because co-authoring is not supported</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Preserve uncertainty</a:t>
            </a:r>
            <a:r>
              <a:rPr lang="en-US" sz="1400" dirty="0">
                <a:solidFill>
                  <a:srgbClr val="1B365D"/>
                </a:solidFill>
                <a:latin typeface="Poppins" pitchFamily="34" charset="0"/>
                <a:ea typeface="Poppins" pitchFamily="34" charset="-122"/>
                <a:cs typeface="Poppins" pitchFamily="34" charset="0"/>
              </a:rPr>
              <a:t>: a missing reply does not mean the work is on track</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Stop and explain</a:t>
            </a:r>
            <a:r>
              <a:rPr lang="en-US" sz="1400" dirty="0">
                <a:solidFill>
                  <a:srgbClr val="1B365D"/>
                </a:solidFill>
                <a:latin typeface="Poppins" pitchFamily="34" charset="0"/>
                <a:ea typeface="Poppins" pitchFamily="34" charset="-122"/>
                <a:cs typeface="Poppins" pitchFamily="34" charset="0"/>
              </a:rPr>
              <a:t> when a source, connection or permission is missing</a:t>
            </a:r>
            <a:endParaRPr lang="en-US" sz="1450" dirty="0"/>
          </a:p>
        </p:txBody>
      </p:sp>
      <p:pic>
        <p:nvPicPr>
          <p:cNvPr id="5" name="Image 0" descr="preencoded.png"/>
          <p:cNvPicPr>
            <a:picLocks noChangeAspect="1"/>
          </p:cNvPicPr>
          <p:nvPr/>
        </p:nvPicPr>
        <p:blipFill>
          <a:blip r:embed="rId3"/>
          <a:stretch>
            <a:fillRect/>
          </a:stretch>
        </p:blipFill>
        <p:spPr>
          <a:xfrm>
            <a:off x="5652946" y="2721570"/>
            <a:ext cx="5883525" cy="3309541"/>
          </a:xfrm>
          <a:prstGeom prst="rect">
            <a:avLst/>
          </a:prstGeom>
        </p:spPr>
      </p:pic>
    </p:spTree>
    <p:extLst>
      <p:ext uri="{BB962C8B-B14F-4D97-AF65-F5344CB8AC3E}">
        <p14:creationId xmlns:p14="http://schemas.microsoft.com/office/powerpoint/2010/main" val="1692874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128194" y="0"/>
            <a:ext cx="4063402" cy="6858000"/>
          </a:xfrm>
          <a:prstGeom prst="rect">
            <a:avLst/>
          </a:prstGeom>
        </p:spPr>
      </p:pic>
      <p:sp>
        <p:nvSpPr>
          <p:cNvPr id="3" name="Text 0"/>
          <p:cNvSpPr/>
          <p:nvPr/>
        </p:nvSpPr>
        <p:spPr>
          <a:xfrm>
            <a:off x="609600" y="2311740"/>
            <a:ext cx="68571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How people hand it work</a:t>
            </a:r>
            <a:endParaRPr lang="en-US" sz="3700" dirty="0"/>
          </a:p>
        </p:txBody>
      </p:sp>
      <p:sp>
        <p:nvSpPr>
          <p:cNvPr id="4" name="Text 1"/>
          <p:cNvSpPr/>
          <p:nvPr/>
        </p:nvSpPr>
        <p:spPr>
          <a:xfrm>
            <a:off x="609600" y="2955108"/>
            <a:ext cx="6857119"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Teams, Outlook and comments in Office documents</a:t>
            </a:r>
            <a:endParaRPr lang="en-US" sz="2950" dirty="0"/>
          </a:p>
        </p:txBody>
      </p:sp>
      <p:sp>
        <p:nvSpPr>
          <p:cNvPr id="5" name="Text 2"/>
          <p:cNvSpPr/>
          <p:nvPr/>
        </p:nvSpPr>
        <p:spPr>
          <a:xfrm>
            <a:off x="609600" y="3810611"/>
            <a:ext cx="6857119" cy="79384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Colleagues hand it work in Teams, Outlook and Office comments; the agent prepares, chases and summarizes, and people decide priorities and sign off</a:t>
            </a:r>
            <a:endParaRPr lang="en-US" sz="1450" dirty="0"/>
          </a:p>
        </p:txBody>
      </p:sp>
    </p:spTree>
    <p:extLst>
      <p:ext uri="{BB962C8B-B14F-4D97-AF65-F5344CB8AC3E}">
        <p14:creationId xmlns:p14="http://schemas.microsoft.com/office/powerpoint/2010/main" val="1857285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Shared Memory, Licensing &amp; Teammate Governance</a:t>
            </a:r>
          </a:p>
          <a:p>
            <a:pPr>
              <a:lnSpc>
                <a:spcPct val="95000"/>
              </a:lnSpc>
              <a:spcBef>
                <a:spcPts val="1400"/>
              </a:spcBef>
            </a:pPr>
            <a:r>
              <a:rPr sz="2000" b="0">
                <a:solidFill>
                  <a:srgbClr val="595F67"/>
                </a:solidFill>
                <a:latin typeface="Poppins"/>
              </a:rPr>
              <a:t>What the tenant needs before anyone builds</a:t>
            </a:r>
          </a:p>
        </p:txBody>
      </p:sp>
      <p:sp>
        <p:nvSpPr>
          <p:cNvPr id="5" name="gd-topics-box"/>
          <p:cNvSpPr/>
          <p:nvPr/>
        </p:nvSpPr>
        <p:spPr>
          <a:xfrm>
            <a:off x="6100000"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7171086"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8242172"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9313258" y="4750000"/>
            <a:ext cx="994886"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10384344" y="4750000"/>
            <a:ext cx="994886"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Shared memory</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One memory for everyone the agent works with</a:t>
            </a:r>
            <a:endParaRPr lang="en-US" sz="2950" dirty="0"/>
          </a:p>
        </p:txBody>
      </p:sp>
      <p:sp>
        <p:nvSpPr>
          <p:cNvPr id="4" name="Text 2"/>
          <p:cNvSpPr/>
          <p:nvPr/>
        </p:nvSpPr>
        <p:spPr>
          <a:xfrm>
            <a:off x="609600" y="2648994"/>
            <a:ext cx="4575839" cy="343971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One memory</a:t>
            </a:r>
            <a:r>
              <a:rPr lang="en-US" sz="1400" dirty="0">
                <a:solidFill>
                  <a:srgbClr val="1B365D"/>
                </a:solidFill>
                <a:latin typeface="Poppins" pitchFamily="34" charset="0"/>
                <a:ea typeface="Poppins" pitchFamily="34" charset="-122"/>
                <a:cs typeface="Poppins" pitchFamily="34" charset="0"/>
              </a:rPr>
              <a:t> across everyone it works with, even in one-to-one chats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No privacy boundary</a:t>
            </a:r>
            <a:r>
              <a:rPr lang="en-US" sz="1400" dirty="0">
                <a:solidFill>
                  <a:srgbClr val="1B365D"/>
                </a:solidFill>
                <a:latin typeface="Poppins" pitchFamily="34" charset="0"/>
                <a:ea typeface="Poppins" pitchFamily="34" charset="-122"/>
                <a:cs typeface="Poppins" pitchFamily="34" charset="0"/>
              </a:rPr>
              <a:t>: a record about one person can come up with others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Never kept</a:t>
            </a:r>
            <a:r>
              <a:rPr lang="en-US" sz="1400" dirty="0">
                <a:solidFill>
                  <a:srgbClr val="1B365D"/>
                </a:solidFill>
                <a:latin typeface="Poppins" pitchFamily="34" charset="0"/>
                <a:ea typeface="Poppins" pitchFamily="34" charset="-122"/>
                <a:cs typeface="Poppins" pitchFamily="34" charset="0"/>
              </a:rPr>
              <a:t>: personal details, secrets, judgments, sensitive categories and requests to forget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Anyone who interacts can </a:t>
            </a:r>
            <a:r>
              <a:rPr lang="en-US" sz="1400" b="1" dirty="0">
                <a:solidFill>
                  <a:srgbClr val="1B365D"/>
                </a:solidFill>
                <a:latin typeface="Poppins Bold" pitchFamily="34" charset="0"/>
                <a:ea typeface="Poppins Bold" pitchFamily="34" charset="-122"/>
                <a:cs typeface="Poppins Bold" pitchFamily="34" charset="0"/>
              </a:rPr>
              <a:t>view or delete</a:t>
            </a:r>
            <a:r>
              <a:rPr lang="en-US" sz="1400" dirty="0">
                <a:solidFill>
                  <a:srgbClr val="1B365D"/>
                </a:solidFill>
                <a:latin typeface="Poppins" pitchFamily="34" charset="0"/>
                <a:ea typeface="Poppins" pitchFamily="34" charset="-122"/>
                <a:cs typeface="Poppins" pitchFamily="34" charset="0"/>
              </a:rPr>
              <a:t> saved memories; 28 days without interaction deletes them</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No opt-out</a:t>
            </a:r>
            <a:r>
              <a:rPr lang="en-US" sz="1400" dirty="0">
                <a:solidFill>
                  <a:srgbClr val="1B365D"/>
                </a:solidFill>
                <a:latin typeface="Poppins" pitchFamily="34" charset="0"/>
                <a:ea typeface="Poppins" pitchFamily="34" charset="-122"/>
                <a:cs typeface="Poppins" pitchFamily="34" charset="0"/>
              </a:rPr>
              <a:t> in the preview: share only what the whole team may know</a:t>
            </a:r>
            <a:endParaRPr lang="en-US" sz="1450" dirty="0"/>
          </a:p>
        </p:txBody>
      </p:sp>
      <p:pic>
        <p:nvPicPr>
          <p:cNvPr id="5" name="Image 0" descr="preencoded.png"/>
          <p:cNvPicPr>
            <a:picLocks noChangeAspect="1"/>
          </p:cNvPicPr>
          <p:nvPr/>
        </p:nvPicPr>
        <p:blipFill>
          <a:blip r:embed="rId3"/>
          <a:stretch>
            <a:fillRect/>
          </a:stretch>
        </p:blipFill>
        <p:spPr>
          <a:xfrm>
            <a:off x="5652946" y="2485330"/>
            <a:ext cx="5883525" cy="3309541"/>
          </a:xfrm>
          <a:prstGeom prst="rect">
            <a:avLst/>
          </a:prstGeom>
        </p:spPr>
      </p:pic>
    </p:spTree>
    <p:extLst>
      <p:ext uri="{BB962C8B-B14F-4D97-AF65-F5344CB8AC3E}">
        <p14:creationId xmlns:p14="http://schemas.microsoft.com/office/powerpoint/2010/main" val="3462364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Admin activation</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Four steps, in order, before anyone builds</a:t>
            </a:r>
            <a:endParaRPr lang="en-US" sz="2950" dirty="0"/>
          </a:p>
        </p:txBody>
      </p:sp>
      <p:sp>
        <p:nvSpPr>
          <p:cNvPr id="4" name="Text 2"/>
          <p:cNvSpPr/>
          <p:nvPr/>
        </p:nvSpPr>
        <p:spPr>
          <a:xfrm>
            <a:off x="609600" y="3023421"/>
            <a:ext cx="4575839"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Frontier enrollment</a:t>
            </a:r>
            <a:r>
              <a:rPr lang="en-US" sz="1400" dirty="0">
                <a:solidFill>
                  <a:srgbClr val="1B365D"/>
                </a:solidFill>
                <a:latin typeface="Poppins" pitchFamily="34" charset="0"/>
                <a:ea typeface="Poppins" pitchFamily="34" charset="-122"/>
                <a:cs typeface="Poppins" pitchFamily="34" charset="0"/>
              </a:rPr>
              <a:t> by a global admin, accepting the Agent 365 terms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Copilot Studio (Frontier)</a:t>
            </a:r>
            <a:r>
              <a:rPr lang="en-US" sz="1400" dirty="0">
                <a:solidFill>
                  <a:srgbClr val="1B365D"/>
                </a:solidFill>
                <a:latin typeface="Poppins" pitchFamily="34" charset="0"/>
                <a:ea typeface="Poppins" pitchFamily="34" charset="-122"/>
                <a:cs typeface="Poppins" pitchFamily="34" charset="0"/>
              </a:rPr>
              <a:t> activated for the users or groups allowed to build</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Agent accounts</a:t>
            </a:r>
            <a:r>
              <a:rPr lang="en-US" sz="1400" dirty="0">
                <a:solidFill>
                  <a:srgbClr val="1B365D"/>
                </a:solidFill>
                <a:latin typeface="Poppins" pitchFamily="34" charset="0"/>
                <a:ea typeface="Poppins" pitchFamily="34" charset="-122"/>
                <a:cs typeface="Poppins" pitchFamily="34" charset="0"/>
              </a:rPr>
              <a:t> turned on for the environment in the Power Platform admin center</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environment's </a:t>
            </a:r>
            <a:r>
              <a:rPr lang="en-US" sz="1400" b="1" dirty="0">
                <a:solidFill>
                  <a:srgbClr val="1B365D"/>
                </a:solidFill>
                <a:latin typeface="Poppins Bold" pitchFamily="34" charset="0"/>
                <a:ea typeface="Poppins Bold" pitchFamily="34" charset="-122"/>
                <a:cs typeface="Poppins Bold" pitchFamily="34" charset="0"/>
              </a:rPr>
              <a:t>release cycle</a:t>
            </a:r>
            <a:r>
              <a:rPr lang="en-US" sz="1400" dirty="0">
                <a:solidFill>
                  <a:srgbClr val="1B365D"/>
                </a:solidFill>
                <a:latin typeface="Poppins" pitchFamily="34" charset="0"/>
                <a:ea typeface="Poppins" pitchFamily="34" charset="-122"/>
                <a:cs typeface="Poppins" pitchFamily="34" charset="0"/>
              </a:rPr>
              <a:t> set to Early</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In the </a:t>
            </a:r>
            <a:r>
              <a:rPr lang="en-US" sz="1400" b="1" dirty="0">
                <a:solidFill>
                  <a:srgbClr val="1B365D"/>
                </a:solidFill>
                <a:latin typeface="Poppins Bold" pitchFamily="34" charset="0"/>
                <a:ea typeface="Poppins Bold" pitchFamily="34" charset="-122"/>
                <a:cs typeface="Poppins Bold" pitchFamily="34" charset="0"/>
              </a:rPr>
              <a:t>European Economic Area</a:t>
            </a:r>
            <a:r>
              <a:rPr lang="en-US" sz="1400" dirty="0">
                <a:solidFill>
                  <a:srgbClr val="1B365D"/>
                </a:solidFill>
                <a:latin typeface="Poppins" pitchFamily="34" charset="0"/>
                <a:ea typeface="Poppins" pitchFamily="34" charset="-122"/>
                <a:cs typeface="Poppins" pitchFamily="34" charset="0"/>
              </a:rPr>
              <a:t>, Teams presence needs a Teams license</a:t>
            </a:r>
            <a:endParaRPr lang="en-US" sz="1450" dirty="0"/>
          </a:p>
        </p:txBody>
      </p:sp>
      <p:pic>
        <p:nvPicPr>
          <p:cNvPr id="5" name="Image 0" descr="preencoded.png"/>
          <p:cNvPicPr>
            <a:picLocks noChangeAspect="1"/>
          </p:cNvPicPr>
          <p:nvPr/>
        </p:nvPicPr>
        <p:blipFill>
          <a:blip r:embed="rId3"/>
          <a:stretch>
            <a:fillRect/>
          </a:stretch>
        </p:blipFill>
        <p:spPr>
          <a:xfrm>
            <a:off x="5652946" y="2485330"/>
            <a:ext cx="5883525" cy="3309541"/>
          </a:xfrm>
          <a:prstGeom prst="rect">
            <a:avLst/>
          </a:prstGeom>
        </p:spPr>
      </p:pic>
    </p:spTree>
    <p:extLst>
      <p:ext uri="{BB962C8B-B14F-4D97-AF65-F5344CB8AC3E}">
        <p14:creationId xmlns:p14="http://schemas.microsoft.com/office/powerpoint/2010/main" val="204689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Licensing for agent accounts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Three separate things to plan</a:t>
            </a:r>
            <a:endParaRPr lang="en-US" sz="2950" dirty="0"/>
          </a:p>
        </p:txBody>
      </p:sp>
      <p:sp>
        <p:nvSpPr>
          <p:cNvPr id="4" name="Text 2"/>
          <p:cNvSpPr/>
          <p:nvPr/>
        </p:nvSpPr>
        <p:spPr>
          <a:xfrm>
            <a:off x="609600" y="3148231"/>
            <a:ext cx="457583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Maker license</a:t>
            </a:r>
            <a:r>
              <a:rPr lang="en-US" sz="1400" dirty="0">
                <a:solidFill>
                  <a:srgbClr val="1B365D"/>
                </a:solidFill>
                <a:latin typeface="Poppins" pitchFamily="34" charset="0"/>
                <a:ea typeface="Poppins" pitchFamily="34" charset="-122"/>
                <a:cs typeface="Poppins" pitchFamily="34" charset="0"/>
              </a:rPr>
              <a:t>: Microsoft 365 E5 with the Agent 365 add-on, or Microsoft 365 E7</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Frontier for AI Teammates</a:t>
            </a:r>
            <a:r>
              <a:rPr lang="en-US" sz="1400" dirty="0">
                <a:solidFill>
                  <a:srgbClr val="1B365D"/>
                </a:solidFill>
                <a:latin typeface="Poppins" pitchFamily="34" charset="0"/>
                <a:ea typeface="Poppins" pitchFamily="34" charset="-122"/>
                <a:cs typeface="Poppins" pitchFamily="34" charset="0"/>
              </a:rPr>
              <a:t>: one per agent with an account, from the tenant's pool</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Copilot Credits</a:t>
            </a:r>
            <a:r>
              <a:rPr lang="en-US" sz="1400" dirty="0">
                <a:solidFill>
                  <a:srgbClr val="1B365D"/>
                </a:solidFill>
                <a:latin typeface="Poppins" pitchFamily="34" charset="0"/>
                <a:ea typeface="Poppins" pitchFamily="34" charset="-122"/>
                <a:cs typeface="Poppins" pitchFamily="34" charset="0"/>
              </a:rPr>
              <a:t>: building, testing, evaluating and running the agent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Agent 365</a:t>
            </a:r>
            <a:r>
              <a:rPr lang="en-US" sz="1400" dirty="0">
                <a:solidFill>
                  <a:srgbClr val="1B365D"/>
                </a:solidFill>
                <a:latin typeface="Poppins" pitchFamily="34" charset="0"/>
                <a:ea typeface="Poppins" pitchFamily="34" charset="-122"/>
                <a:cs typeface="Poppins" pitchFamily="34" charset="0"/>
              </a:rPr>
              <a:t> has been generally available per user since May 1, 2026</a:t>
            </a:r>
            <a:endParaRPr lang="en-US" sz="1450" dirty="0"/>
          </a:p>
        </p:txBody>
      </p:sp>
      <p:pic>
        <p:nvPicPr>
          <p:cNvPr id="5" name="Image 0" descr="preencoded.png"/>
          <p:cNvPicPr>
            <a:picLocks noChangeAspect="1"/>
          </p:cNvPicPr>
          <p:nvPr/>
        </p:nvPicPr>
        <p:blipFill>
          <a:blip r:embed="rId3"/>
          <a:stretch>
            <a:fillRect/>
          </a:stretch>
        </p:blipFill>
        <p:spPr>
          <a:xfrm>
            <a:off x="5652946" y="2485330"/>
            <a:ext cx="5883525" cy="3309541"/>
          </a:xfrm>
          <a:prstGeom prst="rect">
            <a:avLst/>
          </a:prstGeom>
        </p:spPr>
      </p:pic>
    </p:spTree>
    <p:extLst>
      <p:ext uri="{BB962C8B-B14F-4D97-AF65-F5344CB8AC3E}">
        <p14:creationId xmlns:p14="http://schemas.microsoft.com/office/powerpoint/2010/main" val="3239213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438076"/>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Takeaways</a:t>
            </a:r>
            <a:endParaRPr lang="en-US" sz="3700" dirty="0"/>
          </a:p>
        </p:txBody>
      </p:sp>
      <p:sp>
        <p:nvSpPr>
          <p:cNvPr id="4" name="Text 1"/>
          <p:cNvSpPr/>
          <p:nvPr/>
        </p:nvSpPr>
        <p:spPr>
          <a:xfrm>
            <a:off x="609600" y="2081444"/>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What to settle before a teammate joins the team</a:t>
            </a:r>
            <a:endParaRPr lang="en-US" sz="2950" dirty="0"/>
          </a:p>
        </p:txBody>
      </p:sp>
      <p:sp>
        <p:nvSpPr>
          <p:cNvPr id="5" name="Text 2"/>
          <p:cNvSpPr/>
          <p:nvPr/>
        </p:nvSpPr>
        <p:spPr>
          <a:xfrm>
            <a:off x="609600" y="2936947"/>
            <a:ext cx="4824773"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teammate</a:t>
            </a:r>
            <a:r>
              <a:rPr lang="en-US" sz="1400" dirty="0">
                <a:solidFill>
                  <a:srgbClr val="1B365D"/>
                </a:solidFill>
                <a:latin typeface="Poppins" pitchFamily="34" charset="0"/>
                <a:ea typeface="Poppins" pitchFamily="34" charset="-122"/>
                <a:cs typeface="Poppins" pitchFamily="34" charset="0"/>
              </a:rPr>
              <a:t> acts as itself, remembers for the team and starts without a prompt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Autopilot</a:t>
            </a:r>
            <a:r>
              <a:rPr lang="en-US" sz="1400" dirty="0">
                <a:solidFill>
                  <a:srgbClr val="1B365D"/>
                </a:solidFill>
                <a:latin typeface="Poppins" pitchFamily="34" charset="0"/>
                <a:ea typeface="Poppins" pitchFamily="34" charset="-122"/>
                <a:cs typeface="Poppins" pitchFamily="34" charset="0"/>
              </a:rPr>
              <a:t> for users who describe a goal, agent accounts for makers who need tools and triggers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Trigger, tools and instructions</a:t>
            </a:r>
            <a:r>
              <a:rPr lang="en-US" sz="1400" dirty="0">
                <a:solidFill>
                  <a:srgbClr val="1B365D"/>
                </a:solidFill>
                <a:latin typeface="Poppins" pitchFamily="34" charset="0"/>
                <a:ea typeface="Poppins" pitchFamily="34" charset="-122"/>
                <a:cs typeface="Poppins" pitchFamily="34" charset="0"/>
              </a:rPr>
              <a:t> must all be configured before an agent acts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Shared memory</a:t>
            </a:r>
            <a:r>
              <a:rPr lang="en-US" sz="1400" dirty="0">
                <a:solidFill>
                  <a:srgbClr val="1B365D"/>
                </a:solidFill>
                <a:latin typeface="Poppins" pitchFamily="34" charset="0"/>
                <a:ea typeface="Poppins" pitchFamily="34" charset="-122"/>
                <a:cs typeface="Poppins" pitchFamily="34" charset="0"/>
              </a:rPr>
              <a:t> reaches everyone the agent works with</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Frontier enrollment and licenses</a:t>
            </a:r>
            <a:r>
              <a:rPr lang="en-US" sz="1400" dirty="0">
                <a:solidFill>
                  <a:srgbClr val="1B365D"/>
                </a:solidFill>
                <a:latin typeface="Poppins" pitchFamily="34" charset="0"/>
                <a:ea typeface="Poppins" pitchFamily="34" charset="-122"/>
                <a:cs typeface="Poppins" pitchFamily="34" charset="0"/>
              </a:rPr>
              <a:t> come before the class</a:t>
            </a:r>
            <a:endParaRPr lang="en-US" sz="1450" dirty="0"/>
          </a:p>
        </p:txBody>
      </p:sp>
    </p:spTree>
    <p:extLst>
      <p:ext uri="{BB962C8B-B14F-4D97-AF65-F5344CB8AC3E}">
        <p14:creationId xmlns:p14="http://schemas.microsoft.com/office/powerpoint/2010/main" val="1157727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1830</Words>
  <Application>Microsoft Office PowerPoint</Application>
  <PresentationFormat>Widescreen</PresentationFormat>
  <Paragraphs>215</Paragraphs>
  <Slides>27</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Poppins Bold</vt:lpstr>
      <vt:lpstr>Calibri</vt:lpstr>
      <vt:lpstr>IBM Plex Sans</vt:lpstr>
      <vt:lpstr>Montserrat</vt:lpstr>
      <vt:lpstr>Montserrat Bold</vt:lpstr>
      <vt:lpstr>Wingdings</vt:lpstr>
      <vt:lpstr>Poppins</vt:lpstr>
      <vt:lpstr>IBM Plex Sans Light</vt:lpstr>
      <vt:lpstr>Arial</vt:lpstr>
      <vt:lpstr>Aptos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2026-10-22T18:01:03Z</dcterms:created>
  <dcterms:modified xsi:type="dcterms:W3CDTF">2026-10-22T18:05:16Z</dcterms:modified>
</cp:coreProperties>
</file>