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1" r:id="rId4"/>
    <p:sldMasterId id="2147483965" r:id="rId5"/>
  </p:sldMasterIdLst>
  <p:notesMasterIdLst>
    <p:notesMasterId r:id="rId42"/>
  </p:notesMasterIdLst>
  <p:sldIdLst>
    <p:sldId id="256" r:id="rId6"/>
    <p:sldId id="257" r:id="rId7"/>
    <p:sldId id="2147479869" r:id="rId8"/>
    <p:sldId id="2147483632" r:id="rId9"/>
    <p:sldId id="290" r:id="rId10"/>
    <p:sldId id="286" r:id="rId11"/>
    <p:sldId id="2147479870" r:id="rId12"/>
    <p:sldId id="2147483630" r:id="rId13"/>
    <p:sldId id="2147483631" r:id="rId14"/>
    <p:sldId id="2147479817" r:id="rId15"/>
    <p:sldId id="8457" r:id="rId16"/>
    <p:sldId id="2147479798" r:id="rId17"/>
    <p:sldId id="2147479797" r:id="rId18"/>
    <p:sldId id="2147479871" r:id="rId19"/>
    <p:sldId id="2147479872" r:id="rId20"/>
    <p:sldId id="278" r:id="rId21"/>
    <p:sldId id="279" r:id="rId22"/>
    <p:sldId id="292" r:id="rId23"/>
    <p:sldId id="293" r:id="rId24"/>
    <p:sldId id="299" r:id="rId25"/>
    <p:sldId id="2147479876" r:id="rId26"/>
    <p:sldId id="2147479877" r:id="rId27"/>
    <p:sldId id="294" r:id="rId28"/>
    <p:sldId id="2147483641" r:id="rId29"/>
    <p:sldId id="2147483636" r:id="rId30"/>
    <p:sldId id="2147483637" r:id="rId31"/>
    <p:sldId id="2147483638" r:id="rId32"/>
    <p:sldId id="277" r:id="rId33"/>
    <p:sldId id="280" r:id="rId34"/>
    <p:sldId id="281" r:id="rId35"/>
    <p:sldId id="283" r:id="rId36"/>
    <p:sldId id="282" r:id="rId37"/>
    <p:sldId id="287" r:id="rId38"/>
    <p:sldId id="289" r:id="rId39"/>
    <p:sldId id="2564" r:id="rId40"/>
    <p:sldId id="2147483639"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46" autoAdjust="0"/>
    <p:restoredTop sz="97419" autoAdjust="0"/>
  </p:normalViewPr>
  <p:slideViewPr>
    <p:cSldViewPr snapToGrid="0">
      <p:cViewPr varScale="1">
        <p:scale>
          <a:sx n="149" d="100"/>
          <a:sy n="149" d="100"/>
        </p:scale>
        <p:origin x="1040" y="308"/>
      </p:cViewPr>
      <p:guideLst/>
    </p:cSldViewPr>
  </p:slideViewPr>
  <p:outlineViewPr>
    <p:cViewPr>
      <p:scale>
        <a:sx n="33" d="100"/>
        <a:sy n="33" d="100"/>
      </p:scale>
      <p:origin x="0" y="-5464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47BF2-DC06-4EAF-BD78-C0E848E8B1BB}" type="datetimeFigureOut">
              <a:rPr lang="en-US" smtClean="0"/>
              <a:t>7/18/2026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9CEE3-8D04-4303-8988-24E2FD32CA94}" type="slidenum">
              <a:rPr lang="en-US" smtClean="0"/>
              <a:t>‹#›</a:t>
            </a:fld>
            <a:endParaRPr lang="en-US"/>
          </a:p>
        </p:txBody>
      </p:sp>
    </p:spTree>
    <p:extLst>
      <p:ext uri="{BB962C8B-B14F-4D97-AF65-F5344CB8AC3E}">
        <p14:creationId xmlns:p14="http://schemas.microsoft.com/office/powerpoint/2010/main" val="2339588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60326-BC57-D7D7-6A8A-503338B13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D74C1-9ED1-9D7D-F4EB-195BB9947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AEA08-4177-6DAC-6BA7-03FF31715A2F}"/>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6AFE0DC5-2BED-1017-0108-B4865DE5EA29}"/>
              </a:ext>
            </a:extLst>
          </p:cNvPr>
          <p:cNvSpPr>
            <a:spLocks noGrp="1"/>
          </p:cNvSpPr>
          <p:nvPr>
            <p:ph type="sldNum" sz="quarter" idx="10"/>
          </p:nvPr>
        </p:nvSpPr>
        <p:spPr/>
        <p:txBody>
          <a:bodyPr/>
          <a:lstStyle/>
          <a:p>
            <a:fld id="{9E0E8F12-1F63-494D-966A-DED93FBB88CC}" type="slidenum">
              <a:rPr lang="en-US" smtClean="0"/>
              <a:t>4</a:t>
            </a:fld>
            <a:endParaRPr lang="en-US"/>
          </a:p>
        </p:txBody>
      </p:sp>
    </p:spTree>
    <p:extLst>
      <p:ext uri="{BB962C8B-B14F-4D97-AF65-F5344CB8AC3E}">
        <p14:creationId xmlns:p14="http://schemas.microsoft.com/office/powerpoint/2010/main" val="2424080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4BDF6-1B32-BC9A-0334-26A27FC12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91222-1862-B390-3AA1-AA71CB5B5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C9B66-797C-9018-B494-DF39FF838EA5}"/>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E5EF5B67-A8B1-3EA2-FDD2-72E4A1C81179}"/>
              </a:ext>
            </a:extLst>
          </p:cNvPr>
          <p:cNvSpPr>
            <a:spLocks noGrp="1"/>
          </p:cNvSpPr>
          <p:nvPr>
            <p:ph type="sldNum" sz="quarter" idx="10"/>
          </p:nvPr>
        </p:nvSpPr>
        <p:spPr/>
        <p:txBody>
          <a:bodyPr/>
          <a:lstStyle/>
          <a:p>
            <a:fld id="{9E0E8F12-1F63-494D-966A-DED93FBB88CC}" type="slidenum">
              <a:rPr lang="en-US" smtClean="0"/>
              <a:t>7</a:t>
            </a:fld>
            <a:endParaRPr lang="en-US"/>
          </a:p>
        </p:txBody>
      </p:sp>
    </p:spTree>
    <p:extLst>
      <p:ext uri="{BB962C8B-B14F-4D97-AF65-F5344CB8AC3E}">
        <p14:creationId xmlns:p14="http://schemas.microsoft.com/office/powerpoint/2010/main" val="1730706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44D49-A84A-8C93-9C00-8ED4EF254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59D0E-8CB5-2520-F7F5-DE2A156C8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AF299-1510-378D-56B2-D31D645A0B94}"/>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37A69B81-967B-8F98-DFB1-526884D54C9C}"/>
              </a:ext>
            </a:extLst>
          </p:cNvPr>
          <p:cNvSpPr>
            <a:spLocks noGrp="1"/>
          </p:cNvSpPr>
          <p:nvPr>
            <p:ph type="sldNum" sz="quarter" idx="10"/>
          </p:nvPr>
        </p:nvSpPr>
        <p:spPr/>
        <p:txBody>
          <a:bodyPr/>
          <a:lstStyle/>
          <a:p>
            <a:fld id="{9E0E8F12-1F63-494D-966A-DED93FBB88CC}" type="slidenum">
              <a:rPr lang="en-US" smtClean="0"/>
              <a:t>16</a:t>
            </a:fld>
            <a:endParaRPr lang="en-US"/>
          </a:p>
        </p:txBody>
      </p:sp>
    </p:spTree>
    <p:extLst>
      <p:ext uri="{BB962C8B-B14F-4D97-AF65-F5344CB8AC3E}">
        <p14:creationId xmlns:p14="http://schemas.microsoft.com/office/powerpoint/2010/main" val="1789784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931C7-BE55-1767-C3FA-136E5206F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EA446-D414-A21C-8C55-63089CE9A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EE2F1-7865-6B8C-A8F8-8F9EF3025340}"/>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7F9AA96C-E615-E476-0758-34215E2B1086}"/>
              </a:ext>
            </a:extLst>
          </p:cNvPr>
          <p:cNvSpPr>
            <a:spLocks noGrp="1"/>
          </p:cNvSpPr>
          <p:nvPr>
            <p:ph type="sldNum" sz="quarter" idx="10"/>
          </p:nvPr>
        </p:nvSpPr>
        <p:spPr/>
        <p:txBody>
          <a:bodyPr/>
          <a:lstStyle/>
          <a:p>
            <a:fld id="{9E0E8F12-1F63-494D-966A-DED93FBB88CC}" type="slidenum">
              <a:rPr lang="en-US" smtClean="0"/>
              <a:t>18</a:t>
            </a:fld>
            <a:endParaRPr lang="en-US"/>
          </a:p>
        </p:txBody>
      </p:sp>
    </p:spTree>
    <p:extLst>
      <p:ext uri="{BB962C8B-B14F-4D97-AF65-F5344CB8AC3E}">
        <p14:creationId xmlns:p14="http://schemas.microsoft.com/office/powerpoint/2010/main" val="1133623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FCAC-84EA-B4CF-4F7B-F31EFA22E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8922F-015F-94AD-F764-96E814A11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D8606-2C68-7C97-5814-5DFC68884294}"/>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6D6C1B86-D382-9D60-F52A-9A0AB52F25FD}"/>
              </a:ext>
            </a:extLst>
          </p:cNvPr>
          <p:cNvSpPr>
            <a:spLocks noGrp="1"/>
          </p:cNvSpPr>
          <p:nvPr>
            <p:ph type="sldNum" sz="quarter" idx="10"/>
          </p:nvPr>
        </p:nvSpPr>
        <p:spPr/>
        <p:txBody>
          <a:bodyPr/>
          <a:lstStyle/>
          <a:p>
            <a:fld id="{9E0E8F12-1F63-494D-966A-DED93FBB88CC}" type="slidenum">
              <a:rPr lang="en-US" smtClean="0"/>
              <a:t>21</a:t>
            </a:fld>
            <a:endParaRPr lang="en-US"/>
          </a:p>
        </p:txBody>
      </p:sp>
    </p:spTree>
    <p:extLst>
      <p:ext uri="{BB962C8B-B14F-4D97-AF65-F5344CB8AC3E}">
        <p14:creationId xmlns:p14="http://schemas.microsoft.com/office/powerpoint/2010/main" val="1585205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22407-DA84-5927-F1E6-5D424F99F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5D5BE-51DC-D7B4-F342-CB8564BEC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BE486-1CD1-1091-F8DB-F320D81371F3}"/>
              </a:ext>
            </a:extLst>
          </p:cNvPr>
          <p:cNvSpPr>
            <a:spLocks noGrp="1"/>
          </p:cNvSpPr>
          <p:nvPr>
            <p:ph type="body" idx="1"/>
          </p:nvPr>
        </p:nvSpPr>
        <p:spPr/>
        <p:txBody>
          <a:bodyPr/>
          <a:lstStyle/>
          <a:p>
            <a:r>
              <a:rPr lang="en-US" sz="882" b="0" i="0" u="none" strike="noStrike" kern="1200" dirty="0">
                <a:solidFill>
                  <a:schemeClr val="tx1"/>
                </a:solidFill>
                <a:effectLst/>
                <a:latin typeface="Segoe UI" panose="020B0502040204020203" pitchFamily="34" charset="0"/>
                <a:ea typeface="+mn-ea"/>
                <a:cs typeface="+mn-cs"/>
              </a:rPr>
              <a:t>Let’s dive into analytics and insights—now generally available in Copilot Studio.</a:t>
            </a:r>
          </a:p>
          <a:p>
            <a:r>
              <a:rPr lang="en-US" sz="882" b="0" i="0" u="none" strike="noStrike" kern="1200" dirty="0">
                <a:solidFill>
                  <a:schemeClr val="tx1"/>
                </a:solidFill>
                <a:effectLst/>
                <a:latin typeface="Segoe UI" panose="020B0502040204020203" pitchFamily="34" charset="0"/>
                <a:ea typeface="+mn-ea"/>
                <a:cs typeface="+mn-cs"/>
              </a:rPr>
              <a:t>You can gain visibility into how your autonomous agents perform using key performance indicators (KPIs).</a:t>
            </a:r>
          </a:p>
          <a:p>
            <a:r>
              <a:rPr lang="en-US" sz="882" b="0" i="0" u="none" strike="noStrike" kern="1200" dirty="0">
                <a:solidFill>
                  <a:schemeClr val="tx1"/>
                </a:solidFill>
                <a:effectLst/>
                <a:latin typeface="Segoe UI" panose="020B0502040204020203" pitchFamily="34" charset="0"/>
                <a:ea typeface="+mn-ea"/>
                <a:cs typeface="+mn-cs"/>
              </a:rPr>
              <a:t>Track total runs, breakdowns by successful and failed runs, and trend analysis over time to spot areas needing attention.</a:t>
            </a:r>
          </a:p>
          <a:p>
            <a:r>
              <a:rPr lang="en-US" sz="882" b="0" i="0" u="none" strike="noStrike" kern="1200" dirty="0">
                <a:solidFill>
                  <a:schemeClr val="tx1"/>
                </a:solidFill>
                <a:effectLst/>
                <a:latin typeface="Segoe UI" panose="020B0502040204020203" pitchFamily="34" charset="0"/>
                <a:ea typeface="+mn-ea"/>
                <a:cs typeface="+mn-cs"/>
              </a:rPr>
              <a:t>Analyze average run duration and consumption metrics, including detailed billing and message consumption reports.</a:t>
            </a:r>
          </a:p>
          <a:p>
            <a:r>
              <a:rPr lang="en-US" sz="882" b="0" i="0" u="none" strike="noStrike" kern="1200" dirty="0">
                <a:solidFill>
                  <a:schemeClr val="tx1"/>
                </a:solidFill>
                <a:effectLst/>
                <a:latin typeface="Segoe UI" panose="020B0502040204020203" pitchFamily="34" charset="0"/>
                <a:ea typeface="+mn-ea"/>
                <a:cs typeface="+mn-cs"/>
              </a:rPr>
              <a:t>These insights help you understand costs, usage patterns, and opportunities for optimization.</a:t>
            </a:r>
          </a:p>
          <a:p>
            <a:br>
              <a:rPr lang="en-US" dirty="0"/>
            </a:br>
            <a:endParaRPr lang="en-US" dirty="0"/>
          </a:p>
        </p:txBody>
      </p:sp>
      <p:sp>
        <p:nvSpPr>
          <p:cNvPr id="4" name="Slide Number Placeholder 3">
            <a:extLst>
              <a:ext uri="{FF2B5EF4-FFF2-40B4-BE49-F238E27FC236}">
                <a16:creationId xmlns:a16="http://schemas.microsoft.com/office/drawing/2014/main" id="{E255C452-F133-412A-FD72-E05F749A51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DC9712-05E4-4D02-B545-0DE9625B2F38}"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927184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1D92-9756-33A8-0F36-0316FA79F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71C77-8B8D-02F8-5E6A-C0EE4C125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4F0AA-33E8-8A9D-0E0F-E074F5F600AA}"/>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321DCDFA-1E91-1B74-CE7E-F51AEC5A9E3B}"/>
              </a:ext>
            </a:extLst>
          </p:cNvPr>
          <p:cNvSpPr>
            <a:spLocks noGrp="1"/>
          </p:cNvSpPr>
          <p:nvPr>
            <p:ph type="sldNum" sz="quarter" idx="10"/>
          </p:nvPr>
        </p:nvSpPr>
        <p:spPr/>
        <p:txBody>
          <a:bodyPr/>
          <a:lstStyle/>
          <a:p>
            <a:fld id="{9E0E8F12-1F63-494D-966A-DED93FBB88CC}" type="slidenum">
              <a:rPr lang="en-US" smtClean="0"/>
              <a:t>24</a:t>
            </a:fld>
            <a:endParaRPr lang="en-US"/>
          </a:p>
        </p:txBody>
      </p:sp>
    </p:spTree>
    <p:extLst>
      <p:ext uri="{BB962C8B-B14F-4D97-AF65-F5344CB8AC3E}">
        <p14:creationId xmlns:p14="http://schemas.microsoft.com/office/powerpoint/2010/main" val="1368164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BDC26-13B7-CF30-16BB-00D13B20C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ED4CA-6BD1-7D7B-38A1-DF22F0270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86E4E3-D8D0-4124-AF38-9AE431B046E6}"/>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D2E42961-5F07-FC1A-96DA-DF9E9B77355B}"/>
              </a:ext>
            </a:extLst>
          </p:cNvPr>
          <p:cNvSpPr>
            <a:spLocks noGrp="1"/>
          </p:cNvSpPr>
          <p:nvPr>
            <p:ph type="sldNum" sz="quarter" idx="10"/>
          </p:nvPr>
        </p:nvSpPr>
        <p:spPr/>
        <p:txBody>
          <a:bodyPr/>
          <a:lstStyle/>
          <a:p>
            <a:fld id="{9E0E8F12-1F63-494D-966A-DED93FBB88CC}" type="slidenum">
              <a:rPr lang="en-US" smtClean="0"/>
              <a:t>28</a:t>
            </a:fld>
            <a:endParaRPr lang="en-US"/>
          </a:p>
        </p:txBody>
      </p:sp>
    </p:spTree>
    <p:extLst>
      <p:ext uri="{BB962C8B-B14F-4D97-AF65-F5344CB8AC3E}">
        <p14:creationId xmlns:p14="http://schemas.microsoft.com/office/powerpoint/2010/main" val="621223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F213-3302-4CDE-27A2-676D28942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E5984-B616-21A2-C794-72F4273899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F7CA2-C67D-AF2F-651A-4BEDAB3B53A7}"/>
              </a:ext>
            </a:extLst>
          </p:cNvPr>
          <p:cNvSpPr>
            <a:spLocks noGrp="1"/>
          </p:cNvSpPr>
          <p:nvPr>
            <p:ph type="body" idx="1"/>
          </p:nvPr>
        </p:nvSpPr>
        <p:spPr/>
        <p:txBody>
          <a:bodyPr/>
          <a:lstStyle/>
          <a:p>
            <a:endParaRPr lang="de-AT"/>
          </a:p>
        </p:txBody>
      </p:sp>
      <p:sp>
        <p:nvSpPr>
          <p:cNvPr id="4" name="Slide Number Placeholder 3">
            <a:extLst>
              <a:ext uri="{FF2B5EF4-FFF2-40B4-BE49-F238E27FC236}">
                <a16:creationId xmlns:a16="http://schemas.microsoft.com/office/drawing/2014/main" id="{41381899-5B9F-06C7-4439-79BDF76C2D06}"/>
              </a:ext>
            </a:extLst>
          </p:cNvPr>
          <p:cNvSpPr>
            <a:spLocks noGrp="1"/>
          </p:cNvSpPr>
          <p:nvPr>
            <p:ph type="sldNum" sz="quarter" idx="10"/>
          </p:nvPr>
        </p:nvSpPr>
        <p:spPr/>
        <p:txBody>
          <a:bodyPr/>
          <a:lstStyle/>
          <a:p>
            <a:fld id="{9E0E8F12-1F63-494D-966A-DED93FBB88CC}" type="slidenum">
              <a:rPr lang="en-US" smtClean="0"/>
              <a:t>34</a:t>
            </a:fld>
            <a:endParaRPr lang="en-US"/>
          </a:p>
        </p:txBody>
      </p:sp>
    </p:spTree>
    <p:extLst>
      <p:ext uri="{BB962C8B-B14F-4D97-AF65-F5344CB8AC3E}">
        <p14:creationId xmlns:p14="http://schemas.microsoft.com/office/powerpoint/2010/main" val="1017408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T"/>
              <a:t>
---
Preventing Agent Sprawl in Microsoft 365 (Low-Code &amp; Pro-Code Agents)
Agent sprawl is the uncontrolled proliferation of AI/software agents across an organization, which can result in duplicate functionalities, inconsistent controls, and increased security or compliance risks. To avoid agent sprawling when implementing both low-code and pro-code agents in Microsoft 365, consider these best practices:
Image source: Microsoft 365 content library
</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7/18/2026 10:23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35</a:t>
            </a:fld>
            <a:endParaRPr lang="en-US" dirty="0"/>
          </a:p>
        </p:txBody>
      </p:sp>
    </p:spTree>
    <p:extLst>
      <p:ext uri="{BB962C8B-B14F-4D97-AF65-F5344CB8AC3E}">
        <p14:creationId xmlns:p14="http://schemas.microsoft.com/office/powerpoint/2010/main" val="3798813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2407533" y="6506084"/>
            <a:ext cx="7021975" cy="442052"/>
          </a:xfrm>
        </p:spPr>
        <p:txBody>
          <a:bodyPr lIns="91440" rIns="91440">
            <a:normAutofit/>
          </a:bodyPr>
          <a:lstStyle>
            <a:lvl1pPr marL="0" indent="0" algn="ctr">
              <a:buNone/>
              <a:defRPr sz="1400" cap="all" spc="200" baseline="0">
                <a:solidFill>
                  <a:schemeClr val="bg1"/>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11" name="Title 10">
            <a:extLst>
              <a:ext uri="{FF2B5EF4-FFF2-40B4-BE49-F238E27FC236}">
                <a16:creationId xmlns:a16="http://schemas.microsoft.com/office/drawing/2014/main" id="{A0CA71B0-6850-487C-8D32-71F9A0B1E7EA}"/>
              </a:ext>
            </a:extLst>
          </p:cNvPr>
          <p:cNvSpPr>
            <a:spLocks noGrp="1"/>
          </p:cNvSpPr>
          <p:nvPr>
            <p:ph type="title"/>
          </p:nvPr>
        </p:nvSpPr>
        <p:spPr>
          <a:xfrm>
            <a:off x="269175" y="229745"/>
            <a:ext cx="11625942" cy="813326"/>
          </a:xfrm>
        </p:spPr>
        <p:txBody>
          <a:bodyPr/>
          <a:lstStyle/>
          <a:p>
            <a:r>
              <a:rPr lang="en-US"/>
              <a:t>Click to edit Master title style</a:t>
            </a:r>
          </a:p>
        </p:txBody>
      </p:sp>
    </p:spTree>
    <p:extLst>
      <p:ext uri="{BB962C8B-B14F-4D97-AF65-F5344CB8AC3E}">
        <p14:creationId xmlns:p14="http://schemas.microsoft.com/office/powerpoint/2010/main" val="181543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itle 10">
            <a:extLst>
              <a:ext uri="{FF2B5EF4-FFF2-40B4-BE49-F238E27FC236}">
                <a16:creationId xmlns:a16="http://schemas.microsoft.com/office/drawing/2014/main" id="{A0CA71B0-6850-487C-8D32-71F9A0B1E7EA}"/>
              </a:ext>
            </a:extLst>
          </p:cNvPr>
          <p:cNvSpPr>
            <a:spLocks noGrp="1"/>
          </p:cNvSpPr>
          <p:nvPr>
            <p:ph type="title"/>
          </p:nvPr>
        </p:nvSpPr>
        <p:spPr/>
        <p:txBody>
          <a:bodyPr/>
          <a:lstStyle/>
          <a:p>
            <a:r>
              <a:rPr lang="en-US"/>
              <a:t>Click to edit Master title style</a:t>
            </a:r>
          </a:p>
        </p:txBody>
      </p:sp>
      <p:sp>
        <p:nvSpPr>
          <p:cNvPr id="12" name="Date Placeholder 11">
            <a:extLst>
              <a:ext uri="{FF2B5EF4-FFF2-40B4-BE49-F238E27FC236}">
                <a16:creationId xmlns:a16="http://schemas.microsoft.com/office/drawing/2014/main" id="{5B061ED1-DB46-45AE-BC27-5631012C23E5}"/>
              </a:ext>
            </a:extLst>
          </p:cNvPr>
          <p:cNvSpPr>
            <a:spLocks noGrp="1"/>
          </p:cNvSpPr>
          <p:nvPr>
            <p:ph type="dt" sz="half" idx="10"/>
          </p:nvPr>
        </p:nvSpPr>
        <p:spPr/>
        <p:txBody>
          <a:bodyPr/>
          <a:lstStyle/>
          <a:p>
            <a:fld id="{60511B42-7EB3-4A6F-8DA9-A08B47F270A6}" type="datetimeFigureOut">
              <a:rPr lang="en-US" smtClean="0"/>
              <a:t>7/18/2026</a:t>
            </a:fld>
            <a:endParaRPr lang="en-US"/>
          </a:p>
        </p:txBody>
      </p:sp>
      <p:sp>
        <p:nvSpPr>
          <p:cNvPr id="13" name="Footer Placeholder 12">
            <a:extLst>
              <a:ext uri="{FF2B5EF4-FFF2-40B4-BE49-F238E27FC236}">
                <a16:creationId xmlns:a16="http://schemas.microsoft.com/office/drawing/2014/main" id="{1273DBF0-6C1F-4B77-8910-4E36CE862564}"/>
              </a:ext>
            </a:extLst>
          </p:cNvPr>
          <p:cNvSpPr>
            <a:spLocks noGrp="1"/>
          </p:cNvSpPr>
          <p:nvPr>
            <p:ph type="ftr" sz="quarter" idx="11"/>
          </p:nvPr>
        </p:nvSpPr>
        <p:spPr/>
        <p:txBody>
          <a:bodyPr/>
          <a:lstStyle/>
          <a:p>
            <a:endParaRPr lang="en-US"/>
          </a:p>
        </p:txBody>
      </p:sp>
      <p:sp>
        <p:nvSpPr>
          <p:cNvPr id="14" name="Slide Number Placeholder 13">
            <a:extLst>
              <a:ext uri="{FF2B5EF4-FFF2-40B4-BE49-F238E27FC236}">
                <a16:creationId xmlns:a16="http://schemas.microsoft.com/office/drawing/2014/main" id="{E09B6AE7-782E-4E05-8414-EE6736AD1233}"/>
              </a:ext>
            </a:extLst>
          </p:cNvPr>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Tree>
    <p:extLst>
      <p:ext uri="{BB962C8B-B14F-4D97-AF65-F5344CB8AC3E}">
        <p14:creationId xmlns:p14="http://schemas.microsoft.com/office/powerpoint/2010/main" val="354100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99183" y="1391478"/>
            <a:ext cx="11558520"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299182" y="135604"/>
            <a:ext cx="11558521" cy="901535"/>
          </a:xfrm>
          <a:ln>
            <a:noFill/>
          </a:ln>
        </p:spPr>
        <p:txBody>
          <a:bodyPr/>
          <a:lstStyle>
            <a:lvl1pPr marL="0">
              <a:defRPr/>
            </a:lvl1pPr>
          </a:lstStyle>
          <a:p>
            <a:r>
              <a:rPr lang="en-US"/>
              <a:t>Click to edit Master title style</a:t>
            </a:r>
          </a:p>
        </p:txBody>
      </p:sp>
      <p:sp>
        <p:nvSpPr>
          <p:cNvPr id="4" name="Date Placeholder 3"/>
          <p:cNvSpPr>
            <a:spLocks noGrp="1"/>
          </p:cNvSpPr>
          <p:nvPr>
            <p:ph type="dt" sz="half" idx="10"/>
          </p:nvPr>
        </p:nvSpPr>
        <p:spPr/>
        <p:txBody>
          <a:bodyPr/>
          <a:lstStyle/>
          <a:p>
            <a:fld id="{60511B42-7EB3-4A6F-8DA9-A08B47F270A6}"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579205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2" name="Title 1"/>
          <p:cNvSpPr>
            <a:spLocks noGrp="1"/>
          </p:cNvSpPr>
          <p:nvPr>
            <p:ph type="title"/>
          </p:nvPr>
        </p:nvSpPr>
        <p:spPr>
          <a:xfrm>
            <a:off x="706341" y="744150"/>
            <a:ext cx="10829676" cy="3443537"/>
          </a:xfrm>
        </p:spPr>
        <p:txBody>
          <a:bodyPr anchor="b" anchorCtr="0">
            <a:normAutofit/>
          </a:bodyPr>
          <a:lstStyle>
            <a:lvl1pPr>
              <a:lnSpc>
                <a:spcPct val="85000"/>
              </a:lnSpc>
              <a:defRPr sz="54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511B42-7EB3-4A6F-8DA9-A08B47F270A6}" type="datetimeFigureOut">
              <a:rPr lang="en-US" smtClean="0"/>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
        <p:nvSpPr>
          <p:cNvPr id="11" name="Rectangle 10">
            <a:extLst>
              <a:ext uri="{FF2B5EF4-FFF2-40B4-BE49-F238E27FC236}">
                <a16:creationId xmlns:a16="http://schemas.microsoft.com/office/drawing/2014/main" id="{AF24D5AE-C695-45B0-A9BB-08920B104565}"/>
              </a:ext>
            </a:extLst>
          </p:cNvPr>
          <p:cNvSpPr/>
          <p:nvPr/>
        </p:nvSpPr>
        <p:spPr>
          <a:xfrm>
            <a:off x="706342" y="4285707"/>
            <a:ext cx="10829676"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Tree>
    <p:extLst>
      <p:ext uri="{BB962C8B-B14F-4D97-AF65-F5344CB8AC3E}">
        <p14:creationId xmlns:p14="http://schemas.microsoft.com/office/powerpoint/2010/main" val="2684592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57299" y="286603"/>
            <a:ext cx="11590317" cy="667381"/>
          </a:xfrm>
        </p:spPr>
        <p:txBody>
          <a:bodyPr/>
          <a:lstStyle/>
          <a:p>
            <a:r>
              <a:rPr lang="en-US"/>
              <a:t>Click to edit Master title style</a:t>
            </a:r>
          </a:p>
        </p:txBody>
      </p:sp>
      <p:sp>
        <p:nvSpPr>
          <p:cNvPr id="3" name="Content Placeholder 2"/>
          <p:cNvSpPr>
            <a:spLocks noGrp="1"/>
          </p:cNvSpPr>
          <p:nvPr>
            <p:ph sz="half" idx="1"/>
          </p:nvPr>
        </p:nvSpPr>
        <p:spPr>
          <a:xfrm>
            <a:off x="257299" y="1389413"/>
            <a:ext cx="5777740" cy="44796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421081"/>
            <a:ext cx="5351228" cy="44480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511B42-7EB3-4A6F-8DA9-A08B47F270A6}" type="datetimeFigureOut">
              <a:rPr lang="en-US" smtClean="0"/>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Tree>
    <p:extLst>
      <p:ext uri="{BB962C8B-B14F-4D97-AF65-F5344CB8AC3E}">
        <p14:creationId xmlns:p14="http://schemas.microsoft.com/office/powerpoint/2010/main" val="318351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77091" y="286604"/>
            <a:ext cx="11586358" cy="675298"/>
          </a:xfrm>
        </p:spPr>
        <p:txBody>
          <a:bodyPr/>
          <a:lstStyle/>
          <a:p>
            <a:r>
              <a:rPr lang="en-US"/>
              <a:t>Click to edit Master title style</a:t>
            </a:r>
          </a:p>
        </p:txBody>
      </p:sp>
      <p:sp>
        <p:nvSpPr>
          <p:cNvPr id="3" name="Text Placeholder 2"/>
          <p:cNvSpPr>
            <a:spLocks noGrp="1"/>
          </p:cNvSpPr>
          <p:nvPr>
            <p:ph type="body" idx="1"/>
          </p:nvPr>
        </p:nvSpPr>
        <p:spPr>
          <a:xfrm>
            <a:off x="277090" y="1360095"/>
            <a:ext cx="5757949"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77091" y="2315688"/>
            <a:ext cx="5757949" cy="36448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4723" y="1360095"/>
            <a:ext cx="5588726"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19" y="2315688"/>
            <a:ext cx="5645529" cy="36448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511B42-7EB3-4A6F-8DA9-A08B47F270A6}" type="datetimeFigureOut">
              <a:rPr lang="en-US" smtClean="0"/>
              <a:t>7/18/2026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9900458" y="6459785"/>
            <a:ext cx="1312025" cy="365125"/>
          </a:xfrm>
          <a:prstGeom prst="rect">
            <a:avLst/>
          </a:prstGeom>
        </p:spPr>
        <p:txBody>
          <a:bodyPr/>
          <a:lstStyle/>
          <a:p>
            <a:fld id="{BCB7E45F-F80D-4415-A1B2-08976FC074BB}" type="slidenum">
              <a:rPr lang="en-US" smtClean="0"/>
              <a:t>‹#›</a:t>
            </a:fld>
            <a:endParaRPr lang="en-US"/>
          </a:p>
        </p:txBody>
      </p:sp>
    </p:spTree>
    <p:extLst>
      <p:ext uri="{BB962C8B-B14F-4D97-AF65-F5344CB8AC3E}">
        <p14:creationId xmlns:p14="http://schemas.microsoft.com/office/powerpoint/2010/main" val="2149892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a:extLst>
              <a:ext uri="{FF2B5EF4-FFF2-40B4-BE49-F238E27FC236}">
                <a16:creationId xmlns:a16="http://schemas.microsoft.com/office/drawing/2014/main" id="{475DE9D9-6269-07AD-A073-59EC0E7B5C74}"/>
              </a:ext>
            </a:extLst>
          </p:cNvPr>
          <p:cNvSpPr>
            <a:spLocks noGrp="1"/>
          </p:cNvSpPr>
          <p:nvPr>
            <p:ph type="dt" sz="half" idx="10"/>
          </p:nvPr>
        </p:nvSpPr>
        <p:spPr/>
        <p:txBody>
          <a:bodyPr/>
          <a:lstStyle/>
          <a:p>
            <a:fld id="{60511B42-7EB3-4A6F-8DA9-A08B47F270A6}" type="datetimeFigureOut">
              <a:rPr lang="en-US" smtClean="0"/>
              <a:t>7/18/2026</a:t>
            </a:fld>
            <a:endParaRPr lang="en-US"/>
          </a:p>
        </p:txBody>
      </p:sp>
      <p:sp>
        <p:nvSpPr>
          <p:cNvPr id="3" name="Footer Placeholder 2">
            <a:extLst>
              <a:ext uri="{FF2B5EF4-FFF2-40B4-BE49-F238E27FC236}">
                <a16:creationId xmlns:a16="http://schemas.microsoft.com/office/drawing/2014/main" id="{DACB8053-18CF-005C-0809-76B586B4CF39}"/>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016836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7/18/2026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17274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7/18/2026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3797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7/18/2026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8548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7/18/2026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90337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7/18/2026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10204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70546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8" name="Footer Placeholder 10">
            <a:extLst>
              <a:ext uri="{FF2B5EF4-FFF2-40B4-BE49-F238E27FC236}">
                <a16:creationId xmlns:a16="http://schemas.microsoft.com/office/drawing/2014/main" id="{03F58DC3-B4E8-1391-2AF6-4FE989430E6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5747021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14564267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64324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408298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9655902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5246858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heme 1 - Light with title">
    <p:bg>
      <p:bgPr>
        <a:solidFill>
          <a:srgbClr val="F5F5F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DD82-FC40-C843-193F-F757422AB00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96120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with 1 text box and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Picture Placeholder 3">
            <a:extLst>
              <a:ext uri="{FF2B5EF4-FFF2-40B4-BE49-F238E27FC236}">
                <a16:creationId xmlns:a16="http://schemas.microsoft.com/office/drawing/2014/main" id="{F85C714A-5EA4-82F3-730E-7F3FFA778333}"/>
              </a:ext>
            </a:extLst>
          </p:cNvPr>
          <p:cNvSpPr>
            <a:spLocks noGrp="1"/>
          </p:cNvSpPr>
          <p:nvPr>
            <p:ph type="pic" sz="quarter" idx="22"/>
          </p:nvPr>
        </p:nvSpPr>
        <p:spPr>
          <a:xfrm>
            <a:off x="646113" y="1590675"/>
            <a:ext cx="10899775" cy="4478338"/>
          </a:xfrm>
        </p:spPr>
        <p:txBody>
          <a:bodyPr/>
          <a:lstStyle/>
          <a:p>
            <a:endParaRPr lang="en-IN"/>
          </a:p>
        </p:txBody>
      </p:sp>
    </p:spTree>
    <p:extLst>
      <p:ext uri="{BB962C8B-B14F-4D97-AF65-F5344CB8AC3E}">
        <p14:creationId xmlns:p14="http://schemas.microsoft.com/office/powerpoint/2010/main" val="11714135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290755" y="1435496"/>
            <a:ext cx="11575375" cy="45081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502011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4090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C1687-E0B3-1B7F-1BA5-01716296A4CB}"/>
              </a:ext>
            </a:extLst>
          </p:cNvPr>
          <p:cNvSpPr>
            <a:spLocks noGrp="1"/>
          </p:cNvSpPr>
          <p:nvPr>
            <p:ph type="title"/>
          </p:nvPr>
        </p:nvSpPr>
        <p:spPr/>
        <p:txBody>
          <a:bodyPr/>
          <a:lstStyle/>
          <a:p>
            <a:r>
              <a:rPr lang="en-US"/>
              <a:t>Click to edit Master title style</a:t>
            </a:r>
            <a:endParaRPr lang="en-AT"/>
          </a:p>
        </p:txBody>
      </p:sp>
      <p:sp>
        <p:nvSpPr>
          <p:cNvPr id="3" name="Content Placeholder 2">
            <a:extLst>
              <a:ext uri="{FF2B5EF4-FFF2-40B4-BE49-F238E27FC236}">
                <a16:creationId xmlns:a16="http://schemas.microsoft.com/office/drawing/2014/main" id="{D7CC22DF-3771-C3AA-BD9B-F1671F63BF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F25C5C04-1C0E-DC53-1F20-9FC7B6BDD68C}"/>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5" name="Footer Placeholder 4">
            <a:extLst>
              <a:ext uri="{FF2B5EF4-FFF2-40B4-BE49-F238E27FC236}">
                <a16:creationId xmlns:a16="http://schemas.microsoft.com/office/drawing/2014/main" id="{5BF89C7C-11A8-6B3F-30D5-D26E528C8C10}"/>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0581250A-D044-C0A8-2C02-2FCC60E6E376}"/>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18361457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ACB52-189C-A064-573A-6C0D5FA9C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T"/>
          </a:p>
        </p:txBody>
      </p:sp>
      <p:sp>
        <p:nvSpPr>
          <p:cNvPr id="3" name="Text Placeholder 2">
            <a:extLst>
              <a:ext uri="{FF2B5EF4-FFF2-40B4-BE49-F238E27FC236}">
                <a16:creationId xmlns:a16="http://schemas.microsoft.com/office/drawing/2014/main" id="{030225CE-69E4-FEE8-8446-6DF8C27C86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AAD249-5D50-25DB-F080-767883549B6C}"/>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5" name="Footer Placeholder 4">
            <a:extLst>
              <a:ext uri="{FF2B5EF4-FFF2-40B4-BE49-F238E27FC236}">
                <a16:creationId xmlns:a16="http://schemas.microsoft.com/office/drawing/2014/main" id="{290E7102-3C29-CDAB-356E-82A1BE3AF6DF}"/>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3E18C3C2-FC0D-19B8-48BC-815084BB1F55}"/>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5021914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E6EB-1790-2758-2CA5-2FBB26E8D20A}"/>
              </a:ext>
            </a:extLst>
          </p:cNvPr>
          <p:cNvSpPr>
            <a:spLocks noGrp="1"/>
          </p:cNvSpPr>
          <p:nvPr>
            <p:ph type="title"/>
          </p:nvPr>
        </p:nvSpPr>
        <p:spPr/>
        <p:txBody>
          <a:bodyPr/>
          <a:lstStyle/>
          <a:p>
            <a:r>
              <a:rPr lang="en-US"/>
              <a:t>Click to edit Master title style</a:t>
            </a:r>
            <a:endParaRPr lang="en-AT"/>
          </a:p>
        </p:txBody>
      </p:sp>
      <p:sp>
        <p:nvSpPr>
          <p:cNvPr id="3" name="Content Placeholder 2">
            <a:extLst>
              <a:ext uri="{FF2B5EF4-FFF2-40B4-BE49-F238E27FC236}">
                <a16:creationId xmlns:a16="http://schemas.microsoft.com/office/drawing/2014/main" id="{EF349AAE-6641-0563-090E-084F278BE7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Content Placeholder 3">
            <a:extLst>
              <a:ext uri="{FF2B5EF4-FFF2-40B4-BE49-F238E27FC236}">
                <a16:creationId xmlns:a16="http://schemas.microsoft.com/office/drawing/2014/main" id="{6C4F4ED9-822F-A519-C2EE-0FED1521DB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5" name="Date Placeholder 4">
            <a:extLst>
              <a:ext uri="{FF2B5EF4-FFF2-40B4-BE49-F238E27FC236}">
                <a16:creationId xmlns:a16="http://schemas.microsoft.com/office/drawing/2014/main" id="{1942AA47-5505-A54D-5BDD-30956F691514}"/>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6" name="Footer Placeholder 5">
            <a:extLst>
              <a:ext uri="{FF2B5EF4-FFF2-40B4-BE49-F238E27FC236}">
                <a16:creationId xmlns:a16="http://schemas.microsoft.com/office/drawing/2014/main" id="{B4E23B0E-0F14-3697-0B47-F7B56CFF31E7}"/>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8DAE1557-28C7-7EEA-3899-E04C3A89C83C}"/>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23014248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2EC3-F818-DEAC-7954-57F54EA0A9DA}"/>
              </a:ext>
            </a:extLst>
          </p:cNvPr>
          <p:cNvSpPr>
            <a:spLocks noGrp="1"/>
          </p:cNvSpPr>
          <p:nvPr>
            <p:ph type="title"/>
          </p:nvPr>
        </p:nvSpPr>
        <p:spPr>
          <a:xfrm>
            <a:off x="839788" y="365125"/>
            <a:ext cx="10515600" cy="1325563"/>
          </a:xfrm>
        </p:spPr>
        <p:txBody>
          <a:bodyPr/>
          <a:lstStyle/>
          <a:p>
            <a:r>
              <a:rPr lang="en-US"/>
              <a:t>Click to edit Master title style</a:t>
            </a:r>
            <a:endParaRPr lang="en-AT"/>
          </a:p>
        </p:txBody>
      </p:sp>
      <p:sp>
        <p:nvSpPr>
          <p:cNvPr id="3" name="Text Placeholder 2">
            <a:extLst>
              <a:ext uri="{FF2B5EF4-FFF2-40B4-BE49-F238E27FC236}">
                <a16:creationId xmlns:a16="http://schemas.microsoft.com/office/drawing/2014/main" id="{DF6FCFD4-C94F-D2C1-72A0-3004EABF74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B01FCF-E61E-035D-1D0C-10D97D320B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5" name="Text Placeholder 4">
            <a:extLst>
              <a:ext uri="{FF2B5EF4-FFF2-40B4-BE49-F238E27FC236}">
                <a16:creationId xmlns:a16="http://schemas.microsoft.com/office/drawing/2014/main" id="{06A5C84D-1418-B9DA-07B1-75CBC69184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481397-D3C8-7AE6-0288-5B2E1E5E98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7" name="Date Placeholder 6">
            <a:extLst>
              <a:ext uri="{FF2B5EF4-FFF2-40B4-BE49-F238E27FC236}">
                <a16:creationId xmlns:a16="http://schemas.microsoft.com/office/drawing/2014/main" id="{1FB89182-FCAF-94E0-2009-9B82F667F1C0}"/>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8" name="Footer Placeholder 7">
            <a:extLst>
              <a:ext uri="{FF2B5EF4-FFF2-40B4-BE49-F238E27FC236}">
                <a16:creationId xmlns:a16="http://schemas.microsoft.com/office/drawing/2014/main" id="{7BD8AA2A-A872-AED0-E7DF-01A9273379F5}"/>
              </a:ext>
            </a:extLst>
          </p:cNvPr>
          <p:cNvSpPr>
            <a:spLocks noGrp="1"/>
          </p:cNvSpPr>
          <p:nvPr>
            <p:ph type="ftr" sz="quarter" idx="11"/>
          </p:nvPr>
        </p:nvSpPr>
        <p:spPr/>
        <p:txBody>
          <a:bodyPr/>
          <a:lstStyle/>
          <a:p>
            <a:endParaRPr lang="en-AT"/>
          </a:p>
        </p:txBody>
      </p:sp>
      <p:sp>
        <p:nvSpPr>
          <p:cNvPr id="9" name="Slide Number Placeholder 8">
            <a:extLst>
              <a:ext uri="{FF2B5EF4-FFF2-40B4-BE49-F238E27FC236}">
                <a16:creationId xmlns:a16="http://schemas.microsoft.com/office/drawing/2014/main" id="{0CF610F6-2D6E-74DD-8F10-C4B8FB1A3F69}"/>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31925950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0A93E-7550-B49D-EABC-4793F7185819}"/>
              </a:ext>
            </a:extLst>
          </p:cNvPr>
          <p:cNvSpPr>
            <a:spLocks noGrp="1"/>
          </p:cNvSpPr>
          <p:nvPr>
            <p:ph type="title"/>
          </p:nvPr>
        </p:nvSpPr>
        <p:spPr/>
        <p:txBody>
          <a:bodyPr/>
          <a:lstStyle/>
          <a:p>
            <a:r>
              <a:rPr lang="en-US"/>
              <a:t>Click to edit Master title style</a:t>
            </a:r>
            <a:endParaRPr lang="en-AT"/>
          </a:p>
        </p:txBody>
      </p:sp>
      <p:sp>
        <p:nvSpPr>
          <p:cNvPr id="3" name="Date Placeholder 2">
            <a:extLst>
              <a:ext uri="{FF2B5EF4-FFF2-40B4-BE49-F238E27FC236}">
                <a16:creationId xmlns:a16="http://schemas.microsoft.com/office/drawing/2014/main" id="{DADEA335-3FFB-7D55-7019-7B2A8AF4945F}"/>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4" name="Footer Placeholder 3">
            <a:extLst>
              <a:ext uri="{FF2B5EF4-FFF2-40B4-BE49-F238E27FC236}">
                <a16:creationId xmlns:a16="http://schemas.microsoft.com/office/drawing/2014/main" id="{0020FF45-28A1-914E-9EF8-959944DC95EF}"/>
              </a:ext>
            </a:extLst>
          </p:cNvPr>
          <p:cNvSpPr>
            <a:spLocks noGrp="1"/>
          </p:cNvSpPr>
          <p:nvPr>
            <p:ph type="ftr" sz="quarter" idx="11"/>
          </p:nvPr>
        </p:nvSpPr>
        <p:spPr/>
        <p:txBody>
          <a:bodyPr/>
          <a:lstStyle/>
          <a:p>
            <a:endParaRPr lang="en-AT"/>
          </a:p>
        </p:txBody>
      </p:sp>
      <p:sp>
        <p:nvSpPr>
          <p:cNvPr id="5" name="Slide Number Placeholder 4">
            <a:extLst>
              <a:ext uri="{FF2B5EF4-FFF2-40B4-BE49-F238E27FC236}">
                <a16:creationId xmlns:a16="http://schemas.microsoft.com/office/drawing/2014/main" id="{9D110F4F-B73F-2EAF-592B-95C03F11395A}"/>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31688352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91F336-EED7-D71A-BC29-0059CE94A50E}"/>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3" name="Footer Placeholder 2">
            <a:extLst>
              <a:ext uri="{FF2B5EF4-FFF2-40B4-BE49-F238E27FC236}">
                <a16:creationId xmlns:a16="http://schemas.microsoft.com/office/drawing/2014/main" id="{9FF482E7-8CAC-5C8B-1956-BBA3F89CEC4B}"/>
              </a:ext>
            </a:extLst>
          </p:cNvPr>
          <p:cNvSpPr>
            <a:spLocks noGrp="1"/>
          </p:cNvSpPr>
          <p:nvPr>
            <p:ph type="ftr" sz="quarter" idx="11"/>
          </p:nvPr>
        </p:nvSpPr>
        <p:spPr/>
        <p:txBody>
          <a:bodyPr/>
          <a:lstStyle/>
          <a:p>
            <a:endParaRPr lang="en-AT"/>
          </a:p>
        </p:txBody>
      </p:sp>
      <p:sp>
        <p:nvSpPr>
          <p:cNvPr id="4" name="Slide Number Placeholder 3">
            <a:extLst>
              <a:ext uri="{FF2B5EF4-FFF2-40B4-BE49-F238E27FC236}">
                <a16:creationId xmlns:a16="http://schemas.microsoft.com/office/drawing/2014/main" id="{E97D5003-7361-DA64-22BA-0C7F199FD0F4}"/>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9962608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86079-DACC-04A6-A157-E85B4DF417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T"/>
          </a:p>
        </p:txBody>
      </p:sp>
      <p:sp>
        <p:nvSpPr>
          <p:cNvPr id="3" name="Content Placeholder 2">
            <a:extLst>
              <a:ext uri="{FF2B5EF4-FFF2-40B4-BE49-F238E27FC236}">
                <a16:creationId xmlns:a16="http://schemas.microsoft.com/office/drawing/2014/main" id="{B9C02831-B651-B616-79D6-2C25F65BD0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Text Placeholder 3">
            <a:extLst>
              <a:ext uri="{FF2B5EF4-FFF2-40B4-BE49-F238E27FC236}">
                <a16:creationId xmlns:a16="http://schemas.microsoft.com/office/drawing/2014/main" id="{F5924762-4CC2-FDC4-5EB4-6297BBFF95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BB2488-AEAF-0974-888D-B6583EEB4B3D}"/>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6" name="Footer Placeholder 5">
            <a:extLst>
              <a:ext uri="{FF2B5EF4-FFF2-40B4-BE49-F238E27FC236}">
                <a16:creationId xmlns:a16="http://schemas.microsoft.com/office/drawing/2014/main" id="{0F1AA5AB-9662-F549-FD3F-D0C401E4B191}"/>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2E0C9942-1F60-7303-AD54-996FB4F2C993}"/>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660172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C96B2-7B59-A5D6-C790-A2D696867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T"/>
          </a:p>
        </p:txBody>
      </p:sp>
      <p:sp>
        <p:nvSpPr>
          <p:cNvPr id="3" name="Picture Placeholder 2">
            <a:extLst>
              <a:ext uri="{FF2B5EF4-FFF2-40B4-BE49-F238E27FC236}">
                <a16:creationId xmlns:a16="http://schemas.microsoft.com/office/drawing/2014/main" id="{80821D88-B980-32A0-02C8-320DAB15F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T"/>
          </a:p>
        </p:txBody>
      </p:sp>
      <p:sp>
        <p:nvSpPr>
          <p:cNvPr id="4" name="Text Placeholder 3">
            <a:extLst>
              <a:ext uri="{FF2B5EF4-FFF2-40B4-BE49-F238E27FC236}">
                <a16:creationId xmlns:a16="http://schemas.microsoft.com/office/drawing/2014/main" id="{18CBD9EA-A117-F30E-6B68-A7ED9588E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C7B82-68F7-16ED-CAB0-3D428060514A}"/>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6" name="Footer Placeholder 5">
            <a:extLst>
              <a:ext uri="{FF2B5EF4-FFF2-40B4-BE49-F238E27FC236}">
                <a16:creationId xmlns:a16="http://schemas.microsoft.com/office/drawing/2014/main" id="{1C5E4504-D573-6E95-3E4B-1A99DBD7655B}"/>
              </a:ext>
            </a:extLst>
          </p:cNvPr>
          <p:cNvSpPr>
            <a:spLocks noGrp="1"/>
          </p:cNvSpPr>
          <p:nvPr>
            <p:ph type="ftr" sz="quarter" idx="11"/>
          </p:nvPr>
        </p:nvSpPr>
        <p:spPr/>
        <p:txBody>
          <a:bodyPr/>
          <a:lstStyle/>
          <a:p>
            <a:endParaRPr lang="en-AT"/>
          </a:p>
        </p:txBody>
      </p:sp>
      <p:sp>
        <p:nvSpPr>
          <p:cNvPr id="7" name="Slide Number Placeholder 6">
            <a:extLst>
              <a:ext uri="{FF2B5EF4-FFF2-40B4-BE49-F238E27FC236}">
                <a16:creationId xmlns:a16="http://schemas.microsoft.com/office/drawing/2014/main" id="{DBEF61F3-9527-721E-4BAD-7CC7D7F81878}"/>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15082089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2156-4372-6D00-D9FB-66C0CCCB8B3D}"/>
              </a:ext>
            </a:extLst>
          </p:cNvPr>
          <p:cNvSpPr>
            <a:spLocks noGrp="1"/>
          </p:cNvSpPr>
          <p:nvPr>
            <p:ph type="title"/>
          </p:nvPr>
        </p:nvSpPr>
        <p:spPr/>
        <p:txBody>
          <a:bodyPr/>
          <a:lstStyle/>
          <a:p>
            <a:r>
              <a:rPr lang="en-US"/>
              <a:t>Click to edit Master title style</a:t>
            </a:r>
            <a:endParaRPr lang="en-AT"/>
          </a:p>
        </p:txBody>
      </p:sp>
      <p:sp>
        <p:nvSpPr>
          <p:cNvPr id="3" name="Vertical Text Placeholder 2">
            <a:extLst>
              <a:ext uri="{FF2B5EF4-FFF2-40B4-BE49-F238E27FC236}">
                <a16:creationId xmlns:a16="http://schemas.microsoft.com/office/drawing/2014/main" id="{818DE48E-3DBC-8B6A-E7B5-11021D61D4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5678353B-7178-5DC7-09ED-7DDA758D03F2}"/>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5" name="Footer Placeholder 4">
            <a:extLst>
              <a:ext uri="{FF2B5EF4-FFF2-40B4-BE49-F238E27FC236}">
                <a16:creationId xmlns:a16="http://schemas.microsoft.com/office/drawing/2014/main" id="{66616D2E-803E-9565-E42C-7E2EEE1DCED1}"/>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98690639-FA99-153E-1B41-8CD03BC77D46}"/>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40343569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9E2EB1-D123-1F97-42FD-E1866678E9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T"/>
          </a:p>
        </p:txBody>
      </p:sp>
      <p:sp>
        <p:nvSpPr>
          <p:cNvPr id="3" name="Vertical Text Placeholder 2">
            <a:extLst>
              <a:ext uri="{FF2B5EF4-FFF2-40B4-BE49-F238E27FC236}">
                <a16:creationId xmlns:a16="http://schemas.microsoft.com/office/drawing/2014/main" id="{33BEF0D6-9791-2D63-8441-411D80C214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4B4B3ED4-3AAC-0B14-93B3-B16185F97842}"/>
              </a:ext>
            </a:extLst>
          </p:cNvPr>
          <p:cNvSpPr>
            <a:spLocks noGrp="1"/>
          </p:cNvSpPr>
          <p:nvPr>
            <p:ph type="dt" sz="half" idx="10"/>
          </p:nvPr>
        </p:nvSpPr>
        <p:spPr/>
        <p:txBody>
          <a:bodyPr/>
          <a:lstStyle/>
          <a:p>
            <a:fld id="{73CEEEEC-325D-44AA-BA22-FA5D3C17D8C4}" type="datetimeFigureOut">
              <a:rPr lang="en-AT" smtClean="0"/>
              <a:t>18/07/2026</a:t>
            </a:fld>
            <a:endParaRPr lang="en-AT"/>
          </a:p>
        </p:txBody>
      </p:sp>
      <p:sp>
        <p:nvSpPr>
          <p:cNvPr id="5" name="Footer Placeholder 4">
            <a:extLst>
              <a:ext uri="{FF2B5EF4-FFF2-40B4-BE49-F238E27FC236}">
                <a16:creationId xmlns:a16="http://schemas.microsoft.com/office/drawing/2014/main" id="{DDCED82F-5D12-5C05-C007-923D64048ABD}"/>
              </a:ext>
            </a:extLst>
          </p:cNvPr>
          <p:cNvSpPr>
            <a:spLocks noGrp="1"/>
          </p:cNvSpPr>
          <p:nvPr>
            <p:ph type="ftr" sz="quarter" idx="11"/>
          </p:nvPr>
        </p:nvSpPr>
        <p:spPr/>
        <p:txBody>
          <a:bodyPr/>
          <a:lstStyle/>
          <a:p>
            <a:endParaRPr lang="en-AT"/>
          </a:p>
        </p:txBody>
      </p:sp>
      <p:sp>
        <p:nvSpPr>
          <p:cNvPr id="6" name="Slide Number Placeholder 5">
            <a:extLst>
              <a:ext uri="{FF2B5EF4-FFF2-40B4-BE49-F238E27FC236}">
                <a16:creationId xmlns:a16="http://schemas.microsoft.com/office/drawing/2014/main" id="{382A34AD-BEDE-001C-41D7-95E4E9A86C86}"/>
              </a:ext>
            </a:extLst>
          </p:cNvPr>
          <p:cNvSpPr>
            <a:spLocks noGrp="1"/>
          </p:cNvSpPr>
          <p:nvPr>
            <p:ph type="sldNum" sz="quarter" idx="12"/>
          </p:nvPr>
        </p:nvSpPr>
        <p:spPr/>
        <p:txBody>
          <a:bodyPr/>
          <a:lstStyle/>
          <a:p>
            <a:fld id="{8071CF90-7E5C-482B-B30E-05D90E010562}" type="slidenum">
              <a:rPr lang="en-AT" smtClean="0"/>
              <a:t>‹#›</a:t>
            </a:fld>
            <a:endParaRPr lang="en-AT"/>
          </a:p>
        </p:txBody>
      </p:sp>
    </p:spTree>
    <p:extLst>
      <p:ext uri="{BB962C8B-B14F-4D97-AF65-F5344CB8AC3E}">
        <p14:creationId xmlns:p14="http://schemas.microsoft.com/office/powerpoint/2010/main" val="32120318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2407533" y="6506084"/>
            <a:ext cx="7021975" cy="442052"/>
          </a:xfrm>
        </p:spPr>
        <p:txBody>
          <a:bodyPr lIns="91440" rIns="91440">
            <a:normAutofit/>
          </a:bodyPr>
          <a:lstStyle>
            <a:lvl1pPr marL="0" indent="0" algn="ctr">
              <a:buNone/>
              <a:defRPr sz="1400" cap="all" spc="200" baseline="0">
                <a:solidFill>
                  <a:schemeClr val="bg1"/>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11" name="Title 10">
            <a:extLst>
              <a:ext uri="{FF2B5EF4-FFF2-40B4-BE49-F238E27FC236}">
                <a16:creationId xmlns:a16="http://schemas.microsoft.com/office/drawing/2014/main" id="{A0CA71B0-6850-487C-8D32-71F9A0B1E7EA}"/>
              </a:ext>
            </a:extLst>
          </p:cNvPr>
          <p:cNvSpPr>
            <a:spLocks noGrp="1"/>
          </p:cNvSpPr>
          <p:nvPr>
            <p:ph type="title"/>
          </p:nvPr>
        </p:nvSpPr>
        <p:spPr>
          <a:xfrm>
            <a:off x="269175" y="229745"/>
            <a:ext cx="11625942" cy="813326"/>
          </a:xfrm>
        </p:spPr>
        <p:txBody>
          <a:bodyPr/>
          <a:lstStyle/>
          <a:p>
            <a:r>
              <a:rPr lang="en-US"/>
              <a:t>Click to edit Master title style</a:t>
            </a:r>
          </a:p>
        </p:txBody>
      </p:sp>
    </p:spTree>
    <p:extLst>
      <p:ext uri="{BB962C8B-B14F-4D97-AF65-F5344CB8AC3E}">
        <p14:creationId xmlns:p14="http://schemas.microsoft.com/office/powerpoint/2010/main" val="3890482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2.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sp>
        <p:nvSpPr>
          <p:cNvPr id="2" name="Title Placeholder 1"/>
          <p:cNvSpPr>
            <a:spLocks noGrp="1"/>
          </p:cNvSpPr>
          <p:nvPr>
            <p:ph type="title"/>
          </p:nvPr>
        </p:nvSpPr>
        <p:spPr>
          <a:xfrm>
            <a:off x="290755" y="195759"/>
            <a:ext cx="11575375" cy="81332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290755" y="1381585"/>
            <a:ext cx="11575376" cy="4487509"/>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0511B42-7EB3-4A6F-8DA9-A08B47F270A6}" type="datetimeFigureOut">
              <a:rPr lang="en-US" smtClean="0"/>
              <a:t>7/18/2026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12" name="Rectangle 11">
            <a:extLst>
              <a:ext uri="{FF2B5EF4-FFF2-40B4-BE49-F238E27FC236}">
                <a16:creationId xmlns:a16="http://schemas.microsoft.com/office/drawing/2014/main" id="{1A14E1F7-F00B-4378-A49F-4FCBAF30404E}"/>
              </a:ext>
            </a:extLst>
          </p:cNvPr>
          <p:cNvSpPr/>
          <p:nvPr userDrawn="1"/>
        </p:nvSpPr>
        <p:spPr>
          <a:xfrm flipV="1">
            <a:off x="290755" y="1040495"/>
            <a:ext cx="1157537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T"/>
          </a:p>
        </p:txBody>
      </p:sp>
      <p:pic>
        <p:nvPicPr>
          <p:cNvPr id="10" name="Picture 9">
            <a:extLst>
              <a:ext uri="{FF2B5EF4-FFF2-40B4-BE49-F238E27FC236}">
                <a16:creationId xmlns:a16="http://schemas.microsoft.com/office/drawing/2014/main" id="{3AADF6F6-28BD-41AA-B9AB-F15D1CDB525F}"/>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0462685" y="6477928"/>
            <a:ext cx="1097847" cy="302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831218"/>
      </p:ext>
    </p:extLst>
  </p:cSld>
  <p:clrMap bg1="lt1" tx1="dk1" bg2="lt2" tx2="dk2" accent1="accent1" accent2="accent2" accent3="accent3" accent4="accent4" accent5="accent5" accent6="accent6" hlink="hlink" folHlink="folHlink"/>
  <p:sldLayoutIdLst>
    <p:sldLayoutId id="2147483932" r:id="rId1"/>
    <p:sldLayoutId id="2147483945" r:id="rId2"/>
    <p:sldLayoutId id="2147483933" r:id="rId3"/>
    <p:sldLayoutId id="2147483934" r:id="rId4"/>
    <p:sldLayoutId id="2147483935" r:id="rId5"/>
    <p:sldLayoutId id="2147483936" r:id="rId6"/>
    <p:sldLayoutId id="2147483938" r:id="rId7"/>
    <p:sldLayoutId id="2147483946" r:id="rId8"/>
    <p:sldLayoutId id="2147483947" r:id="rId9"/>
    <p:sldLayoutId id="2147483948" r:id="rId10"/>
    <p:sldLayoutId id="2147483949" r:id="rId11"/>
    <p:sldLayoutId id="2147483951" r:id="rId12"/>
    <p:sldLayoutId id="2147483952" r:id="rId13"/>
    <p:sldLayoutId id="2147483953" r:id="rId14"/>
    <p:sldLayoutId id="2147483956" r:id="rId15"/>
    <p:sldLayoutId id="2147483957" r:id="rId16"/>
    <p:sldLayoutId id="2147483959" r:id="rId17"/>
    <p:sldLayoutId id="2147483960" r:id="rId18"/>
    <p:sldLayoutId id="2147483961" r:id="rId19"/>
    <p:sldLayoutId id="2147483962" r:id="rId20"/>
    <p:sldLayoutId id="2147483964" r:id="rId21"/>
    <p:sldLayoutId id="2147483978" r:id="rId2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E54E4E-5298-CE02-30E9-218AB27CF7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T"/>
          </a:p>
        </p:txBody>
      </p:sp>
      <p:sp>
        <p:nvSpPr>
          <p:cNvPr id="3" name="Text Placeholder 2">
            <a:extLst>
              <a:ext uri="{FF2B5EF4-FFF2-40B4-BE49-F238E27FC236}">
                <a16:creationId xmlns:a16="http://schemas.microsoft.com/office/drawing/2014/main" id="{05DF7181-31A4-9AC2-1253-C07EACF24A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T"/>
          </a:p>
        </p:txBody>
      </p:sp>
      <p:sp>
        <p:nvSpPr>
          <p:cNvPr id="4" name="Date Placeholder 3">
            <a:extLst>
              <a:ext uri="{FF2B5EF4-FFF2-40B4-BE49-F238E27FC236}">
                <a16:creationId xmlns:a16="http://schemas.microsoft.com/office/drawing/2014/main" id="{E46AB0E2-EB1B-7239-6BAF-E2F8EE96F6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CEEEEC-325D-44AA-BA22-FA5D3C17D8C4}" type="datetimeFigureOut">
              <a:rPr lang="en-AT" smtClean="0"/>
              <a:t>18/07/2026</a:t>
            </a:fld>
            <a:endParaRPr lang="en-AT"/>
          </a:p>
        </p:txBody>
      </p:sp>
      <p:sp>
        <p:nvSpPr>
          <p:cNvPr id="5" name="Footer Placeholder 4">
            <a:extLst>
              <a:ext uri="{FF2B5EF4-FFF2-40B4-BE49-F238E27FC236}">
                <a16:creationId xmlns:a16="http://schemas.microsoft.com/office/drawing/2014/main" id="{99E79FB0-B118-6737-8F25-E285D2C169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T"/>
          </a:p>
        </p:txBody>
      </p:sp>
      <p:sp>
        <p:nvSpPr>
          <p:cNvPr id="6" name="Slide Number Placeholder 5">
            <a:extLst>
              <a:ext uri="{FF2B5EF4-FFF2-40B4-BE49-F238E27FC236}">
                <a16:creationId xmlns:a16="http://schemas.microsoft.com/office/drawing/2014/main" id="{50D0B5D4-9151-B0D8-F548-C60683F6E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71CF90-7E5C-482B-B30E-05D90E010562}" type="slidenum">
              <a:rPr lang="en-AT" smtClean="0"/>
              <a:t>‹#›</a:t>
            </a:fld>
            <a:endParaRPr lang="en-AT"/>
          </a:p>
        </p:txBody>
      </p:sp>
    </p:spTree>
    <p:extLst>
      <p:ext uri="{BB962C8B-B14F-4D97-AF65-F5344CB8AC3E}">
        <p14:creationId xmlns:p14="http://schemas.microsoft.com/office/powerpoint/2010/main" val="1557172778"/>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admin.powerplatform.microsoft.com/" TargetMode="Externa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vert="horz" lIns="91440" tIns="45720" rIns="91440" bIns="45720" rtlCol="0" anchor="t">
            <a:normAutofit/>
          </a:bodyPr>
          <a:lstStyle/>
          <a:p>
            <a:pPr algn="ctr"/>
            <a:endParaRPr lang="en-AT" noProof="0"/>
          </a:p>
          <a:p>
            <a:pPr algn="ctr"/>
            <a:r>
              <a:rPr lang="en-US" noProof="0"/>
              <a:t>alexander</a:t>
            </a:r>
            <a:r>
              <a:rPr lang="en-US" noProof="0" dirty="0"/>
              <a:t>.</a:t>
            </a:r>
            <a:r>
              <a:rPr lang="en-US" dirty="0"/>
              <a:t>Kastil</a:t>
            </a:r>
            <a:r>
              <a:rPr lang="en-US" noProof="0" dirty="0"/>
              <a:t>@integrations.at</a:t>
            </a:r>
          </a:p>
          <a:p>
            <a:endParaRPr lang="en-US" noProof="0" dirty="0"/>
          </a:p>
        </p:txBody>
      </p:sp>
      <p:sp>
        <p:nvSpPr>
          <p:cNvPr id="2" name="Title 1"/>
          <p:cNvSpPr>
            <a:spLocks noGrp="1"/>
          </p:cNvSpPr>
          <p:nvPr>
            <p:ph type="title"/>
          </p:nvPr>
        </p:nvSpPr>
        <p:spPr/>
        <p:txBody>
          <a:bodyPr>
            <a:noAutofit/>
          </a:bodyPr>
          <a:lstStyle/>
          <a:p>
            <a:r>
              <a:rPr lang="en-US" sz="4400">
                <a:solidFill>
                  <a:schemeClr val="tx1">
                    <a:lumMod val="85000"/>
                    <a:lumOff val="15000"/>
                  </a:schemeClr>
                </a:solidFill>
                <a:ea typeface="Calibri Light"/>
                <a:cs typeface="Calibri Light"/>
              </a:rPr>
              <a:t>Publishing &amp; Maintaining Copilot Studio Agents</a:t>
            </a:r>
          </a:p>
        </p:txBody>
      </p:sp>
      <p:pic>
        <p:nvPicPr>
          <p:cNvPr id="1028" name="Picture 4" descr="Ai assistant - Free technology icons">
            <a:extLst>
              <a:ext uri="{FF2B5EF4-FFF2-40B4-BE49-F238E27FC236}">
                <a16:creationId xmlns:a16="http://schemas.microsoft.com/office/drawing/2014/main" id="{BA57358B-7CB1-A74E-D7FF-FD19D2595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6840" y="1609847"/>
            <a:ext cx="2245010" cy="22450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9F52DD0-AB40-2135-645C-D16020E3D018}"/>
              </a:ext>
            </a:extLst>
          </p:cNvPr>
          <p:cNvPicPr>
            <a:picLocks noChangeAspect="1"/>
          </p:cNvPicPr>
          <p:nvPr/>
        </p:nvPicPr>
        <p:blipFill>
          <a:blip r:embed="rId3"/>
          <a:stretch>
            <a:fillRect/>
          </a:stretch>
        </p:blipFill>
        <p:spPr>
          <a:xfrm>
            <a:off x="3348815" y="1566886"/>
            <a:ext cx="2287314" cy="2287314"/>
          </a:xfrm>
          <a:prstGeom prst="rect">
            <a:avLst/>
          </a:prstGeom>
        </p:spPr>
      </p:pic>
    </p:spTree>
    <p:extLst>
      <p:ext uri="{BB962C8B-B14F-4D97-AF65-F5344CB8AC3E}">
        <p14:creationId xmlns:p14="http://schemas.microsoft.com/office/powerpoint/2010/main" val="1025564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99182" y="1433027"/>
            <a:ext cx="10580282" cy="4197600"/>
          </a:xfrm>
        </p:spPr>
        <p:txBody>
          <a:bodyPr vert="horz" lIns="0" tIns="45720" rIns="0" bIns="45720" rtlCol="0" anchor="t">
            <a:normAutofit/>
          </a:bodyPr>
          <a:lstStyle/>
          <a:p>
            <a:pPr marL="927608" lvl="1" indent="-342900" fontAlgn="base">
              <a:lnSpc>
                <a:spcPct val="150000"/>
              </a:lnSpc>
            </a:pPr>
            <a:r>
              <a:rPr lang="en-US" dirty="0">
                <a:solidFill>
                  <a:srgbClr val="404040"/>
                </a:solidFill>
                <a:latin typeface="Calibri"/>
                <a:ea typeface="Calibri"/>
                <a:cs typeface="Calibri"/>
              </a:rPr>
              <a:t>Copilot Studio Basics</a:t>
            </a:r>
            <a:endParaRPr lang="en-AT" dirty="0">
              <a:solidFill>
                <a:srgbClr val="404040"/>
              </a:solidFill>
              <a:latin typeface="Calibri"/>
              <a:ea typeface="Calibri"/>
              <a:cs typeface="Calibri"/>
            </a:endParaRPr>
          </a:p>
          <a:p>
            <a:pPr marL="927608" lvl="1" indent="-342900" fontAlgn="base">
              <a:lnSpc>
                <a:spcPct val="150000"/>
              </a:lnSpc>
            </a:pPr>
            <a:r>
              <a:rPr lang="en-US" dirty="0"/>
              <a:t>Extending Copilot Studio Agents Tools</a:t>
            </a:r>
            <a:endParaRPr lang="en-AT" dirty="0">
              <a:solidFill>
                <a:srgbClr val="404040"/>
              </a:solidFill>
              <a:latin typeface="Calibri"/>
              <a:ea typeface="Calibri"/>
              <a:cs typeface="Calibri"/>
            </a:endParaRPr>
          </a:p>
          <a:p>
            <a:pPr marL="927608" lvl="1" indent="-342900" fontAlgn="base">
              <a:lnSpc>
                <a:spcPct val="150000"/>
              </a:lnSpc>
            </a:pPr>
            <a:r>
              <a:rPr lang="de-DE" dirty="0" err="1"/>
              <a:t>Advanced</a:t>
            </a:r>
            <a:r>
              <a:rPr lang="de-DE" dirty="0"/>
              <a:t> Copilot Studio </a:t>
            </a:r>
            <a:r>
              <a:rPr lang="de-DE" dirty="0" err="1"/>
              <a:t>Agents</a:t>
            </a:r>
            <a:endParaRPr lang="en-AT" dirty="0"/>
          </a:p>
          <a:p>
            <a:pPr marL="927608" lvl="1" indent="-342900" fontAlgn="base">
              <a:lnSpc>
                <a:spcPct val="150000"/>
              </a:lnSpc>
            </a:pPr>
            <a:r>
              <a:rPr lang="en-US" dirty="0"/>
              <a:t>Monitoring Copilot Studio Agents</a:t>
            </a:r>
          </a:p>
          <a:p>
            <a:pPr marL="927608" lvl="1" indent="-342900" fontAlgn="base">
              <a:lnSpc>
                <a:spcPct val="150000"/>
              </a:lnSpc>
            </a:pPr>
            <a:endParaRPr lang="en-US" dirty="0"/>
          </a:p>
        </p:txBody>
      </p:sp>
      <p:sp>
        <p:nvSpPr>
          <p:cNvPr id="4" name="Title 3"/>
          <p:cNvSpPr>
            <a:spLocks noGrp="1"/>
          </p:cNvSpPr>
          <p:nvPr>
            <p:ph type="title"/>
          </p:nvPr>
        </p:nvSpPr>
        <p:spPr/>
        <p:txBody>
          <a:bodyPr/>
          <a:lstStyle/>
          <a:p>
            <a:r>
              <a:rPr lang="en-US" noProof="0"/>
              <a:t>Agenda</a:t>
            </a:r>
          </a:p>
        </p:txBody>
      </p:sp>
    </p:spTree>
    <p:extLst>
      <p:ext uri="{BB962C8B-B14F-4D97-AF65-F5344CB8AC3E}">
        <p14:creationId xmlns:p14="http://schemas.microsoft.com/office/powerpoint/2010/main" val="1814925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BFC6C-9A45-BF44-DF7F-A7F391A87115}"/>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81E8AF8-00F7-AC3E-C3EF-B50DF6DB575E}"/>
              </a:ext>
            </a:extLst>
          </p:cNvPr>
          <p:cNvSpPr>
            <a:spLocks noGrp="1"/>
          </p:cNvSpPr>
          <p:nvPr>
            <p:ph idx="1"/>
          </p:nvPr>
        </p:nvSpPr>
        <p:spPr>
          <a:xfrm>
            <a:off x="299182" y="1433027"/>
            <a:ext cx="10580282" cy="4197600"/>
          </a:xfrm>
        </p:spPr>
        <p:txBody>
          <a:bodyPr vert="horz" lIns="0" tIns="45720" rIns="0" bIns="45720" rtlCol="0" anchor="t">
            <a:normAutofit/>
          </a:bodyPr>
          <a:lstStyle/>
          <a:p>
            <a:pPr lvl="1">
              <a:lnSpc>
                <a:spcPct val="150000"/>
              </a:lnSpc>
            </a:pPr>
            <a:r>
              <a:rPr lang="en-AT" dirty="0"/>
              <a:t>Environments, Solutions &amp; the Admin Center</a:t>
            </a:r>
          </a:p>
          <a:p>
            <a:pPr lvl="1">
              <a:lnSpc>
                <a:spcPct val="150000"/>
              </a:lnSpc>
            </a:pPr>
            <a:r>
              <a:rPr lang="en-AT" dirty="0"/>
              <a:t>Publishing Agents &amp; Advanced Channels</a:t>
            </a:r>
          </a:p>
          <a:p>
            <a:pPr lvl="1">
              <a:lnSpc>
                <a:spcPct val="150000"/>
              </a:lnSpc>
            </a:pPr>
            <a:r>
              <a:rPr lang="en-AT" dirty="0"/>
              <a:t>Application Lifecycle Management &amp; Source Control</a:t>
            </a:r>
          </a:p>
          <a:p>
            <a:pPr lvl="1">
              <a:lnSpc>
                <a:spcPct val="150000"/>
              </a:lnSpc>
            </a:pPr>
            <a:r>
              <a:rPr lang="en-AT" dirty="0"/>
              <a:t>Governance, Compliance &amp; Preventing Agent Sprawl</a:t>
            </a:r>
          </a:p>
        </p:txBody>
      </p:sp>
      <p:sp>
        <p:nvSpPr>
          <p:cNvPr id="4" name="Title 3">
            <a:extLst>
              <a:ext uri="{FF2B5EF4-FFF2-40B4-BE49-F238E27FC236}">
                <a16:creationId xmlns:a16="http://schemas.microsoft.com/office/drawing/2014/main" id="{1B680FC8-426C-4EE1-DE6D-DA83AC566C13}"/>
              </a:ext>
            </a:extLst>
          </p:cNvPr>
          <p:cNvSpPr>
            <a:spLocks noGrp="1"/>
          </p:cNvSpPr>
          <p:nvPr>
            <p:ph type="title"/>
          </p:nvPr>
        </p:nvSpPr>
        <p:spPr/>
        <p:txBody>
          <a:bodyPr>
            <a:normAutofit/>
          </a:bodyPr>
          <a:lstStyle/>
          <a:p>
            <a:r>
              <a:rPr lang="en-US" noProof="0"/>
              <a:t>Publishing &amp; Monitoring </a:t>
            </a:r>
            <a:r>
              <a:rPr lang="en-AT" noProof="0"/>
              <a:t>- </a:t>
            </a:r>
            <a:r>
              <a:rPr lang="en-US" noProof="0"/>
              <a:t>Agenda</a:t>
            </a:r>
          </a:p>
        </p:txBody>
      </p:sp>
    </p:spTree>
    <p:extLst>
      <p:ext uri="{BB962C8B-B14F-4D97-AF65-F5344CB8AC3E}">
        <p14:creationId xmlns:p14="http://schemas.microsoft.com/office/powerpoint/2010/main" val="1071877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1A5B5-D863-67BA-EA9B-60C7F0E02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B0B49-5199-2108-BE70-4B5E80D1C150}"/>
              </a:ext>
            </a:extLst>
          </p:cNvPr>
          <p:cNvSpPr>
            <a:spLocks noGrp="1"/>
          </p:cNvSpPr>
          <p:nvPr>
            <p:ph type="title"/>
          </p:nvPr>
        </p:nvSpPr>
        <p:spPr>
          <a:xfrm>
            <a:off x="681162" y="759826"/>
            <a:ext cx="10829676" cy="3443537"/>
          </a:xfrm>
        </p:spPr>
        <p:txBody>
          <a:bodyPr>
            <a:normAutofit/>
          </a:bodyPr>
          <a:lstStyle/>
          <a:p>
            <a:r>
              <a:rPr lang="en-US" dirty="0"/>
              <a:t>Publishing Overview</a:t>
            </a:r>
          </a:p>
        </p:txBody>
      </p:sp>
      <p:sp>
        <p:nvSpPr>
          <p:cNvPr id="3" name="Text Placeholder 2">
            <a:extLst>
              <a:ext uri="{FF2B5EF4-FFF2-40B4-BE49-F238E27FC236}">
                <a16:creationId xmlns:a16="http://schemas.microsoft.com/office/drawing/2014/main" id="{B4F03FA5-D80B-AAE3-ADAD-6CB3689EE5CE}"/>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050901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F620DE-F9D4-D2FC-9021-2E6252E68034}"/>
              </a:ext>
            </a:extLst>
          </p:cNvPr>
          <p:cNvSpPr>
            <a:spLocks noGrp="1"/>
          </p:cNvSpPr>
          <p:nvPr>
            <p:ph type="title"/>
          </p:nvPr>
        </p:nvSpPr>
        <p:spPr/>
        <p:txBody>
          <a:bodyPr>
            <a:normAutofit fontScale="90000"/>
          </a:bodyPr>
          <a:lstStyle/>
          <a:p>
            <a:r>
              <a:rPr lang="en-AT" dirty="0"/>
              <a:t>Publishing Agents</a:t>
            </a:r>
          </a:p>
        </p:txBody>
      </p:sp>
      <p:sp>
        <p:nvSpPr>
          <p:cNvPr id="7" name="Content Placeholder 6">
            <a:extLst>
              <a:ext uri="{FF2B5EF4-FFF2-40B4-BE49-F238E27FC236}">
                <a16:creationId xmlns:a16="http://schemas.microsoft.com/office/drawing/2014/main" id="{171CFD3D-C030-619B-1071-8CC23898786B}"/>
              </a:ext>
            </a:extLst>
          </p:cNvPr>
          <p:cNvSpPr>
            <a:spLocks noGrp="1"/>
          </p:cNvSpPr>
          <p:nvPr>
            <p:ph sz="half" idx="1"/>
          </p:nvPr>
        </p:nvSpPr>
        <p:spPr/>
        <p:txBody>
          <a:bodyPr>
            <a:normAutofit fontScale="92500" lnSpcReduction="10000"/>
          </a:bodyPr>
          <a:lstStyle/>
          <a:p>
            <a:pPr marL="457200" indent="-457200">
              <a:lnSpc>
                <a:spcPct val="150000"/>
              </a:lnSpc>
              <a:buFont typeface="+mj-lt"/>
              <a:buAutoNum type="arabicPeriod"/>
            </a:pPr>
            <a:r>
              <a:rPr lang="en-US" dirty="0"/>
              <a:t>Prerequisites</a:t>
            </a:r>
            <a:endParaRPr lang="en-AT" dirty="0"/>
          </a:p>
          <a:p>
            <a:pPr lvl="1">
              <a:lnSpc>
                <a:spcPct val="150000"/>
              </a:lnSpc>
            </a:pPr>
            <a:r>
              <a:rPr lang="en-US" dirty="0"/>
              <a:t>Ensure user authentication is configured (Azure Active Directory or Microsoft Entra ID)</a:t>
            </a:r>
            <a:endParaRPr lang="en-AT" dirty="0"/>
          </a:p>
          <a:p>
            <a:pPr marL="457200" indent="-457200">
              <a:lnSpc>
                <a:spcPct val="160000"/>
              </a:lnSpc>
              <a:buFont typeface="+mj-lt"/>
              <a:buAutoNum type="arabicPeriod"/>
            </a:pPr>
            <a:r>
              <a:rPr lang="en-AT" dirty="0"/>
              <a:t>Configure Permissions</a:t>
            </a:r>
          </a:p>
          <a:p>
            <a:pPr lvl="1">
              <a:lnSpc>
                <a:spcPct val="160000"/>
              </a:lnSpc>
            </a:pPr>
            <a:r>
              <a:rPr lang="en-US" dirty="0"/>
              <a:t>Open the agent in Copilot Studio → More (…) → Share.</a:t>
            </a:r>
            <a:endParaRPr lang="en-AT" dirty="0"/>
          </a:p>
          <a:p>
            <a:pPr lvl="1">
              <a:lnSpc>
                <a:spcPct val="160000"/>
              </a:lnSpc>
            </a:pPr>
            <a:r>
              <a:rPr lang="en-US" dirty="0"/>
              <a:t>Select Everyone in .</a:t>
            </a:r>
            <a:endParaRPr lang="en-AT" dirty="0"/>
          </a:p>
          <a:p>
            <a:pPr lvl="1">
              <a:lnSpc>
                <a:spcPct val="160000"/>
              </a:lnSpc>
            </a:pPr>
            <a:r>
              <a:rPr lang="en-US" dirty="0"/>
              <a:t>Choose User – can use the agent</a:t>
            </a:r>
            <a:endParaRPr lang="en-AT" dirty="0"/>
          </a:p>
          <a:p>
            <a:pPr marL="457200" indent="-457200">
              <a:lnSpc>
                <a:spcPct val="150000"/>
              </a:lnSpc>
              <a:buFont typeface="+mj-lt"/>
              <a:buAutoNum type="arabicPeriod"/>
            </a:pPr>
            <a:r>
              <a:rPr lang="de-DE" dirty="0"/>
              <a:t>Publish Agent</a:t>
            </a:r>
            <a:endParaRPr lang="en-AT" dirty="0"/>
          </a:p>
          <a:p>
            <a:pPr lvl="1">
              <a:lnSpc>
                <a:spcPct val="150000"/>
              </a:lnSpc>
            </a:pPr>
            <a:r>
              <a:rPr lang="en-US" dirty="0"/>
              <a:t>In Copilot Studio, open your agent and click Publish</a:t>
            </a:r>
            <a:endParaRPr lang="en-AT" dirty="0"/>
          </a:p>
          <a:p>
            <a:pPr>
              <a:lnSpc>
                <a:spcPct val="150000"/>
              </a:lnSpc>
            </a:pPr>
            <a:endParaRPr lang="en-AT" dirty="0"/>
          </a:p>
        </p:txBody>
      </p:sp>
      <p:sp>
        <p:nvSpPr>
          <p:cNvPr id="8" name="Content Placeholder 7">
            <a:extLst>
              <a:ext uri="{FF2B5EF4-FFF2-40B4-BE49-F238E27FC236}">
                <a16:creationId xmlns:a16="http://schemas.microsoft.com/office/drawing/2014/main" id="{8EFDD428-1F8A-3E1D-8EB7-14AC76341E7E}"/>
              </a:ext>
            </a:extLst>
          </p:cNvPr>
          <p:cNvSpPr>
            <a:spLocks noGrp="1"/>
          </p:cNvSpPr>
          <p:nvPr>
            <p:ph sz="half" idx="2"/>
          </p:nvPr>
        </p:nvSpPr>
        <p:spPr/>
        <p:txBody>
          <a:bodyPr>
            <a:normAutofit fontScale="92500" lnSpcReduction="10000"/>
          </a:bodyPr>
          <a:lstStyle/>
          <a:p>
            <a:pPr marL="457200" indent="-457200">
              <a:lnSpc>
                <a:spcPct val="160000"/>
              </a:lnSpc>
              <a:buFont typeface="+mj-lt"/>
              <a:buAutoNum type="arabicPeriod" startAt="4"/>
            </a:pPr>
            <a:r>
              <a:rPr lang="de-DE" dirty="0" err="1"/>
              <a:t>Configure</a:t>
            </a:r>
            <a:r>
              <a:rPr lang="de-DE" dirty="0"/>
              <a:t> Channels</a:t>
            </a:r>
            <a:endParaRPr lang="en-AT" dirty="0"/>
          </a:p>
          <a:p>
            <a:pPr lvl="1">
              <a:lnSpc>
                <a:spcPct val="160000"/>
              </a:lnSpc>
            </a:pPr>
            <a:r>
              <a:rPr lang="en-US" dirty="0"/>
              <a:t>Go to the Channels tab and add where the agent should be available:</a:t>
            </a:r>
            <a:endParaRPr lang="en-AT" dirty="0"/>
          </a:p>
          <a:p>
            <a:pPr lvl="1">
              <a:lnSpc>
                <a:spcPct val="160000"/>
              </a:lnSpc>
            </a:pPr>
            <a:r>
              <a:rPr lang="en-US" dirty="0"/>
              <a:t>Microsoft Teams (for chats and meetings)</a:t>
            </a:r>
            <a:endParaRPr lang="en-AT" dirty="0"/>
          </a:p>
          <a:p>
            <a:pPr lvl="1">
              <a:lnSpc>
                <a:spcPct val="160000"/>
              </a:lnSpc>
            </a:pPr>
            <a:r>
              <a:rPr lang="en-US" dirty="0"/>
              <a:t>Microsoft 365 Copilot</a:t>
            </a:r>
            <a:endParaRPr lang="en-AT" dirty="0"/>
          </a:p>
          <a:p>
            <a:pPr lvl="1">
              <a:lnSpc>
                <a:spcPct val="160000"/>
              </a:lnSpc>
            </a:pPr>
            <a:r>
              <a:rPr lang="en-US" dirty="0"/>
              <a:t>Optional: SharePoint, custom websites, Power Pages, Azure Bot Service channels</a:t>
            </a:r>
            <a:endParaRPr lang="en-AT" dirty="0"/>
          </a:p>
          <a:p>
            <a:pPr marL="457200" indent="-457200">
              <a:lnSpc>
                <a:spcPct val="160000"/>
              </a:lnSpc>
              <a:buFont typeface="+mj-lt"/>
              <a:buAutoNum type="arabicPeriod" startAt="4"/>
            </a:pPr>
            <a:r>
              <a:rPr lang="de-DE" dirty="0"/>
              <a:t>Licensing</a:t>
            </a:r>
            <a:endParaRPr lang="en-AT" dirty="0"/>
          </a:p>
          <a:p>
            <a:pPr lvl="1">
              <a:lnSpc>
                <a:spcPct val="160000"/>
              </a:lnSpc>
            </a:pPr>
            <a:r>
              <a:rPr lang="en-US" dirty="0"/>
              <a:t>Ensure users have Copilot Studio User License</a:t>
            </a:r>
            <a:r>
              <a:rPr lang="en-AT" dirty="0"/>
              <a:t>s / PAYG</a:t>
            </a:r>
          </a:p>
        </p:txBody>
      </p:sp>
    </p:spTree>
    <p:extLst>
      <p:ext uri="{BB962C8B-B14F-4D97-AF65-F5344CB8AC3E}">
        <p14:creationId xmlns:p14="http://schemas.microsoft.com/office/powerpoint/2010/main" val="1438103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D6611A-5696-FA8C-602A-25215ED26243}"/>
              </a:ext>
            </a:extLst>
          </p:cNvPr>
          <p:cNvSpPr>
            <a:spLocks noGrp="1"/>
          </p:cNvSpPr>
          <p:nvPr>
            <p:ph idx="1"/>
          </p:nvPr>
        </p:nvSpPr>
        <p:spPr/>
        <p:txBody>
          <a:bodyPr>
            <a:normAutofit lnSpcReduction="10000"/>
          </a:bodyPr>
          <a:lstStyle/>
          <a:p>
            <a:pPr>
              <a:lnSpc>
                <a:spcPct val="150000"/>
              </a:lnSpc>
            </a:pPr>
            <a:r>
              <a:rPr lang="en-US" dirty="0"/>
              <a:t>Azure App Registration</a:t>
            </a:r>
            <a:endParaRPr lang="en-AT" dirty="0"/>
          </a:p>
          <a:p>
            <a:pPr lvl="1">
              <a:lnSpc>
                <a:spcPct val="150000"/>
              </a:lnSpc>
            </a:pPr>
            <a:r>
              <a:rPr lang="en-US" dirty="0"/>
              <a:t>Registers the agent as an application in Azure AD to enable secure authentication and API access.</a:t>
            </a:r>
            <a:endParaRPr lang="en-AT" dirty="0"/>
          </a:p>
          <a:p>
            <a:pPr>
              <a:lnSpc>
                <a:spcPct val="150000"/>
              </a:lnSpc>
            </a:pPr>
            <a:r>
              <a:rPr lang="en-US" dirty="0"/>
              <a:t>Microsoft Teams App Package</a:t>
            </a:r>
            <a:endParaRPr lang="en-AT" dirty="0"/>
          </a:p>
          <a:p>
            <a:pPr lvl="1">
              <a:lnSpc>
                <a:spcPct val="150000"/>
              </a:lnSpc>
            </a:pPr>
            <a:r>
              <a:rPr lang="en-US" dirty="0"/>
              <a:t>If Teams is a selected channel, a .zip package is generated containing the manifest, icons, and configuration for deployment in Teams.</a:t>
            </a:r>
            <a:endParaRPr lang="en-AT" dirty="0"/>
          </a:p>
          <a:p>
            <a:pPr>
              <a:lnSpc>
                <a:spcPct val="150000"/>
              </a:lnSpc>
            </a:pPr>
            <a:r>
              <a:rPr lang="en-US" dirty="0"/>
              <a:t>Bot Framework Registration</a:t>
            </a:r>
            <a:endParaRPr lang="en-AT" dirty="0"/>
          </a:p>
          <a:p>
            <a:pPr lvl="1">
              <a:lnSpc>
                <a:spcPct val="150000"/>
              </a:lnSpc>
            </a:pPr>
            <a:r>
              <a:rPr lang="en-US" dirty="0"/>
              <a:t>Links the agent to Azure Bot Services, enabling communication over supported channels like Teams, Web Chat, and more</a:t>
            </a:r>
            <a:endParaRPr lang="en-AT" dirty="0"/>
          </a:p>
          <a:p>
            <a:pPr lvl="1">
              <a:lnSpc>
                <a:spcPct val="150000"/>
              </a:lnSpc>
            </a:pPr>
            <a:r>
              <a:rPr lang="en-US" dirty="0"/>
              <a:t>Sets up endpoints and metadata for each enabled channel (Teams, Direct Line, Web, etc.).</a:t>
            </a:r>
            <a:endParaRPr lang="en-AT" dirty="0"/>
          </a:p>
        </p:txBody>
      </p:sp>
      <p:sp>
        <p:nvSpPr>
          <p:cNvPr id="3" name="Title 2">
            <a:extLst>
              <a:ext uri="{FF2B5EF4-FFF2-40B4-BE49-F238E27FC236}">
                <a16:creationId xmlns:a16="http://schemas.microsoft.com/office/drawing/2014/main" id="{984676F2-DE35-D5FD-489C-835F523C7C61}"/>
              </a:ext>
            </a:extLst>
          </p:cNvPr>
          <p:cNvSpPr>
            <a:spLocks noGrp="1"/>
          </p:cNvSpPr>
          <p:nvPr>
            <p:ph type="title"/>
          </p:nvPr>
        </p:nvSpPr>
        <p:spPr/>
        <p:txBody>
          <a:bodyPr>
            <a:normAutofit fontScale="90000"/>
          </a:bodyPr>
          <a:lstStyle/>
          <a:p>
            <a:r>
              <a:rPr lang="en-AT" dirty="0"/>
              <a:t>A</a:t>
            </a:r>
            <a:r>
              <a:rPr lang="en-US" dirty="0" err="1"/>
              <a:t>rtifacts</a:t>
            </a:r>
            <a:r>
              <a:rPr lang="en-US" dirty="0"/>
              <a:t> Created When Publishing a Copilot Agent</a:t>
            </a:r>
            <a:endParaRPr lang="en-AT" dirty="0"/>
          </a:p>
        </p:txBody>
      </p:sp>
    </p:spTree>
    <p:extLst>
      <p:ext uri="{BB962C8B-B14F-4D97-AF65-F5344CB8AC3E}">
        <p14:creationId xmlns:p14="http://schemas.microsoft.com/office/powerpoint/2010/main" val="2606377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8557A-0B3D-7140-514E-6FF7E0764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5670E-1051-3584-71A6-70EC05C1BBA4}"/>
              </a:ext>
            </a:extLst>
          </p:cNvPr>
          <p:cNvSpPr>
            <a:spLocks noGrp="1"/>
          </p:cNvSpPr>
          <p:nvPr>
            <p:ph type="title"/>
          </p:nvPr>
        </p:nvSpPr>
        <p:spPr>
          <a:xfrm>
            <a:off x="681162" y="759826"/>
            <a:ext cx="10829676" cy="3443537"/>
          </a:xfrm>
        </p:spPr>
        <p:txBody>
          <a:bodyPr>
            <a:normAutofit/>
          </a:bodyPr>
          <a:lstStyle/>
          <a:p>
            <a:r>
              <a:rPr lang="en-US" dirty="0"/>
              <a:t>Environment &amp; </a:t>
            </a:r>
            <a:br>
              <a:rPr lang="en-AT" dirty="0"/>
            </a:br>
            <a:r>
              <a:rPr lang="en-US" dirty="0"/>
              <a:t>Solutions Management</a:t>
            </a:r>
          </a:p>
        </p:txBody>
      </p:sp>
      <p:sp>
        <p:nvSpPr>
          <p:cNvPr id="3" name="Text Placeholder 2">
            <a:extLst>
              <a:ext uri="{FF2B5EF4-FFF2-40B4-BE49-F238E27FC236}">
                <a16:creationId xmlns:a16="http://schemas.microsoft.com/office/drawing/2014/main" id="{41424500-A38C-5105-EE57-8B467D83A3A5}"/>
              </a:ext>
            </a:extLst>
          </p:cNvPr>
          <p:cNvSpPr>
            <a:spLocks noGrp="1"/>
          </p:cNvSpPr>
          <p:nvPr>
            <p:ph type="body" idx="1"/>
          </p:nvPr>
        </p:nvSpPr>
        <p:spPr/>
        <p:txBody>
          <a:bodyPr/>
          <a:lstStyle/>
          <a:p>
            <a:endParaRPr lang="en-AT" dirty="0"/>
          </a:p>
        </p:txBody>
      </p:sp>
    </p:spTree>
    <p:extLst>
      <p:ext uri="{BB962C8B-B14F-4D97-AF65-F5344CB8AC3E}">
        <p14:creationId xmlns:p14="http://schemas.microsoft.com/office/powerpoint/2010/main" val="2122032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475788-F074-A1EF-FCC2-D02E8B4D3E12}"/>
              </a:ext>
            </a:extLst>
          </p:cNvPr>
          <p:cNvSpPr>
            <a:spLocks noGrp="1"/>
          </p:cNvSpPr>
          <p:nvPr>
            <p:ph type="title"/>
          </p:nvPr>
        </p:nvSpPr>
        <p:spPr/>
        <p:txBody>
          <a:bodyPr/>
          <a:lstStyle/>
          <a:p>
            <a:r>
              <a:rPr lang="en-AT" dirty="0"/>
              <a:t>Managed vs Unmanaged Environments</a:t>
            </a:r>
          </a:p>
        </p:txBody>
      </p:sp>
      <p:sp>
        <p:nvSpPr>
          <p:cNvPr id="6" name="Content Placeholder 5">
            <a:extLst>
              <a:ext uri="{FF2B5EF4-FFF2-40B4-BE49-F238E27FC236}">
                <a16:creationId xmlns:a16="http://schemas.microsoft.com/office/drawing/2014/main" id="{513D4064-0A61-CBDC-6E1D-5E68441282F1}"/>
              </a:ext>
            </a:extLst>
          </p:cNvPr>
          <p:cNvSpPr>
            <a:spLocks noGrp="1"/>
          </p:cNvSpPr>
          <p:nvPr>
            <p:ph idx="1"/>
          </p:nvPr>
        </p:nvSpPr>
        <p:spPr>
          <a:xfrm>
            <a:off x="299183" y="1391478"/>
            <a:ext cx="11558520" cy="1550505"/>
          </a:xfrm>
        </p:spPr>
        <p:txBody>
          <a:bodyPr/>
          <a:lstStyle/>
          <a:p>
            <a:pPr>
              <a:lnSpc>
                <a:spcPct val="150000"/>
              </a:lnSpc>
            </a:pPr>
            <a:r>
              <a:rPr lang="en-US" dirty="0"/>
              <a:t>A Managed Environment in Power Apps (and the broader Power Platform) is a premium governance feature set designed to help administrators manage environments at scale with more control, less effort, and better insights</a:t>
            </a:r>
            <a:endParaRPr lang="en-AT" dirty="0"/>
          </a:p>
        </p:txBody>
      </p:sp>
      <p:pic>
        <p:nvPicPr>
          <p:cNvPr id="10" name="Picture 9">
            <a:extLst>
              <a:ext uri="{FF2B5EF4-FFF2-40B4-BE49-F238E27FC236}">
                <a16:creationId xmlns:a16="http://schemas.microsoft.com/office/drawing/2014/main" id="{31B7B95D-0B01-F0FF-402A-3BE89E7900D0}"/>
              </a:ext>
            </a:extLst>
          </p:cNvPr>
          <p:cNvPicPr>
            <a:picLocks noChangeAspect="1"/>
          </p:cNvPicPr>
          <p:nvPr/>
        </p:nvPicPr>
        <p:blipFill>
          <a:blip r:embed="rId2"/>
          <a:stretch>
            <a:fillRect/>
          </a:stretch>
        </p:blipFill>
        <p:spPr>
          <a:xfrm>
            <a:off x="724797" y="3313872"/>
            <a:ext cx="10990125" cy="2152650"/>
          </a:xfrm>
          <a:prstGeom prst="rect">
            <a:avLst/>
          </a:prstGeom>
        </p:spPr>
      </p:pic>
    </p:spTree>
    <p:extLst>
      <p:ext uri="{BB962C8B-B14F-4D97-AF65-F5344CB8AC3E}">
        <p14:creationId xmlns:p14="http://schemas.microsoft.com/office/powerpoint/2010/main" val="366150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910AE9A-5282-1997-ED74-400A79D294E6}"/>
              </a:ext>
            </a:extLst>
          </p:cNvPr>
          <p:cNvGraphicFramePr>
            <a:graphicFrameLocks noGrp="1"/>
          </p:cNvGraphicFramePr>
          <p:nvPr>
            <p:ph idx="1"/>
          </p:nvPr>
        </p:nvGraphicFramePr>
        <p:xfrm>
          <a:off x="847601" y="1392238"/>
          <a:ext cx="10460285" cy="4476750"/>
        </p:xfrm>
        <a:graphic>
          <a:graphicData uri="http://schemas.openxmlformats.org/drawingml/2006/table">
            <a:tbl>
              <a:tblPr/>
              <a:tblGrid>
                <a:gridCol w="2092057">
                  <a:extLst>
                    <a:ext uri="{9D8B030D-6E8A-4147-A177-3AD203B41FA5}">
                      <a16:colId xmlns:a16="http://schemas.microsoft.com/office/drawing/2014/main" val="3136139450"/>
                    </a:ext>
                  </a:extLst>
                </a:gridCol>
                <a:gridCol w="2092057">
                  <a:extLst>
                    <a:ext uri="{9D8B030D-6E8A-4147-A177-3AD203B41FA5}">
                      <a16:colId xmlns:a16="http://schemas.microsoft.com/office/drawing/2014/main" val="3501930307"/>
                    </a:ext>
                  </a:extLst>
                </a:gridCol>
                <a:gridCol w="2092057">
                  <a:extLst>
                    <a:ext uri="{9D8B030D-6E8A-4147-A177-3AD203B41FA5}">
                      <a16:colId xmlns:a16="http://schemas.microsoft.com/office/drawing/2014/main" val="3909027374"/>
                    </a:ext>
                  </a:extLst>
                </a:gridCol>
                <a:gridCol w="2092057">
                  <a:extLst>
                    <a:ext uri="{9D8B030D-6E8A-4147-A177-3AD203B41FA5}">
                      <a16:colId xmlns:a16="http://schemas.microsoft.com/office/drawing/2014/main" val="3970753217"/>
                    </a:ext>
                  </a:extLst>
                </a:gridCol>
                <a:gridCol w="2092057">
                  <a:extLst>
                    <a:ext uri="{9D8B030D-6E8A-4147-A177-3AD203B41FA5}">
                      <a16:colId xmlns:a16="http://schemas.microsoft.com/office/drawing/2014/main" val="2661532926"/>
                    </a:ext>
                  </a:extLst>
                </a:gridCol>
              </a:tblGrid>
              <a:tr h="333949">
                <a:tc>
                  <a:txBody>
                    <a:bodyPr/>
                    <a:lstStyle/>
                    <a:p>
                      <a:pPr algn="l" fontAlgn="t">
                        <a:buNone/>
                      </a:pPr>
                      <a:r>
                        <a:rPr lang="de-DE" sz="1600" b="1">
                          <a:effectLst/>
                        </a:rPr>
                        <a:t>Environment Type</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Purpose</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Key Features</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Typical Use Case</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b="1">
                          <a:effectLst/>
                        </a:rPr>
                        <a:t>Cost</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348286035"/>
                  </a:ext>
                </a:extLst>
              </a:tr>
              <a:tr h="829708">
                <a:tc>
                  <a:txBody>
                    <a:bodyPr/>
                    <a:lstStyle/>
                    <a:p>
                      <a:pPr algn="l" fontAlgn="t">
                        <a:buNone/>
                      </a:pPr>
                      <a:r>
                        <a:rPr lang="de-DE" sz="1600" b="1">
                          <a:effectLst/>
                        </a:rPr>
                        <a:t>Production</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en-US" sz="1600">
                          <a:effectLst/>
                        </a:rPr>
                        <a:t>Live apps for end users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High reliability, full governance, security, backups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Business-critical solutions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Requires paid licenses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317605321"/>
                  </a:ext>
                </a:extLst>
              </a:tr>
              <a:tr h="829708">
                <a:tc>
                  <a:txBody>
                    <a:bodyPr/>
                    <a:lstStyle/>
                    <a:p>
                      <a:pPr algn="l" fontAlgn="t">
                        <a:buNone/>
                      </a:pPr>
                      <a:r>
                        <a:rPr lang="de-DE" sz="1600" b="1">
                          <a:effectLst/>
                        </a:rPr>
                        <a:t>Sandbox</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Development &amp; testing</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Can be reset or copied from production, safe for experimentation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Testing updates before going live</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Requires paid licenses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168000545"/>
                  </a:ext>
                </a:extLst>
              </a:tr>
              <a:tr h="581828">
                <a:tc>
                  <a:txBody>
                    <a:bodyPr/>
                    <a:lstStyle/>
                    <a:p>
                      <a:pPr algn="l" fontAlgn="t">
                        <a:buNone/>
                      </a:pPr>
                      <a:r>
                        <a:rPr lang="de-DE" sz="1600" b="1">
                          <a:effectLst/>
                        </a:rPr>
                        <a:t>Trial</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Temporary evaluation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Full functionality, expires after ~30 days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Short-term evaluation of features</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Free (time-limited)</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3122720020"/>
                  </a:ext>
                </a:extLst>
              </a:tr>
              <a:tr h="1077587">
                <a:tc>
                  <a:txBody>
                    <a:bodyPr/>
                    <a:lstStyle/>
                    <a:p>
                      <a:pPr algn="l" fontAlgn="t">
                        <a:buNone/>
                      </a:pPr>
                      <a:r>
                        <a:rPr lang="de-DE" sz="1600" b="1">
                          <a:effectLst/>
                        </a:rPr>
                        <a:t>Trial (Subscription)</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Evaluation with subscription link</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Similar to Trial but tied to subscription, convertible to Production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Pre-purchase evaluation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a:effectLst/>
                        </a:rPr>
                        <a:t>Included in subscription</a:t>
                      </a: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09348661"/>
                  </a:ext>
                </a:extLst>
              </a:tr>
              <a:tr h="823970">
                <a:tc>
                  <a:txBody>
                    <a:bodyPr/>
                    <a:lstStyle/>
                    <a:p>
                      <a:pPr algn="l" fontAlgn="t">
                        <a:buNone/>
                      </a:pPr>
                      <a:r>
                        <a:rPr lang="de-DE" sz="1600" b="1">
                          <a:effectLst/>
                        </a:rPr>
                        <a:t>Developer</a:t>
                      </a:r>
                      <a:endParaRPr lang="de-DE" sz="1600" b="0">
                        <a:effectLst/>
                      </a:endParaRPr>
                    </a:p>
                  </a:txBody>
                  <a:tcPr marL="68855" marR="45904" marT="45904" marB="40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algn="l" fontAlgn="t">
                        <a:buNone/>
                      </a:pPr>
                      <a:r>
                        <a:rPr lang="de-DE" sz="1600">
                          <a:effectLst/>
                        </a:rPr>
                        <a:t>Personal development &amp; learning</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Free with Developer Plan, not for production</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en-US" sz="1600">
                          <a:effectLst/>
                        </a:rPr>
                        <a:t>Individual learning and app building</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tc>
                  <a:txBody>
                    <a:bodyPr/>
                    <a:lstStyle/>
                    <a:p>
                      <a:pPr algn="l" fontAlgn="t">
                        <a:buNone/>
                      </a:pPr>
                      <a:r>
                        <a:rPr lang="de-DE" sz="1600" dirty="0">
                          <a:effectLst/>
                        </a:rPr>
                        <a:t>Free (Developer Plan)</a:t>
                      </a:r>
                    </a:p>
                  </a:txBody>
                  <a:tcPr marL="68855" marR="45904" marT="45904" marB="34428">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AFAFA"/>
                    </a:solidFill>
                  </a:tcPr>
                </a:tc>
                <a:extLst>
                  <a:ext uri="{0D108BD9-81ED-4DB2-BD59-A6C34878D82A}">
                    <a16:rowId xmlns:a16="http://schemas.microsoft.com/office/drawing/2014/main" val="2235195829"/>
                  </a:ext>
                </a:extLst>
              </a:tr>
            </a:tbl>
          </a:graphicData>
        </a:graphic>
      </p:graphicFrame>
      <p:sp>
        <p:nvSpPr>
          <p:cNvPr id="3" name="Title 2">
            <a:extLst>
              <a:ext uri="{FF2B5EF4-FFF2-40B4-BE49-F238E27FC236}">
                <a16:creationId xmlns:a16="http://schemas.microsoft.com/office/drawing/2014/main" id="{C5507EFF-B868-41C5-C992-1777C88CD4B1}"/>
              </a:ext>
            </a:extLst>
          </p:cNvPr>
          <p:cNvSpPr>
            <a:spLocks noGrp="1"/>
          </p:cNvSpPr>
          <p:nvPr>
            <p:ph type="title"/>
          </p:nvPr>
        </p:nvSpPr>
        <p:spPr/>
        <p:txBody>
          <a:bodyPr/>
          <a:lstStyle/>
          <a:p>
            <a:r>
              <a:rPr lang="en-AT" dirty="0"/>
              <a:t>Environment Types</a:t>
            </a:r>
          </a:p>
        </p:txBody>
      </p:sp>
    </p:spTree>
    <p:extLst>
      <p:ext uri="{BB962C8B-B14F-4D97-AF65-F5344CB8AC3E}">
        <p14:creationId xmlns:p14="http://schemas.microsoft.com/office/powerpoint/2010/main" val="3787246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9B46B4-5315-E0E0-C759-EB24B83078AD}"/>
              </a:ext>
            </a:extLst>
          </p:cNvPr>
          <p:cNvPicPr>
            <a:picLocks noGrp="1" noChangeAspect="1"/>
          </p:cNvPicPr>
          <p:nvPr>
            <p:ph idx="1"/>
          </p:nvPr>
        </p:nvPicPr>
        <p:blipFill>
          <a:blip r:embed="rId2"/>
          <a:stretch>
            <a:fillRect/>
          </a:stretch>
        </p:blipFill>
        <p:spPr>
          <a:xfrm>
            <a:off x="917761" y="1392238"/>
            <a:ext cx="10319965" cy="4476750"/>
          </a:xfrm>
          <a:prstGeom prst="rect">
            <a:avLst/>
          </a:prstGeom>
        </p:spPr>
      </p:pic>
      <p:sp>
        <p:nvSpPr>
          <p:cNvPr id="3" name="Title 2">
            <a:extLst>
              <a:ext uri="{FF2B5EF4-FFF2-40B4-BE49-F238E27FC236}">
                <a16:creationId xmlns:a16="http://schemas.microsoft.com/office/drawing/2014/main" id="{94DD2587-184B-9EE5-13A3-13C01CFD0259}"/>
              </a:ext>
            </a:extLst>
          </p:cNvPr>
          <p:cNvSpPr>
            <a:spLocks noGrp="1"/>
          </p:cNvSpPr>
          <p:nvPr>
            <p:ph type="title"/>
          </p:nvPr>
        </p:nvSpPr>
        <p:spPr/>
        <p:txBody>
          <a:bodyPr/>
          <a:lstStyle/>
          <a:p>
            <a:r>
              <a:rPr lang="de-DE"/>
              <a:t>Working </a:t>
            </a:r>
            <a:r>
              <a:rPr lang="de-DE" err="1"/>
              <a:t>with</a:t>
            </a:r>
            <a:r>
              <a:rPr lang="de-DE"/>
              <a:t> </a:t>
            </a:r>
            <a:r>
              <a:rPr lang="de-DE" err="1"/>
              <a:t>environments</a:t>
            </a:r>
            <a:endParaRPr lang="en-AT"/>
          </a:p>
        </p:txBody>
      </p:sp>
    </p:spTree>
    <p:extLst>
      <p:ext uri="{BB962C8B-B14F-4D97-AF65-F5344CB8AC3E}">
        <p14:creationId xmlns:p14="http://schemas.microsoft.com/office/powerpoint/2010/main" val="1456996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EAD72-1E8B-5F05-C2C7-F7534785413F}"/>
              </a:ext>
            </a:extLst>
          </p:cNvPr>
          <p:cNvSpPr>
            <a:spLocks noGrp="1"/>
          </p:cNvSpPr>
          <p:nvPr>
            <p:ph type="title"/>
          </p:nvPr>
        </p:nvSpPr>
        <p:spPr/>
        <p:txBody>
          <a:bodyPr/>
          <a:lstStyle/>
          <a:p>
            <a:r>
              <a:rPr lang="en-US"/>
              <a:t>Teams Admin Center</a:t>
            </a:r>
            <a:endParaRPr lang="en-AT"/>
          </a:p>
        </p:txBody>
      </p:sp>
      <p:sp>
        <p:nvSpPr>
          <p:cNvPr id="3" name="Text Placeholder 2">
            <a:extLst>
              <a:ext uri="{FF2B5EF4-FFF2-40B4-BE49-F238E27FC236}">
                <a16:creationId xmlns:a16="http://schemas.microsoft.com/office/drawing/2014/main" id="{BB1BA145-5EA8-FC94-2E8A-9EB265461D52}"/>
              </a:ext>
            </a:extLst>
          </p:cNvPr>
          <p:cNvSpPr>
            <a:spLocks noGrp="1"/>
          </p:cNvSpPr>
          <p:nvPr>
            <p:ph type="body" sz="quarter" idx="10"/>
          </p:nvPr>
        </p:nvSpPr>
        <p:spPr>
          <a:xfrm>
            <a:off x="290755" y="1435496"/>
            <a:ext cx="5615297" cy="4508103"/>
          </a:xfrm>
        </p:spPr>
        <p:txBody>
          <a:bodyPr/>
          <a:lstStyle/>
          <a:p>
            <a:pPr lvl="1">
              <a:lnSpc>
                <a:spcPct val="150000"/>
              </a:lnSpc>
            </a:pPr>
            <a:r>
              <a:rPr lang="en-US"/>
              <a:t>The Teams Admin Center is a portal designed for managing and configuring Microsoft Teams within an organization. </a:t>
            </a:r>
          </a:p>
          <a:p>
            <a:pPr lvl="1">
              <a:lnSpc>
                <a:spcPct val="150000"/>
              </a:lnSpc>
            </a:pPr>
            <a:r>
              <a:rPr lang="en-US"/>
              <a:t>You can govern all Teams apps available in your organization’s app catalog, define access to apps using policies, and manage app rollouts based on organizational needs.</a:t>
            </a:r>
            <a:endParaRPr lang="en-AT"/>
          </a:p>
        </p:txBody>
      </p:sp>
      <p:pic>
        <p:nvPicPr>
          <p:cNvPr id="5" name="Picture 4">
            <a:extLst>
              <a:ext uri="{FF2B5EF4-FFF2-40B4-BE49-F238E27FC236}">
                <a16:creationId xmlns:a16="http://schemas.microsoft.com/office/drawing/2014/main" id="{0687FD4D-1372-1FD7-1483-E28D613C2688}"/>
              </a:ext>
            </a:extLst>
          </p:cNvPr>
          <p:cNvPicPr>
            <a:picLocks noChangeAspect="1"/>
          </p:cNvPicPr>
          <p:nvPr/>
        </p:nvPicPr>
        <p:blipFill>
          <a:blip r:embed="rId2"/>
          <a:stretch>
            <a:fillRect/>
          </a:stretch>
        </p:blipFill>
        <p:spPr>
          <a:xfrm>
            <a:off x="6096000" y="2062293"/>
            <a:ext cx="5529359" cy="3881306"/>
          </a:xfrm>
          <a:prstGeom prst="rect">
            <a:avLst/>
          </a:prstGeom>
        </p:spPr>
      </p:pic>
    </p:spTree>
    <p:extLst>
      <p:ext uri="{BB962C8B-B14F-4D97-AF65-F5344CB8AC3E}">
        <p14:creationId xmlns:p14="http://schemas.microsoft.com/office/powerpoint/2010/main" val="384495964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C4C98-A1C2-4C06-B8C1-FC11F057E21F}"/>
              </a:ext>
            </a:extLst>
          </p:cNvPr>
          <p:cNvSpPr>
            <a:spLocks noGrp="1"/>
          </p:cNvSpPr>
          <p:nvPr>
            <p:ph type="title"/>
          </p:nvPr>
        </p:nvSpPr>
        <p:spPr/>
        <p:txBody>
          <a:bodyPr/>
          <a:lstStyle/>
          <a:p>
            <a:r>
              <a:rPr lang="de-DE" dirty="0"/>
              <a:t>Power </a:t>
            </a:r>
            <a:r>
              <a:rPr lang="de-DE" dirty="0" err="1"/>
              <a:t>Platform</a:t>
            </a:r>
            <a:r>
              <a:rPr lang="de-DE" dirty="0"/>
              <a:t> Admin Center </a:t>
            </a:r>
            <a:endParaRPr lang="en-AT" dirty="0"/>
          </a:p>
        </p:txBody>
      </p:sp>
      <p:sp>
        <p:nvSpPr>
          <p:cNvPr id="3" name="Text Placeholder 2">
            <a:extLst>
              <a:ext uri="{FF2B5EF4-FFF2-40B4-BE49-F238E27FC236}">
                <a16:creationId xmlns:a16="http://schemas.microsoft.com/office/drawing/2014/main" id="{564299B6-DF00-203F-AB79-DDF7DF6143E0}"/>
              </a:ext>
            </a:extLst>
          </p:cNvPr>
          <p:cNvSpPr>
            <a:spLocks noGrp="1"/>
          </p:cNvSpPr>
          <p:nvPr>
            <p:ph type="body" sz="quarter" idx="10"/>
          </p:nvPr>
        </p:nvSpPr>
        <p:spPr/>
        <p:txBody>
          <a:bodyPr/>
          <a:lstStyle/>
          <a:p>
            <a:pPr>
              <a:lnSpc>
                <a:spcPct val="150000"/>
              </a:lnSpc>
            </a:pPr>
            <a:r>
              <a:rPr lang="en-AT" dirty="0"/>
              <a:t>Available at </a:t>
            </a:r>
            <a:r>
              <a:rPr lang="de-DE" dirty="0">
                <a:hlinkClick r:id="rId2"/>
              </a:rPr>
              <a:t>https://admin.powerplatform.microsoft.com/</a:t>
            </a:r>
            <a:endParaRPr lang="en-AT" dirty="0"/>
          </a:p>
          <a:p>
            <a:pPr>
              <a:lnSpc>
                <a:spcPct val="150000"/>
              </a:lnSpc>
            </a:pPr>
            <a:r>
              <a:rPr lang="en-AT" dirty="0"/>
              <a:t>Key Features:</a:t>
            </a:r>
          </a:p>
          <a:p>
            <a:pPr lvl="1">
              <a:lnSpc>
                <a:spcPct val="150000"/>
              </a:lnSpc>
            </a:pPr>
            <a:r>
              <a:rPr lang="en-US" dirty="0"/>
              <a:t>Centralized Management</a:t>
            </a:r>
            <a:endParaRPr lang="en-AT" dirty="0"/>
          </a:p>
          <a:p>
            <a:pPr lvl="1">
              <a:lnSpc>
                <a:spcPct val="150000"/>
              </a:lnSpc>
            </a:pPr>
            <a:r>
              <a:rPr lang="en-US" dirty="0"/>
              <a:t>Environment </a:t>
            </a:r>
            <a:endParaRPr lang="en-AT" dirty="0"/>
          </a:p>
          <a:p>
            <a:pPr lvl="1">
              <a:lnSpc>
                <a:spcPct val="150000"/>
              </a:lnSpc>
            </a:pPr>
            <a:r>
              <a:rPr lang="en-US" dirty="0"/>
              <a:t>Data Loss Prevention (DLP) Policies</a:t>
            </a:r>
            <a:endParaRPr lang="en-AT" dirty="0"/>
          </a:p>
          <a:p>
            <a:pPr lvl="1">
              <a:lnSpc>
                <a:spcPct val="150000"/>
              </a:lnSpc>
            </a:pPr>
            <a:r>
              <a:rPr lang="en-US" dirty="0"/>
              <a:t>Analytics &amp; Monitoring</a:t>
            </a:r>
            <a:endParaRPr lang="en-AT" dirty="0"/>
          </a:p>
          <a:p>
            <a:pPr lvl="1">
              <a:lnSpc>
                <a:spcPct val="150000"/>
              </a:lnSpc>
            </a:pPr>
            <a:r>
              <a:rPr lang="en-US" dirty="0"/>
              <a:t>Integration with Microsoft 365 &amp; Azure</a:t>
            </a:r>
            <a:endParaRPr lang="en-AT" dirty="0"/>
          </a:p>
        </p:txBody>
      </p:sp>
      <p:pic>
        <p:nvPicPr>
          <p:cNvPr id="8" name="Picture 7">
            <a:extLst>
              <a:ext uri="{FF2B5EF4-FFF2-40B4-BE49-F238E27FC236}">
                <a16:creationId xmlns:a16="http://schemas.microsoft.com/office/drawing/2014/main" id="{6606EF92-6D47-C69C-B60C-D1B3962F21B7}"/>
              </a:ext>
            </a:extLst>
          </p:cNvPr>
          <p:cNvPicPr>
            <a:picLocks noChangeAspect="1"/>
          </p:cNvPicPr>
          <p:nvPr/>
        </p:nvPicPr>
        <p:blipFill>
          <a:blip r:embed="rId3"/>
          <a:stretch>
            <a:fillRect/>
          </a:stretch>
        </p:blipFill>
        <p:spPr>
          <a:xfrm>
            <a:off x="5044006" y="2839965"/>
            <a:ext cx="6769552" cy="2792093"/>
          </a:xfrm>
          <a:prstGeom prst="rect">
            <a:avLst/>
          </a:prstGeom>
        </p:spPr>
      </p:pic>
    </p:spTree>
    <p:extLst>
      <p:ext uri="{BB962C8B-B14F-4D97-AF65-F5344CB8AC3E}">
        <p14:creationId xmlns:p14="http://schemas.microsoft.com/office/powerpoint/2010/main" val="375957518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A8A02-1A60-D0EF-F3EE-9F1511AE6132}"/>
              </a:ext>
            </a:extLst>
          </p:cNvPr>
          <p:cNvSpPr>
            <a:spLocks noGrp="1"/>
          </p:cNvSpPr>
          <p:nvPr>
            <p:ph type="title"/>
          </p:nvPr>
        </p:nvSpPr>
        <p:spPr>
          <a:xfrm>
            <a:off x="299182" y="135604"/>
            <a:ext cx="11558521" cy="901535"/>
          </a:xfrm>
        </p:spPr>
        <p:txBody>
          <a:bodyPr anchor="b">
            <a:normAutofit/>
          </a:bodyPr>
          <a:lstStyle/>
          <a:p>
            <a:r>
              <a:rPr lang="en-AT" dirty="0"/>
              <a:t>Power Platform Admin Center - Areas</a:t>
            </a:r>
          </a:p>
        </p:txBody>
      </p:sp>
      <p:graphicFrame>
        <p:nvGraphicFramePr>
          <p:cNvPr id="5" name="Table 4">
            <a:extLst>
              <a:ext uri="{FF2B5EF4-FFF2-40B4-BE49-F238E27FC236}">
                <a16:creationId xmlns:a16="http://schemas.microsoft.com/office/drawing/2014/main" id="{A4F29E39-CF56-3677-D6EE-847DAD80D9A4}"/>
              </a:ext>
            </a:extLst>
          </p:cNvPr>
          <p:cNvGraphicFramePr>
            <a:graphicFrameLocks noGrp="1"/>
          </p:cNvGraphicFramePr>
          <p:nvPr>
            <p:extLst>
              <p:ext uri="{D42A27DB-BD31-4B8C-83A1-F6EECF244321}">
                <p14:modId xmlns:p14="http://schemas.microsoft.com/office/powerpoint/2010/main" val="1157134615"/>
              </p:ext>
            </p:extLst>
          </p:nvPr>
        </p:nvGraphicFramePr>
        <p:xfrm>
          <a:off x="299183" y="1611943"/>
          <a:ext cx="11558521" cy="4246997"/>
        </p:xfrm>
        <a:graphic>
          <a:graphicData uri="http://schemas.openxmlformats.org/drawingml/2006/table">
            <a:tbl>
              <a:tblPr/>
              <a:tblGrid>
                <a:gridCol w="2033923">
                  <a:extLst>
                    <a:ext uri="{9D8B030D-6E8A-4147-A177-3AD203B41FA5}">
                      <a16:colId xmlns:a16="http://schemas.microsoft.com/office/drawing/2014/main" val="2759936959"/>
                    </a:ext>
                  </a:extLst>
                </a:gridCol>
                <a:gridCol w="9524598">
                  <a:extLst>
                    <a:ext uri="{9D8B030D-6E8A-4147-A177-3AD203B41FA5}">
                      <a16:colId xmlns:a16="http://schemas.microsoft.com/office/drawing/2014/main" val="3029794740"/>
                    </a:ext>
                  </a:extLst>
                </a:gridCol>
              </a:tblGrid>
              <a:tr h="444867">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Feature Area</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Description</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599454872"/>
                  </a:ext>
                </a:extLst>
              </a:tr>
              <a:tr h="683745">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Actions</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en-US" sz="1400" b="0" i="0" u="none" strike="noStrike" kern="100">
                          <a:effectLst/>
                          <a:latin typeface="Aptos" panose="020B0004020202020204" pitchFamily="34" charset="0"/>
                          <a:ea typeface="Aptos" panose="020B0004020202020204" pitchFamily="34" charset="0"/>
                          <a:cs typeface="Times New Roman" panose="02020603050405020304" pitchFamily="18" charset="0"/>
                        </a:rPr>
                        <a:t>View recommendations about your Power Platform implementation. The recommendations enhance security, reliability, and overall health of your implementation.</a:t>
                      </a:r>
                      <a:endParaRPr lang="en-US"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2209330912"/>
                  </a:ext>
                </a:extLst>
              </a:tr>
              <a:tr h="444867">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Manage</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en-US" sz="1400" b="0" i="0" u="none" strike="noStrike" kern="100">
                          <a:effectLst/>
                          <a:latin typeface="Aptos" panose="020B0004020202020204" pitchFamily="34" charset="0"/>
                          <a:ea typeface="Aptos" panose="020B0004020202020204" pitchFamily="34" charset="0"/>
                          <a:cs typeface="Times New Roman" panose="02020603050405020304" pitchFamily="18" charset="0"/>
                        </a:rPr>
                        <a:t>Manage your environments, environment groups, and tenant settings.</a:t>
                      </a:r>
                      <a:endParaRPr lang="en-US"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4151733484"/>
                  </a:ext>
                </a:extLst>
              </a:tr>
              <a:tr h="444867">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Monitor</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en-US" sz="1400" b="0" i="0" u="none" strike="noStrike" kern="100">
                          <a:effectLst/>
                          <a:latin typeface="Aptos" panose="020B0004020202020204" pitchFamily="34" charset="0"/>
                          <a:ea typeface="Aptos" panose="020B0004020202020204" pitchFamily="34" charset="0"/>
                          <a:cs typeface="Times New Roman" panose="02020603050405020304" pitchFamily="18" charset="0"/>
                        </a:rPr>
                        <a:t>Measure and improve operational health metrics of resources built or deployed in Power Platform, such as apps.</a:t>
                      </a:r>
                      <a:endParaRPr lang="en-US"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399578868"/>
                  </a:ext>
                </a:extLst>
              </a:tr>
              <a:tr h="444867">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Security</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en-US" sz="1400" b="0" i="0" u="none" strike="noStrike" kern="100">
                          <a:effectLst/>
                          <a:latin typeface="Aptos" panose="020B0004020202020204" pitchFamily="34" charset="0"/>
                          <a:ea typeface="Aptos" panose="020B0004020202020204" pitchFamily="34" charset="0"/>
                          <a:cs typeface="Times New Roman" panose="02020603050405020304" pitchFamily="18" charset="0"/>
                        </a:rPr>
                        <a:t>Run your organizational workloads in the safest way possible with a wide set of security features available.</a:t>
                      </a:r>
                      <a:endParaRPr lang="en-US"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3170190659"/>
                  </a:ext>
                </a:extLst>
              </a:tr>
              <a:tr h="683745">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Deployment</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en-US" sz="1400" b="0" i="0" u="none" strike="noStrike" kern="100">
                          <a:effectLst/>
                          <a:latin typeface="Aptos" panose="020B0004020202020204" pitchFamily="34" charset="0"/>
                          <a:ea typeface="Aptos" panose="020B0004020202020204" pitchFamily="34" charset="0"/>
                          <a:cs typeface="Times New Roman" panose="02020603050405020304" pitchFamily="18" charset="0"/>
                        </a:rPr>
                        <a:t>Provides a streamlined experience to help administrators navigate the complexities of managing Power Platform application lifecycle management (ALM) workloads, including managing pipelines deployments at enterprise scale. </a:t>
                      </a:r>
                      <a:endParaRPr lang="en-US"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3355109828"/>
                  </a:ext>
                </a:extLst>
              </a:tr>
              <a:tr h="444867">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Licensing</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en-US" sz="1400" b="0" i="0" u="none" strike="noStrike" kern="100">
                          <a:effectLst/>
                          <a:latin typeface="Aptos" panose="020B0004020202020204" pitchFamily="34" charset="0"/>
                          <a:ea typeface="Aptos" panose="020B0004020202020204" pitchFamily="34" charset="0"/>
                          <a:cs typeface="Times New Roman" panose="02020603050405020304" pitchFamily="18" charset="0"/>
                        </a:rPr>
                        <a:t>View a summary of environments in your tenant requiring licensing attention and license consumption for your environments.</a:t>
                      </a:r>
                      <a:endParaRPr lang="en-US"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1484017834"/>
                  </a:ext>
                </a:extLst>
              </a:tr>
              <a:tr h="444867">
                <a:tc>
                  <a:txBody>
                    <a:bodyPr/>
                    <a:lstStyle/>
                    <a:p>
                      <a:pPr algn="l" fontAlgn="t">
                        <a:lnSpc>
                          <a:spcPct val="115000"/>
                        </a:lnSpc>
                        <a:spcAft>
                          <a:spcPts val="800"/>
                        </a:spcAft>
                        <a:buNone/>
                      </a:pPr>
                      <a:r>
                        <a:rPr lang="de-DE" sz="1400" b="0" i="0" u="none" strike="noStrike" kern="100">
                          <a:effectLst/>
                          <a:latin typeface="Aptos" panose="020B0004020202020204" pitchFamily="34" charset="0"/>
                          <a:ea typeface="Aptos" panose="020B0004020202020204" pitchFamily="34" charset="0"/>
                          <a:cs typeface="Times New Roman" panose="02020603050405020304" pitchFamily="18" charset="0"/>
                        </a:rPr>
                        <a:t>Copilot</a:t>
                      </a:r>
                      <a:endParaRPr lang="de-DE" sz="2000" b="0" i="0" u="none" strike="noStrike">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tc>
                  <a:txBody>
                    <a:bodyPr/>
                    <a:lstStyle/>
                    <a:p>
                      <a:pPr algn="l" fontAlgn="t">
                        <a:lnSpc>
                          <a:spcPct val="115000"/>
                        </a:lnSpc>
                        <a:spcAft>
                          <a:spcPts val="800"/>
                        </a:spcAft>
                        <a:buNone/>
                      </a:pPr>
                      <a:r>
                        <a:rPr lang="en-US" sz="14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Access educational resources, track usage, and access governance controls about Copilot features.</a:t>
                      </a:r>
                      <a:endParaRPr lang="en-US" sz="2000" b="0" i="0" u="none" strike="noStrike" dirty="0">
                        <a:effectLst/>
                        <a:latin typeface="Arial" panose="020B0604020202020204" pitchFamily="34" charset="0"/>
                      </a:endParaRPr>
                    </a:p>
                  </a:txBody>
                  <a:tcPr marL="165166" marR="30292" marT="82222" marB="82222">
                    <a:lnL w="12700" cap="flat" cmpd="sng" algn="ctr">
                      <a:solidFill>
                        <a:srgbClr val="D8DEDC"/>
                      </a:solidFill>
                      <a:prstDash val="solid"/>
                      <a:round/>
                      <a:headEnd type="none" w="med" len="med"/>
                      <a:tailEnd type="none" w="med" len="med"/>
                    </a:lnL>
                    <a:lnR w="12700" cap="flat" cmpd="sng" algn="ctr">
                      <a:solidFill>
                        <a:srgbClr val="D8DEDC"/>
                      </a:solidFill>
                      <a:prstDash val="solid"/>
                      <a:round/>
                      <a:headEnd type="none" w="med" len="med"/>
                      <a:tailEnd type="none" w="med" len="med"/>
                    </a:lnR>
                    <a:lnT w="12700" cap="flat" cmpd="sng" algn="ctr">
                      <a:solidFill>
                        <a:srgbClr val="D8DEDC"/>
                      </a:solidFill>
                      <a:prstDash val="solid"/>
                      <a:round/>
                      <a:headEnd type="none" w="med" len="med"/>
                      <a:tailEnd type="none" w="med" len="med"/>
                    </a:lnT>
                    <a:lnB w="12700" cap="flat" cmpd="sng" algn="ctr">
                      <a:solidFill>
                        <a:srgbClr val="D8DEDC"/>
                      </a:solidFill>
                      <a:prstDash val="solid"/>
                      <a:round/>
                      <a:headEnd type="none" w="med" len="med"/>
                      <a:tailEnd type="none" w="med" len="med"/>
                    </a:lnB>
                    <a:noFill/>
                  </a:tcPr>
                </a:tc>
                <a:extLst>
                  <a:ext uri="{0D108BD9-81ED-4DB2-BD59-A6C34878D82A}">
                    <a16:rowId xmlns:a16="http://schemas.microsoft.com/office/drawing/2014/main" val="3159450564"/>
                  </a:ext>
                </a:extLst>
              </a:tr>
            </a:tbl>
          </a:graphicData>
        </a:graphic>
      </p:graphicFrame>
    </p:spTree>
    <p:extLst>
      <p:ext uri="{BB962C8B-B14F-4D97-AF65-F5344CB8AC3E}">
        <p14:creationId xmlns:p14="http://schemas.microsoft.com/office/powerpoint/2010/main" val="2971897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95675-5FC3-9610-A932-3351106DB4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ACB094-A699-D691-4255-12CB568AA2E4}"/>
              </a:ext>
            </a:extLst>
          </p:cNvPr>
          <p:cNvSpPr>
            <a:spLocks noGrp="1"/>
          </p:cNvSpPr>
          <p:nvPr>
            <p:ph type="title"/>
          </p:nvPr>
        </p:nvSpPr>
        <p:spPr/>
        <p:txBody>
          <a:bodyPr>
            <a:normAutofit fontScale="90000"/>
          </a:bodyPr>
          <a:lstStyle/>
          <a:p>
            <a:r>
              <a:rPr lang="en-US" dirty="0"/>
              <a:t>Solutions in Power </a:t>
            </a:r>
            <a:r>
              <a:rPr lang="en-AT" dirty="0"/>
              <a:t>Automate</a:t>
            </a:r>
          </a:p>
        </p:txBody>
      </p:sp>
      <p:sp>
        <p:nvSpPr>
          <p:cNvPr id="5" name="Content Placeholder 4">
            <a:extLst>
              <a:ext uri="{FF2B5EF4-FFF2-40B4-BE49-F238E27FC236}">
                <a16:creationId xmlns:a16="http://schemas.microsoft.com/office/drawing/2014/main" id="{0C138717-A5CD-ADD3-AB7A-12855B048649}"/>
              </a:ext>
            </a:extLst>
          </p:cNvPr>
          <p:cNvSpPr>
            <a:spLocks noGrp="1"/>
          </p:cNvSpPr>
          <p:nvPr>
            <p:ph sz="half" idx="1"/>
          </p:nvPr>
        </p:nvSpPr>
        <p:spPr/>
        <p:txBody>
          <a:bodyPr>
            <a:normAutofit fontScale="85000" lnSpcReduction="20000"/>
          </a:bodyPr>
          <a:lstStyle/>
          <a:p>
            <a:pPr>
              <a:lnSpc>
                <a:spcPct val="150000"/>
              </a:lnSpc>
            </a:pPr>
            <a:r>
              <a:rPr lang="en-US" dirty="0"/>
              <a:t>Centralized Management of Apps and Flows</a:t>
            </a:r>
            <a:endParaRPr lang="en-AT" dirty="0"/>
          </a:p>
          <a:p>
            <a:pPr lvl="1">
              <a:lnSpc>
                <a:spcPct val="150000"/>
              </a:lnSpc>
            </a:pPr>
            <a:r>
              <a:rPr lang="en-US" dirty="0"/>
              <a:t>Solutions act as containers that group related Power Apps, flows, tables, and other components, making it easier to manage and deploy them together.</a:t>
            </a:r>
            <a:endParaRPr lang="en-AT" dirty="0"/>
          </a:p>
          <a:p>
            <a:pPr>
              <a:lnSpc>
                <a:spcPct val="150000"/>
              </a:lnSpc>
            </a:pPr>
            <a:r>
              <a:rPr lang="en-US" dirty="0"/>
              <a:t>Application Lifecycle Management (ALM)</a:t>
            </a:r>
            <a:endParaRPr lang="en-AT" dirty="0"/>
          </a:p>
          <a:p>
            <a:pPr lvl="1">
              <a:lnSpc>
                <a:spcPct val="150000"/>
              </a:lnSpc>
            </a:pPr>
            <a:r>
              <a:rPr lang="en-US" dirty="0"/>
              <a:t>Supports versioning, patching, and deployment pipelines across environments (e.g., dev, test, prod), enabling structured and secure development workflows.</a:t>
            </a:r>
            <a:endParaRPr lang="en-AT" dirty="0"/>
          </a:p>
          <a:p>
            <a:pPr>
              <a:lnSpc>
                <a:spcPct val="150000"/>
              </a:lnSpc>
            </a:pPr>
            <a:r>
              <a:rPr lang="en-US" dirty="0"/>
              <a:t>Environment-Aware Deployment</a:t>
            </a:r>
            <a:endParaRPr lang="en-AT" dirty="0"/>
          </a:p>
          <a:p>
            <a:pPr lvl="1">
              <a:lnSpc>
                <a:spcPct val="150000"/>
              </a:lnSpc>
            </a:pPr>
            <a:r>
              <a:rPr lang="en-US" dirty="0"/>
              <a:t>Solutions are designed to work across multiple environments, allowing administrators to move configurations and customizations seamlessly.</a:t>
            </a:r>
            <a:endParaRPr lang="en-AT" dirty="0"/>
          </a:p>
        </p:txBody>
      </p:sp>
      <p:pic>
        <p:nvPicPr>
          <p:cNvPr id="8" name="Content Placeholder 7">
            <a:extLst>
              <a:ext uri="{FF2B5EF4-FFF2-40B4-BE49-F238E27FC236}">
                <a16:creationId xmlns:a16="http://schemas.microsoft.com/office/drawing/2014/main" id="{2244B2BE-028C-94EC-EFF5-2ADDD89526A4}"/>
              </a:ext>
            </a:extLst>
          </p:cNvPr>
          <p:cNvPicPr>
            <a:picLocks noGrp="1" noChangeAspect="1"/>
          </p:cNvPicPr>
          <p:nvPr>
            <p:ph sz="half" idx="2"/>
          </p:nvPr>
        </p:nvPicPr>
        <p:blipFill>
          <a:blip r:embed="rId2"/>
          <a:stretch>
            <a:fillRect/>
          </a:stretch>
        </p:blipFill>
        <p:spPr>
          <a:xfrm>
            <a:off x="6218238" y="1874532"/>
            <a:ext cx="5351462" cy="3540737"/>
          </a:xfrm>
          <a:prstGeom prst="rect">
            <a:avLst/>
          </a:prstGeom>
        </p:spPr>
      </p:pic>
    </p:spTree>
    <p:extLst>
      <p:ext uri="{BB962C8B-B14F-4D97-AF65-F5344CB8AC3E}">
        <p14:creationId xmlns:p14="http://schemas.microsoft.com/office/powerpoint/2010/main" val="268091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03438-EB81-0476-FC38-87B087B4BC5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F18647-448F-12AF-E26C-50D70529CABC}"/>
              </a:ext>
            </a:extLst>
          </p:cNvPr>
          <p:cNvSpPr>
            <a:spLocks noGrp="1"/>
          </p:cNvSpPr>
          <p:nvPr>
            <p:ph type="title"/>
          </p:nvPr>
        </p:nvSpPr>
        <p:spPr/>
        <p:txBody>
          <a:bodyPr>
            <a:normAutofit fontScale="90000"/>
          </a:bodyPr>
          <a:lstStyle/>
          <a:p>
            <a:r>
              <a:rPr lang="en-AT" dirty="0"/>
              <a:t>Solution Artifacts</a:t>
            </a:r>
          </a:p>
        </p:txBody>
      </p:sp>
      <p:sp>
        <p:nvSpPr>
          <p:cNvPr id="5" name="Content Placeholder 4">
            <a:extLst>
              <a:ext uri="{FF2B5EF4-FFF2-40B4-BE49-F238E27FC236}">
                <a16:creationId xmlns:a16="http://schemas.microsoft.com/office/drawing/2014/main" id="{996F078F-0D41-CDEB-2685-1C074B7F4495}"/>
              </a:ext>
            </a:extLst>
          </p:cNvPr>
          <p:cNvSpPr>
            <a:spLocks noGrp="1"/>
          </p:cNvSpPr>
          <p:nvPr>
            <p:ph sz="half" idx="1"/>
          </p:nvPr>
        </p:nvSpPr>
        <p:spPr/>
        <p:txBody>
          <a:bodyPr/>
          <a:lstStyle/>
          <a:p>
            <a:pPr>
              <a:lnSpc>
                <a:spcPct val="150000"/>
              </a:lnSpc>
            </a:pPr>
            <a:r>
              <a:rPr lang="en-AT" dirty="0"/>
              <a:t>A solution accts as a grouping container for Copilot Studio artifacts</a:t>
            </a:r>
          </a:p>
          <a:p>
            <a:pPr lvl="1">
              <a:lnSpc>
                <a:spcPct val="150000"/>
              </a:lnSpc>
            </a:pPr>
            <a:r>
              <a:rPr lang="de-DE" dirty="0"/>
              <a:t>Unified </a:t>
            </a:r>
            <a:r>
              <a:rPr lang="de-DE" dirty="0" err="1"/>
              <a:t>Packaging</a:t>
            </a:r>
            <a:r>
              <a:rPr lang="de-DE" dirty="0"/>
              <a:t> </a:t>
            </a:r>
            <a:r>
              <a:rPr lang="de-DE" dirty="0" err="1"/>
              <a:t>of</a:t>
            </a:r>
            <a:r>
              <a:rPr lang="de-DE" dirty="0"/>
              <a:t> Components</a:t>
            </a:r>
            <a:endParaRPr lang="en-AT" dirty="0"/>
          </a:p>
          <a:p>
            <a:pPr lvl="1">
              <a:lnSpc>
                <a:spcPct val="150000"/>
              </a:lnSpc>
            </a:pPr>
            <a:r>
              <a:rPr lang="de-DE" dirty="0"/>
              <a:t>Supports ALM and </a:t>
            </a:r>
            <a:r>
              <a:rPr lang="de-DE" dirty="0" err="1"/>
              <a:t>Governance</a:t>
            </a:r>
            <a:endParaRPr lang="en-AT" dirty="0"/>
          </a:p>
        </p:txBody>
      </p:sp>
      <p:pic>
        <p:nvPicPr>
          <p:cNvPr id="8" name="Content Placeholder 7">
            <a:extLst>
              <a:ext uri="{FF2B5EF4-FFF2-40B4-BE49-F238E27FC236}">
                <a16:creationId xmlns:a16="http://schemas.microsoft.com/office/drawing/2014/main" id="{1D9EBD1E-2B62-E114-E6B9-FA95367BA040}"/>
              </a:ext>
            </a:extLst>
          </p:cNvPr>
          <p:cNvPicPr>
            <a:picLocks noGrp="1" noChangeAspect="1"/>
          </p:cNvPicPr>
          <p:nvPr>
            <p:ph sz="half" idx="2"/>
          </p:nvPr>
        </p:nvPicPr>
        <p:blipFill>
          <a:blip r:embed="rId2"/>
          <a:stretch>
            <a:fillRect/>
          </a:stretch>
        </p:blipFill>
        <p:spPr>
          <a:xfrm>
            <a:off x="6218238" y="1654221"/>
            <a:ext cx="5351462" cy="3981358"/>
          </a:xfrm>
          <a:prstGeom prst="rect">
            <a:avLst/>
          </a:prstGeom>
        </p:spPr>
      </p:pic>
    </p:spTree>
    <p:extLst>
      <p:ext uri="{BB962C8B-B14F-4D97-AF65-F5344CB8AC3E}">
        <p14:creationId xmlns:p14="http://schemas.microsoft.com/office/powerpoint/2010/main" val="1950896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B165-0C0D-C1D8-FEE3-A5EF1DC42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5C3B9-7376-2355-F6D6-B290070498C5}"/>
              </a:ext>
            </a:extLst>
          </p:cNvPr>
          <p:cNvSpPr>
            <a:spLocks noGrp="1"/>
          </p:cNvSpPr>
          <p:nvPr>
            <p:ph type="title"/>
          </p:nvPr>
        </p:nvSpPr>
        <p:spPr>
          <a:xfrm>
            <a:off x="681162" y="759826"/>
            <a:ext cx="10829676" cy="3443537"/>
          </a:xfrm>
        </p:spPr>
        <p:txBody>
          <a:bodyPr>
            <a:normAutofit/>
          </a:bodyPr>
          <a:lstStyle/>
          <a:p>
            <a:r>
              <a:rPr lang="en-AT" dirty="0"/>
              <a:t>Exporting Agents</a:t>
            </a:r>
            <a:endParaRPr lang="de-DE" dirty="0"/>
          </a:p>
        </p:txBody>
      </p:sp>
      <p:sp>
        <p:nvSpPr>
          <p:cNvPr id="3" name="Text Placeholder 2">
            <a:extLst>
              <a:ext uri="{FF2B5EF4-FFF2-40B4-BE49-F238E27FC236}">
                <a16:creationId xmlns:a16="http://schemas.microsoft.com/office/drawing/2014/main" id="{382481A8-4D4E-9AE2-81B0-8F3B107B65D9}"/>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517956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06BB7-072B-BF14-72D3-5C51B67E1BB4}"/>
              </a:ext>
            </a:extLst>
          </p:cNvPr>
          <p:cNvSpPr>
            <a:spLocks noGrp="1"/>
          </p:cNvSpPr>
          <p:nvPr>
            <p:ph type="title"/>
          </p:nvPr>
        </p:nvSpPr>
        <p:spPr/>
        <p:txBody>
          <a:bodyPr>
            <a:normAutofit fontScale="90000"/>
          </a:bodyPr>
          <a:lstStyle/>
          <a:p>
            <a:r>
              <a:rPr lang="en-AT" dirty="0"/>
              <a:t>Exporting existing Agents</a:t>
            </a:r>
          </a:p>
        </p:txBody>
      </p:sp>
      <p:sp>
        <p:nvSpPr>
          <p:cNvPr id="3" name="Content Placeholder 2">
            <a:extLst>
              <a:ext uri="{FF2B5EF4-FFF2-40B4-BE49-F238E27FC236}">
                <a16:creationId xmlns:a16="http://schemas.microsoft.com/office/drawing/2014/main" id="{534238BC-9DBD-D883-2E6F-ED33745192C6}"/>
              </a:ext>
            </a:extLst>
          </p:cNvPr>
          <p:cNvSpPr>
            <a:spLocks noGrp="1"/>
          </p:cNvSpPr>
          <p:nvPr>
            <p:ph sz="half" idx="1"/>
          </p:nvPr>
        </p:nvSpPr>
        <p:spPr/>
        <p:txBody>
          <a:bodyPr/>
          <a:lstStyle/>
          <a:p>
            <a:pPr lvl="1">
              <a:lnSpc>
                <a:spcPct val="150000"/>
              </a:lnSpc>
            </a:pPr>
            <a:r>
              <a:rPr lang="en-AT" dirty="0"/>
              <a:t>Go to Solution Exporer</a:t>
            </a:r>
          </a:p>
          <a:p>
            <a:pPr lvl="1">
              <a:lnSpc>
                <a:spcPct val="150000"/>
              </a:lnSpc>
            </a:pPr>
            <a:r>
              <a:rPr lang="en-AT" dirty="0"/>
              <a:t>Create a new Solution</a:t>
            </a:r>
          </a:p>
          <a:p>
            <a:pPr lvl="1">
              <a:lnSpc>
                <a:spcPct val="150000"/>
              </a:lnSpc>
            </a:pPr>
            <a:r>
              <a:rPr lang="en-AT" dirty="0"/>
              <a:t>Chose: Add existing -&gt; Agent</a:t>
            </a:r>
          </a:p>
          <a:p>
            <a:pPr lvl="1">
              <a:lnSpc>
                <a:spcPct val="150000"/>
              </a:lnSpc>
            </a:pPr>
            <a:r>
              <a:rPr lang="en-AT" dirty="0"/>
              <a:t>Add the agent you want to add, then select it</a:t>
            </a:r>
          </a:p>
          <a:p>
            <a:pPr lvl="1">
              <a:lnSpc>
                <a:spcPct val="150000"/>
              </a:lnSpc>
            </a:pPr>
            <a:r>
              <a:rPr lang="en-AT" dirty="0"/>
              <a:t>Advanced -&gt; Add required objects</a:t>
            </a:r>
          </a:p>
          <a:p>
            <a:pPr lvl="1">
              <a:lnSpc>
                <a:spcPct val="150000"/>
              </a:lnSpc>
            </a:pPr>
            <a:r>
              <a:rPr lang="en-AT" dirty="0"/>
              <a:t>Go back to the solution &amp; run Solution checker</a:t>
            </a:r>
          </a:p>
          <a:p>
            <a:pPr lvl="1">
              <a:lnSpc>
                <a:spcPct val="150000"/>
              </a:lnSpc>
            </a:pPr>
            <a:r>
              <a:rPr lang="en-AT" dirty="0"/>
              <a:t>Export, then import in your target Environment</a:t>
            </a:r>
          </a:p>
          <a:p>
            <a:pPr lvl="1">
              <a:lnSpc>
                <a:spcPct val="150000"/>
              </a:lnSpc>
            </a:pPr>
            <a:endParaRPr lang="en-AT" dirty="0"/>
          </a:p>
          <a:p>
            <a:pPr lvl="2"/>
            <a:endParaRPr lang="en-AT" dirty="0"/>
          </a:p>
          <a:p>
            <a:pPr lvl="1"/>
            <a:endParaRPr lang="en-AT" dirty="0"/>
          </a:p>
        </p:txBody>
      </p:sp>
      <p:pic>
        <p:nvPicPr>
          <p:cNvPr id="18" name="Content Placeholder 17">
            <a:extLst>
              <a:ext uri="{FF2B5EF4-FFF2-40B4-BE49-F238E27FC236}">
                <a16:creationId xmlns:a16="http://schemas.microsoft.com/office/drawing/2014/main" id="{A31464C6-BF89-DB57-F9EF-86D43486CE2D}"/>
              </a:ext>
            </a:extLst>
          </p:cNvPr>
          <p:cNvPicPr>
            <a:picLocks noGrp="1" noChangeAspect="1"/>
          </p:cNvPicPr>
          <p:nvPr>
            <p:ph sz="half" idx="2"/>
          </p:nvPr>
        </p:nvPicPr>
        <p:blipFill>
          <a:blip r:embed="rId2"/>
          <a:stretch>
            <a:fillRect/>
          </a:stretch>
        </p:blipFill>
        <p:spPr>
          <a:xfrm>
            <a:off x="6720508" y="1420813"/>
            <a:ext cx="4346921" cy="4448175"/>
          </a:xfrm>
          <a:prstGeom prst="rect">
            <a:avLst/>
          </a:prstGeom>
        </p:spPr>
      </p:pic>
    </p:spTree>
    <p:extLst>
      <p:ext uri="{BB962C8B-B14F-4D97-AF65-F5344CB8AC3E}">
        <p14:creationId xmlns:p14="http://schemas.microsoft.com/office/powerpoint/2010/main" val="2940532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28615-ACA5-E0C2-4643-F4096F119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21770-0457-D4A0-D5C6-2278E89153EE}"/>
              </a:ext>
            </a:extLst>
          </p:cNvPr>
          <p:cNvSpPr>
            <a:spLocks noGrp="1"/>
          </p:cNvSpPr>
          <p:nvPr>
            <p:ph type="title"/>
          </p:nvPr>
        </p:nvSpPr>
        <p:spPr>
          <a:xfrm>
            <a:off x="681162" y="759826"/>
            <a:ext cx="10829676" cy="3443537"/>
          </a:xfrm>
        </p:spPr>
        <p:txBody>
          <a:bodyPr>
            <a:normAutofit/>
          </a:bodyPr>
          <a:lstStyle/>
          <a:p>
            <a:r>
              <a:rPr lang="de-DE" dirty="0" err="1"/>
              <a:t>Deployment</a:t>
            </a:r>
            <a:r>
              <a:rPr lang="de-DE" dirty="0"/>
              <a:t> Pipelines </a:t>
            </a:r>
          </a:p>
        </p:txBody>
      </p:sp>
      <p:sp>
        <p:nvSpPr>
          <p:cNvPr id="3" name="Text Placeholder 2">
            <a:extLst>
              <a:ext uri="{FF2B5EF4-FFF2-40B4-BE49-F238E27FC236}">
                <a16:creationId xmlns:a16="http://schemas.microsoft.com/office/drawing/2014/main" id="{6561E402-9D6E-56D2-A38F-CBDEECE45D67}"/>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2146060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A2E8-058F-36D3-56CA-41C98AAD15CA}"/>
              </a:ext>
            </a:extLst>
          </p:cNvPr>
          <p:cNvSpPr>
            <a:spLocks noGrp="1"/>
          </p:cNvSpPr>
          <p:nvPr>
            <p:ph type="title"/>
          </p:nvPr>
        </p:nvSpPr>
        <p:spPr/>
        <p:txBody>
          <a:bodyPr>
            <a:normAutofit fontScale="90000"/>
          </a:bodyPr>
          <a:lstStyle/>
          <a:p>
            <a:r>
              <a:rPr lang="en-US" dirty="0"/>
              <a:t>Deployment Pipelines for Copilot Studio Agents</a:t>
            </a:r>
            <a:endParaRPr lang="en-AT" dirty="0"/>
          </a:p>
        </p:txBody>
      </p:sp>
      <p:sp>
        <p:nvSpPr>
          <p:cNvPr id="3" name="Content Placeholder 2">
            <a:extLst>
              <a:ext uri="{FF2B5EF4-FFF2-40B4-BE49-F238E27FC236}">
                <a16:creationId xmlns:a16="http://schemas.microsoft.com/office/drawing/2014/main" id="{7733A7F7-E74C-C34B-9461-6C35AD095B2A}"/>
              </a:ext>
            </a:extLst>
          </p:cNvPr>
          <p:cNvSpPr>
            <a:spLocks noGrp="1"/>
          </p:cNvSpPr>
          <p:nvPr>
            <p:ph sz="half" idx="1"/>
          </p:nvPr>
        </p:nvSpPr>
        <p:spPr/>
        <p:txBody>
          <a:bodyPr>
            <a:normAutofit fontScale="77500" lnSpcReduction="20000"/>
          </a:bodyPr>
          <a:lstStyle/>
          <a:p>
            <a:pPr>
              <a:lnSpc>
                <a:spcPct val="150000"/>
              </a:lnSpc>
            </a:pPr>
            <a:r>
              <a:rPr lang="de-DE" dirty="0"/>
              <a:t>Agent Design &amp; </a:t>
            </a:r>
            <a:r>
              <a:rPr lang="de-DE" dirty="0" err="1"/>
              <a:t>Configuration</a:t>
            </a:r>
            <a:endParaRPr lang="en-AT" dirty="0"/>
          </a:p>
          <a:p>
            <a:pPr lvl="1">
              <a:lnSpc>
                <a:spcPct val="150000"/>
              </a:lnSpc>
            </a:pPr>
            <a:r>
              <a:rPr lang="de-DE" dirty="0" err="1"/>
              <a:t>Define</a:t>
            </a:r>
            <a:r>
              <a:rPr lang="de-DE" dirty="0"/>
              <a:t> </a:t>
            </a:r>
            <a:r>
              <a:rPr lang="de-DE" dirty="0" err="1"/>
              <a:t>goals</a:t>
            </a:r>
            <a:r>
              <a:rPr lang="de-DE" dirty="0"/>
              <a:t>, </a:t>
            </a:r>
            <a:r>
              <a:rPr lang="de-DE" dirty="0" err="1"/>
              <a:t>skills</a:t>
            </a:r>
            <a:r>
              <a:rPr lang="de-DE" dirty="0"/>
              <a:t>, </a:t>
            </a:r>
            <a:r>
              <a:rPr lang="de-DE" dirty="0" err="1"/>
              <a:t>triggers</a:t>
            </a:r>
            <a:r>
              <a:rPr lang="de-DE" dirty="0"/>
              <a:t>, and </a:t>
            </a:r>
            <a:r>
              <a:rPr lang="de-DE" dirty="0" err="1"/>
              <a:t>conversation</a:t>
            </a:r>
            <a:r>
              <a:rPr lang="de-DE" dirty="0"/>
              <a:t> </a:t>
            </a:r>
            <a:r>
              <a:rPr lang="de-DE" dirty="0" err="1"/>
              <a:t>flows.Configure</a:t>
            </a:r>
            <a:r>
              <a:rPr lang="de-DE" dirty="0"/>
              <a:t> </a:t>
            </a:r>
            <a:r>
              <a:rPr lang="de-DE" dirty="0" err="1"/>
              <a:t>integrations</a:t>
            </a:r>
            <a:endParaRPr lang="en-AT" dirty="0"/>
          </a:p>
          <a:p>
            <a:pPr>
              <a:lnSpc>
                <a:spcPct val="150000"/>
              </a:lnSpc>
            </a:pPr>
            <a:r>
              <a:rPr lang="de-DE" dirty="0" err="1"/>
              <a:t>Testing</a:t>
            </a:r>
            <a:r>
              <a:rPr lang="de-DE" dirty="0"/>
              <a:t> &amp; Validation</a:t>
            </a:r>
            <a:endParaRPr lang="en-AT" dirty="0"/>
          </a:p>
          <a:p>
            <a:pPr lvl="1">
              <a:lnSpc>
                <a:spcPct val="150000"/>
              </a:lnSpc>
            </a:pPr>
            <a:r>
              <a:rPr lang="de-DE" dirty="0"/>
              <a:t>Use </a:t>
            </a:r>
            <a:r>
              <a:rPr lang="de-DE" dirty="0" err="1"/>
              <a:t>sandbox</a:t>
            </a:r>
            <a:r>
              <a:rPr lang="de-DE" dirty="0"/>
              <a:t> </a:t>
            </a:r>
            <a:r>
              <a:rPr lang="de-DE" dirty="0" err="1"/>
              <a:t>environments</a:t>
            </a:r>
            <a:r>
              <a:rPr lang="de-DE" dirty="0"/>
              <a:t> </a:t>
            </a:r>
            <a:r>
              <a:rPr lang="de-DE" dirty="0" err="1"/>
              <a:t>to</a:t>
            </a:r>
            <a:r>
              <a:rPr lang="de-DE" dirty="0"/>
              <a:t> </a:t>
            </a:r>
            <a:r>
              <a:rPr lang="de-DE" dirty="0" err="1"/>
              <a:t>simulate</a:t>
            </a:r>
            <a:r>
              <a:rPr lang="de-DE" dirty="0"/>
              <a:t> </a:t>
            </a:r>
            <a:r>
              <a:rPr lang="de-DE" dirty="0" err="1"/>
              <a:t>interactions</a:t>
            </a:r>
            <a:r>
              <a:rPr lang="de-DE" dirty="0"/>
              <a:t>.</a:t>
            </a:r>
            <a:endParaRPr lang="en-AT" dirty="0"/>
          </a:p>
          <a:p>
            <a:pPr lvl="1">
              <a:lnSpc>
                <a:spcPct val="150000"/>
              </a:lnSpc>
            </a:pPr>
            <a:r>
              <a:rPr lang="de-DE" dirty="0" err="1"/>
              <a:t>Validate</a:t>
            </a:r>
            <a:r>
              <a:rPr lang="de-DE" dirty="0"/>
              <a:t> </a:t>
            </a:r>
            <a:r>
              <a:rPr lang="de-DE" dirty="0" err="1"/>
              <a:t>intents</a:t>
            </a:r>
            <a:r>
              <a:rPr lang="de-DE" dirty="0"/>
              <a:t>, </a:t>
            </a:r>
            <a:r>
              <a:rPr lang="de-DE" dirty="0" err="1"/>
              <a:t>responses</a:t>
            </a:r>
            <a:r>
              <a:rPr lang="de-DE" dirty="0"/>
              <a:t>, and </a:t>
            </a:r>
            <a:r>
              <a:rPr lang="de-DE" dirty="0" err="1"/>
              <a:t>fallback</a:t>
            </a:r>
            <a:r>
              <a:rPr lang="de-DE" dirty="0"/>
              <a:t> </a:t>
            </a:r>
            <a:r>
              <a:rPr lang="de-DE" dirty="0" err="1"/>
              <a:t>behavior</a:t>
            </a:r>
            <a:r>
              <a:rPr lang="de-DE" dirty="0"/>
              <a:t>.</a:t>
            </a:r>
            <a:endParaRPr lang="en-AT" dirty="0"/>
          </a:p>
          <a:p>
            <a:pPr>
              <a:lnSpc>
                <a:spcPct val="150000"/>
              </a:lnSpc>
            </a:pPr>
            <a:r>
              <a:rPr lang="de-DE" dirty="0"/>
              <a:t>CI/CD Integration</a:t>
            </a:r>
            <a:endParaRPr lang="en-AT" dirty="0"/>
          </a:p>
          <a:p>
            <a:pPr lvl="1">
              <a:lnSpc>
                <a:spcPct val="150000"/>
              </a:lnSpc>
            </a:pPr>
            <a:r>
              <a:rPr lang="de-DE" dirty="0" err="1"/>
              <a:t>Automate</a:t>
            </a:r>
            <a:r>
              <a:rPr lang="de-DE" dirty="0"/>
              <a:t> </a:t>
            </a:r>
            <a:r>
              <a:rPr lang="de-DE" dirty="0" err="1"/>
              <a:t>deployment</a:t>
            </a:r>
            <a:r>
              <a:rPr lang="de-DE" dirty="0"/>
              <a:t> </a:t>
            </a:r>
            <a:r>
              <a:rPr lang="de-DE" dirty="0" err="1"/>
              <a:t>using</a:t>
            </a:r>
            <a:r>
              <a:rPr lang="de-DE" dirty="0"/>
              <a:t> GitHub Actions </a:t>
            </a:r>
            <a:r>
              <a:rPr lang="de-DE" dirty="0" err="1"/>
              <a:t>or</a:t>
            </a:r>
            <a:r>
              <a:rPr lang="de-DE" dirty="0"/>
              <a:t> Azure </a:t>
            </a:r>
            <a:r>
              <a:rPr lang="de-DE" dirty="0" err="1"/>
              <a:t>DevOps.Version</a:t>
            </a:r>
            <a:r>
              <a:rPr lang="de-DE" dirty="0"/>
              <a:t> </a:t>
            </a:r>
            <a:r>
              <a:rPr lang="de-DE" dirty="0" err="1"/>
              <a:t>control</a:t>
            </a:r>
            <a:r>
              <a:rPr lang="de-DE" dirty="0"/>
              <a:t> </a:t>
            </a:r>
            <a:r>
              <a:rPr lang="de-DE" dirty="0" err="1"/>
              <a:t>agent</a:t>
            </a:r>
            <a:r>
              <a:rPr lang="de-DE" dirty="0"/>
              <a:t> </a:t>
            </a:r>
            <a:r>
              <a:rPr lang="de-DE" dirty="0" err="1"/>
              <a:t>logic</a:t>
            </a:r>
            <a:r>
              <a:rPr lang="de-DE" dirty="0"/>
              <a:t> and </a:t>
            </a:r>
            <a:r>
              <a:rPr lang="de-DE" dirty="0" err="1"/>
              <a:t>assets</a:t>
            </a:r>
            <a:r>
              <a:rPr lang="de-DE" dirty="0"/>
              <a:t>.</a:t>
            </a:r>
            <a:endParaRPr lang="en-AT" dirty="0"/>
          </a:p>
          <a:p>
            <a:pPr>
              <a:lnSpc>
                <a:spcPct val="150000"/>
              </a:lnSpc>
            </a:pPr>
            <a:r>
              <a:rPr lang="de-DE" dirty="0"/>
              <a:t>Environment Management</a:t>
            </a:r>
            <a:endParaRPr lang="en-AT" dirty="0"/>
          </a:p>
          <a:p>
            <a:pPr lvl="1">
              <a:lnSpc>
                <a:spcPct val="150000"/>
              </a:lnSpc>
            </a:pPr>
            <a:r>
              <a:rPr lang="de-DE" dirty="0"/>
              <a:t>Deploy </a:t>
            </a:r>
            <a:r>
              <a:rPr lang="de-DE" dirty="0" err="1"/>
              <a:t>to</a:t>
            </a:r>
            <a:r>
              <a:rPr lang="de-DE" dirty="0"/>
              <a:t> </a:t>
            </a:r>
            <a:r>
              <a:rPr lang="de-DE" dirty="0" err="1"/>
              <a:t>staging</a:t>
            </a:r>
            <a:r>
              <a:rPr lang="de-DE" dirty="0"/>
              <a:t> </a:t>
            </a:r>
            <a:r>
              <a:rPr lang="de-DE" dirty="0" err="1"/>
              <a:t>before</a:t>
            </a:r>
            <a:r>
              <a:rPr lang="de-DE" dirty="0"/>
              <a:t> </a:t>
            </a:r>
            <a:r>
              <a:rPr lang="de-DE" dirty="0" err="1"/>
              <a:t>production.Manage</a:t>
            </a:r>
            <a:r>
              <a:rPr lang="de-DE" dirty="0"/>
              <a:t> </a:t>
            </a:r>
            <a:r>
              <a:rPr lang="de-DE" dirty="0" err="1"/>
              <a:t>secrets</a:t>
            </a:r>
            <a:r>
              <a:rPr lang="de-DE" dirty="0"/>
              <a:t> and </a:t>
            </a:r>
            <a:r>
              <a:rPr lang="de-DE" dirty="0" err="1"/>
              <a:t>environment</a:t>
            </a:r>
            <a:r>
              <a:rPr lang="de-DE" dirty="0"/>
              <a:t> variables </a:t>
            </a:r>
            <a:r>
              <a:rPr lang="de-DE" dirty="0" err="1"/>
              <a:t>securely</a:t>
            </a:r>
            <a:r>
              <a:rPr lang="de-DE" dirty="0"/>
              <a:t>.</a:t>
            </a:r>
            <a:endParaRPr lang="en-AT" dirty="0"/>
          </a:p>
        </p:txBody>
      </p:sp>
      <p:pic>
        <p:nvPicPr>
          <p:cNvPr id="6" name="Content Placeholder 5">
            <a:extLst>
              <a:ext uri="{FF2B5EF4-FFF2-40B4-BE49-F238E27FC236}">
                <a16:creationId xmlns:a16="http://schemas.microsoft.com/office/drawing/2014/main" id="{1251DFB2-7BE1-02E9-BED9-6110ADDE4613}"/>
              </a:ext>
            </a:extLst>
          </p:cNvPr>
          <p:cNvPicPr>
            <a:picLocks noGrp="1" noChangeAspect="1"/>
          </p:cNvPicPr>
          <p:nvPr>
            <p:ph sz="half" idx="2"/>
          </p:nvPr>
        </p:nvPicPr>
        <p:blipFill>
          <a:blip r:embed="rId2"/>
          <a:stretch>
            <a:fillRect/>
          </a:stretch>
        </p:blipFill>
        <p:spPr>
          <a:xfrm>
            <a:off x="6218238" y="1725871"/>
            <a:ext cx="5351462" cy="3838058"/>
          </a:xfrm>
          <a:prstGeom prst="rect">
            <a:avLst/>
          </a:prstGeom>
        </p:spPr>
      </p:pic>
    </p:spTree>
    <p:extLst>
      <p:ext uri="{BB962C8B-B14F-4D97-AF65-F5344CB8AC3E}">
        <p14:creationId xmlns:p14="http://schemas.microsoft.com/office/powerpoint/2010/main" val="2034661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7C8F9-770F-B2CC-D1BE-1F40C35E4267}"/>
              </a:ext>
            </a:extLst>
          </p:cNvPr>
          <p:cNvSpPr>
            <a:spLocks noGrp="1"/>
          </p:cNvSpPr>
          <p:nvPr>
            <p:ph type="title"/>
          </p:nvPr>
        </p:nvSpPr>
        <p:spPr/>
        <p:txBody>
          <a:bodyPr>
            <a:normAutofit fontScale="90000"/>
          </a:bodyPr>
          <a:lstStyle/>
          <a:p>
            <a:r>
              <a:rPr lang="en-AT" dirty="0"/>
              <a:t>Source Control Integration</a:t>
            </a:r>
          </a:p>
        </p:txBody>
      </p:sp>
      <p:sp>
        <p:nvSpPr>
          <p:cNvPr id="3" name="Content Placeholder 2">
            <a:extLst>
              <a:ext uri="{FF2B5EF4-FFF2-40B4-BE49-F238E27FC236}">
                <a16:creationId xmlns:a16="http://schemas.microsoft.com/office/drawing/2014/main" id="{33A54642-06C3-586E-774E-81CA5ECD74CD}"/>
              </a:ext>
            </a:extLst>
          </p:cNvPr>
          <p:cNvSpPr>
            <a:spLocks noGrp="1"/>
          </p:cNvSpPr>
          <p:nvPr>
            <p:ph sz="half" idx="1"/>
          </p:nvPr>
        </p:nvSpPr>
        <p:spPr/>
        <p:txBody>
          <a:bodyPr>
            <a:normAutofit fontScale="85000" lnSpcReduction="20000"/>
          </a:bodyPr>
          <a:lstStyle/>
          <a:p>
            <a:pPr>
              <a:lnSpc>
                <a:spcPct val="150000"/>
              </a:lnSpc>
            </a:pPr>
            <a:r>
              <a:rPr lang="de-DE" dirty="0"/>
              <a:t>Version-</a:t>
            </a:r>
            <a:r>
              <a:rPr lang="de-DE" dirty="0" err="1"/>
              <a:t>Controlled</a:t>
            </a:r>
            <a:r>
              <a:rPr lang="de-DE" dirty="0"/>
              <a:t> Development</a:t>
            </a:r>
            <a:endParaRPr lang="en-AT" dirty="0"/>
          </a:p>
          <a:p>
            <a:pPr lvl="1">
              <a:lnSpc>
                <a:spcPct val="150000"/>
              </a:lnSpc>
            </a:pPr>
            <a:r>
              <a:rPr lang="de-DE" dirty="0"/>
              <a:t>Store Copilot </a:t>
            </a:r>
            <a:r>
              <a:rPr lang="de-DE" dirty="0" err="1"/>
              <a:t>solution</a:t>
            </a:r>
            <a:r>
              <a:rPr lang="de-DE" dirty="0"/>
              <a:t> </a:t>
            </a:r>
            <a:r>
              <a:rPr lang="de-DE" dirty="0" err="1"/>
              <a:t>assets</a:t>
            </a:r>
            <a:r>
              <a:rPr lang="de-DE" dirty="0"/>
              <a:t> in </a:t>
            </a:r>
            <a:r>
              <a:rPr lang="de-DE" dirty="0" err="1"/>
              <a:t>Git</a:t>
            </a:r>
            <a:r>
              <a:rPr lang="de-DE" dirty="0"/>
              <a:t> </a:t>
            </a:r>
            <a:r>
              <a:rPr lang="de-DE" dirty="0" err="1"/>
              <a:t>repositories</a:t>
            </a:r>
            <a:r>
              <a:rPr lang="de-DE" dirty="0"/>
              <a:t>.</a:t>
            </a:r>
            <a:endParaRPr lang="en-AT" dirty="0"/>
          </a:p>
          <a:p>
            <a:pPr lvl="1">
              <a:lnSpc>
                <a:spcPct val="150000"/>
              </a:lnSpc>
            </a:pPr>
            <a:r>
              <a:rPr lang="de-DE" dirty="0" err="1"/>
              <a:t>Enable</a:t>
            </a:r>
            <a:r>
              <a:rPr lang="de-DE" dirty="0"/>
              <a:t> </a:t>
            </a:r>
            <a:r>
              <a:rPr lang="de-DE" dirty="0" err="1"/>
              <a:t>collaboration</a:t>
            </a:r>
            <a:r>
              <a:rPr lang="de-DE" dirty="0"/>
              <a:t>, </a:t>
            </a:r>
            <a:r>
              <a:rPr lang="de-DE" dirty="0" err="1"/>
              <a:t>change</a:t>
            </a:r>
            <a:r>
              <a:rPr lang="de-DE" dirty="0"/>
              <a:t> </a:t>
            </a:r>
            <a:r>
              <a:rPr lang="de-DE" dirty="0" err="1"/>
              <a:t>tracking</a:t>
            </a:r>
            <a:r>
              <a:rPr lang="de-DE" dirty="0"/>
              <a:t>, and </a:t>
            </a:r>
            <a:r>
              <a:rPr lang="de-DE" dirty="0" err="1"/>
              <a:t>rollback</a:t>
            </a:r>
            <a:endParaRPr lang="en-AT" dirty="0"/>
          </a:p>
          <a:p>
            <a:pPr>
              <a:lnSpc>
                <a:spcPct val="150000"/>
              </a:lnSpc>
            </a:pPr>
            <a:r>
              <a:rPr lang="de-DE" dirty="0"/>
              <a:t>Connection </a:t>
            </a:r>
            <a:r>
              <a:rPr lang="de-DE" dirty="0" err="1"/>
              <a:t>Types</a:t>
            </a:r>
            <a:endParaRPr lang="en-AT" dirty="0"/>
          </a:p>
          <a:p>
            <a:pPr lvl="1">
              <a:lnSpc>
                <a:spcPct val="150000"/>
              </a:lnSpc>
            </a:pPr>
            <a:r>
              <a:rPr lang="de-DE" dirty="0"/>
              <a:t>Environment</a:t>
            </a:r>
            <a:r>
              <a:rPr lang="en-AT" dirty="0"/>
              <a:t> vs Solution</a:t>
            </a:r>
            <a:r>
              <a:rPr lang="de-DE" dirty="0"/>
              <a:t> Connection</a:t>
            </a:r>
            <a:endParaRPr lang="en-AT" dirty="0"/>
          </a:p>
          <a:p>
            <a:pPr>
              <a:lnSpc>
                <a:spcPct val="150000"/>
              </a:lnSpc>
            </a:pPr>
            <a:r>
              <a:rPr lang="de-DE" dirty="0"/>
              <a:t>CI/CD Integration</a:t>
            </a:r>
            <a:endParaRPr lang="en-AT" dirty="0"/>
          </a:p>
          <a:p>
            <a:pPr lvl="1">
              <a:lnSpc>
                <a:spcPct val="150000"/>
              </a:lnSpc>
            </a:pPr>
            <a:r>
              <a:rPr lang="de-DE" dirty="0"/>
              <a:t>Use GitHub Actions </a:t>
            </a:r>
            <a:r>
              <a:rPr lang="de-DE" dirty="0" err="1"/>
              <a:t>or</a:t>
            </a:r>
            <a:r>
              <a:rPr lang="de-DE" dirty="0"/>
              <a:t> Azure </a:t>
            </a:r>
            <a:r>
              <a:rPr lang="de-DE" dirty="0" err="1"/>
              <a:t>DevOps</a:t>
            </a:r>
            <a:r>
              <a:rPr lang="de-DE" dirty="0"/>
              <a:t> </a:t>
            </a:r>
            <a:r>
              <a:rPr lang="de-DE" dirty="0" err="1"/>
              <a:t>to</a:t>
            </a:r>
            <a:r>
              <a:rPr lang="de-DE" dirty="0"/>
              <a:t> </a:t>
            </a:r>
            <a:r>
              <a:rPr lang="de-DE" dirty="0" err="1"/>
              <a:t>automate</a:t>
            </a:r>
            <a:r>
              <a:rPr lang="de-DE" dirty="0"/>
              <a:t> </a:t>
            </a:r>
            <a:r>
              <a:rPr lang="de-DE" dirty="0" err="1"/>
              <a:t>validation</a:t>
            </a:r>
            <a:r>
              <a:rPr lang="de-DE" dirty="0"/>
              <a:t> and </a:t>
            </a:r>
            <a:r>
              <a:rPr lang="de-DE" dirty="0" err="1"/>
              <a:t>deployment</a:t>
            </a:r>
            <a:r>
              <a:rPr lang="de-DE" dirty="0"/>
              <a:t>.</a:t>
            </a:r>
            <a:endParaRPr lang="en-AT" dirty="0"/>
          </a:p>
          <a:p>
            <a:pPr lvl="1">
              <a:lnSpc>
                <a:spcPct val="150000"/>
              </a:lnSpc>
            </a:pPr>
            <a:r>
              <a:rPr lang="de-DE" dirty="0"/>
              <a:t>Trigger </a:t>
            </a:r>
            <a:r>
              <a:rPr lang="de-DE" dirty="0" err="1"/>
              <a:t>builds</a:t>
            </a:r>
            <a:r>
              <a:rPr lang="de-DE" dirty="0"/>
              <a:t> and </a:t>
            </a:r>
            <a:r>
              <a:rPr lang="de-DE" dirty="0" err="1"/>
              <a:t>deployments</a:t>
            </a:r>
            <a:r>
              <a:rPr lang="de-DE" dirty="0"/>
              <a:t> on </a:t>
            </a:r>
            <a:r>
              <a:rPr lang="de-DE" dirty="0" err="1"/>
              <a:t>commit</a:t>
            </a:r>
            <a:r>
              <a:rPr lang="de-DE" dirty="0"/>
              <a:t> </a:t>
            </a:r>
            <a:r>
              <a:rPr lang="de-DE" dirty="0" err="1"/>
              <a:t>or</a:t>
            </a:r>
            <a:r>
              <a:rPr lang="de-DE" dirty="0"/>
              <a:t> pull </a:t>
            </a:r>
            <a:r>
              <a:rPr lang="de-DE" dirty="0" err="1"/>
              <a:t>request</a:t>
            </a:r>
            <a:r>
              <a:rPr lang="de-DE" dirty="0"/>
              <a:t> </a:t>
            </a:r>
            <a:r>
              <a:rPr lang="de-DE" dirty="0" err="1"/>
              <a:t>merge</a:t>
            </a:r>
            <a:r>
              <a:rPr lang="de-DE" dirty="0"/>
              <a:t>.</a:t>
            </a:r>
            <a:endParaRPr lang="en-AT" dirty="0"/>
          </a:p>
          <a:p>
            <a:pPr>
              <a:lnSpc>
                <a:spcPct val="150000"/>
              </a:lnSpc>
            </a:pPr>
            <a:r>
              <a:rPr lang="de-DE" dirty="0" err="1"/>
              <a:t>Governance</a:t>
            </a:r>
            <a:r>
              <a:rPr lang="de-DE" dirty="0"/>
              <a:t> &amp; Review</a:t>
            </a:r>
            <a:endParaRPr lang="en-AT" dirty="0"/>
          </a:p>
          <a:p>
            <a:pPr lvl="1">
              <a:lnSpc>
                <a:spcPct val="150000"/>
              </a:lnSpc>
            </a:pPr>
            <a:r>
              <a:rPr lang="de-DE" dirty="0" err="1"/>
              <a:t>Enforce</a:t>
            </a:r>
            <a:r>
              <a:rPr lang="de-DE" dirty="0"/>
              <a:t> pull </a:t>
            </a:r>
            <a:r>
              <a:rPr lang="de-DE" dirty="0" err="1"/>
              <a:t>request</a:t>
            </a:r>
            <a:r>
              <a:rPr lang="de-DE" dirty="0"/>
              <a:t> </a:t>
            </a:r>
            <a:r>
              <a:rPr lang="de-DE" dirty="0" err="1"/>
              <a:t>approvals</a:t>
            </a:r>
            <a:r>
              <a:rPr lang="de-DE" dirty="0"/>
              <a:t> and </a:t>
            </a:r>
            <a:r>
              <a:rPr lang="de-DE" dirty="0" err="1"/>
              <a:t>branch</a:t>
            </a:r>
            <a:r>
              <a:rPr lang="de-DE" dirty="0"/>
              <a:t> </a:t>
            </a:r>
            <a:r>
              <a:rPr lang="de-DE" dirty="0" err="1"/>
              <a:t>protection</a:t>
            </a:r>
            <a:r>
              <a:rPr lang="de-DE" dirty="0"/>
              <a:t> </a:t>
            </a:r>
            <a:r>
              <a:rPr lang="de-DE" dirty="0" err="1"/>
              <a:t>rules</a:t>
            </a:r>
            <a:r>
              <a:rPr lang="de-DE" dirty="0"/>
              <a:t>.</a:t>
            </a:r>
            <a:endParaRPr lang="en-AT" dirty="0"/>
          </a:p>
        </p:txBody>
      </p:sp>
      <p:pic>
        <p:nvPicPr>
          <p:cNvPr id="6" name="Content Placeholder 5">
            <a:extLst>
              <a:ext uri="{FF2B5EF4-FFF2-40B4-BE49-F238E27FC236}">
                <a16:creationId xmlns:a16="http://schemas.microsoft.com/office/drawing/2014/main" id="{49B00904-D9A2-9F7A-8339-7EB44151F3D7}"/>
              </a:ext>
            </a:extLst>
          </p:cNvPr>
          <p:cNvPicPr>
            <a:picLocks noGrp="1" noChangeAspect="1"/>
          </p:cNvPicPr>
          <p:nvPr>
            <p:ph sz="half" idx="2"/>
          </p:nvPr>
        </p:nvPicPr>
        <p:blipFill>
          <a:blip r:embed="rId2"/>
          <a:stretch>
            <a:fillRect/>
          </a:stretch>
        </p:blipFill>
        <p:spPr>
          <a:xfrm>
            <a:off x="6218238" y="2284667"/>
            <a:ext cx="5351462" cy="2720466"/>
          </a:xfrm>
          <a:prstGeom prst="rect">
            <a:avLst/>
          </a:prstGeom>
        </p:spPr>
      </p:pic>
    </p:spTree>
    <p:extLst>
      <p:ext uri="{BB962C8B-B14F-4D97-AF65-F5344CB8AC3E}">
        <p14:creationId xmlns:p14="http://schemas.microsoft.com/office/powerpoint/2010/main" val="4061422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4FC0-75E6-C4EC-DD5C-C46A1A4E79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F7DB32-0446-7263-5CCC-A341AAFD9F50}"/>
              </a:ext>
            </a:extLst>
          </p:cNvPr>
          <p:cNvSpPr>
            <a:spLocks noGrp="1"/>
          </p:cNvSpPr>
          <p:nvPr>
            <p:ph type="title"/>
          </p:nvPr>
        </p:nvSpPr>
        <p:spPr>
          <a:xfrm>
            <a:off x="681162" y="759826"/>
            <a:ext cx="10829676" cy="3443537"/>
          </a:xfrm>
        </p:spPr>
        <p:txBody>
          <a:bodyPr>
            <a:normAutofit/>
          </a:bodyPr>
          <a:lstStyle/>
          <a:p>
            <a:r>
              <a:rPr lang="en-US"/>
              <a:t>Using Analytics And Insights</a:t>
            </a:r>
          </a:p>
        </p:txBody>
      </p:sp>
      <p:sp>
        <p:nvSpPr>
          <p:cNvPr id="3" name="Text Placeholder 2">
            <a:extLst>
              <a:ext uri="{FF2B5EF4-FFF2-40B4-BE49-F238E27FC236}">
                <a16:creationId xmlns:a16="http://schemas.microsoft.com/office/drawing/2014/main" id="{27E79110-9965-09EF-5B96-DD98516DAD85}"/>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1134485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B51C2-E292-25EA-6BA3-E298166164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C5C5E0-3C73-52BD-34AE-C86CBADE4EFA}"/>
              </a:ext>
            </a:extLst>
          </p:cNvPr>
          <p:cNvSpPr>
            <a:spLocks noGrp="1"/>
          </p:cNvSpPr>
          <p:nvPr>
            <p:ph idx="1"/>
          </p:nvPr>
        </p:nvSpPr>
        <p:spPr/>
        <p:txBody>
          <a:bodyPr>
            <a:normAutofit lnSpcReduction="10000"/>
          </a:bodyPr>
          <a:lstStyle/>
          <a:p>
            <a:r>
              <a:rPr lang="en-US" b="1" dirty="0"/>
              <a:t>Summary charts</a:t>
            </a:r>
            <a:endParaRPr lang="en-AT" b="1" dirty="0"/>
          </a:p>
          <a:p>
            <a:pPr lvl="1"/>
            <a:r>
              <a:rPr lang="en-US" dirty="0"/>
              <a:t>Provide summary details, </a:t>
            </a:r>
            <a:r>
              <a:rPr lang="en-AT" dirty="0"/>
              <a:t>like</a:t>
            </a:r>
            <a:r>
              <a:rPr lang="en-US" dirty="0"/>
              <a:t> the total number of sessions, resolution rates, outcomes, </a:t>
            </a:r>
            <a:r>
              <a:rPr lang="en-AT" dirty="0"/>
              <a:t>...</a:t>
            </a:r>
            <a:endParaRPr lang="en-US" dirty="0"/>
          </a:p>
          <a:p>
            <a:r>
              <a:rPr lang="en-US" b="1" dirty="0"/>
              <a:t>Engagement over time chart</a:t>
            </a:r>
            <a:endParaRPr lang="en-AT" b="1" dirty="0"/>
          </a:p>
          <a:p>
            <a:pPr lvl="1"/>
            <a:r>
              <a:rPr lang="en-AT" dirty="0"/>
              <a:t>O</a:t>
            </a:r>
            <a:r>
              <a:rPr lang="en-US" dirty="0" err="1"/>
              <a:t>bserve</a:t>
            </a:r>
            <a:r>
              <a:rPr lang="en-US" dirty="0"/>
              <a:t> how your users are engaging with your agents over a specific period.</a:t>
            </a:r>
          </a:p>
          <a:p>
            <a:r>
              <a:rPr lang="en-US" b="1" dirty="0"/>
              <a:t>Session outcomes over time chart</a:t>
            </a:r>
            <a:endParaRPr lang="en-AT" b="1" dirty="0"/>
          </a:p>
          <a:p>
            <a:pPr lvl="1"/>
            <a:r>
              <a:rPr lang="en-US" dirty="0"/>
              <a:t>Provides percentages on how many sessions are being Resolved, Escalated, or Abandoned.</a:t>
            </a:r>
          </a:p>
          <a:p>
            <a:r>
              <a:rPr lang="en-US" b="1" dirty="0"/>
              <a:t>Resolution rate driver chart</a:t>
            </a:r>
            <a:endParaRPr lang="en-AT" b="1" dirty="0"/>
          </a:p>
          <a:p>
            <a:pPr lvl="1"/>
            <a:r>
              <a:rPr lang="en-AT" dirty="0"/>
              <a:t>L</a:t>
            </a:r>
            <a:r>
              <a:rPr lang="en-US" dirty="0" err="1"/>
              <a:t>ists</a:t>
            </a:r>
            <a:r>
              <a:rPr lang="en-US" dirty="0"/>
              <a:t> each topic and provides a resolution rate for it. </a:t>
            </a:r>
          </a:p>
          <a:p>
            <a:r>
              <a:rPr lang="en-US" b="1" dirty="0"/>
              <a:t>Escalation rate driver chart</a:t>
            </a:r>
            <a:endParaRPr lang="en-AT" b="1" dirty="0"/>
          </a:p>
          <a:p>
            <a:pPr lvl="1"/>
            <a:r>
              <a:rPr lang="en-US" dirty="0"/>
              <a:t>Provides details that are related to sessions that have been escalated to a live agent. </a:t>
            </a:r>
            <a:endParaRPr lang="en-AT" dirty="0"/>
          </a:p>
          <a:p>
            <a:r>
              <a:rPr lang="en-US" b="1" dirty="0"/>
              <a:t>Abandon rate driver chart</a:t>
            </a:r>
            <a:endParaRPr lang="en-AT" b="1" dirty="0"/>
          </a:p>
          <a:p>
            <a:pPr lvl="1"/>
            <a:r>
              <a:rPr lang="en-US" dirty="0"/>
              <a:t>Provides details that are related to abandoned sessions. </a:t>
            </a:r>
          </a:p>
        </p:txBody>
      </p:sp>
      <p:sp>
        <p:nvSpPr>
          <p:cNvPr id="3" name="Title 2">
            <a:extLst>
              <a:ext uri="{FF2B5EF4-FFF2-40B4-BE49-F238E27FC236}">
                <a16:creationId xmlns:a16="http://schemas.microsoft.com/office/drawing/2014/main" id="{602A44AC-3D8D-A65B-6529-F1F3CC8CFE62}"/>
              </a:ext>
            </a:extLst>
          </p:cNvPr>
          <p:cNvSpPr>
            <a:spLocks noGrp="1"/>
          </p:cNvSpPr>
          <p:nvPr>
            <p:ph type="title"/>
          </p:nvPr>
        </p:nvSpPr>
        <p:spPr/>
        <p:txBody>
          <a:bodyPr>
            <a:normAutofit/>
          </a:bodyPr>
          <a:lstStyle/>
          <a:p>
            <a:r>
              <a:rPr lang="en-AT" dirty="0"/>
              <a:t>Several Analytics </a:t>
            </a:r>
            <a:r>
              <a:rPr lang="en-AT" dirty="0" err="1"/>
              <a:t>Informations</a:t>
            </a:r>
            <a:endParaRPr lang="en-AT" dirty="0"/>
          </a:p>
        </p:txBody>
      </p:sp>
    </p:spTree>
    <p:extLst>
      <p:ext uri="{BB962C8B-B14F-4D97-AF65-F5344CB8AC3E}">
        <p14:creationId xmlns:p14="http://schemas.microsoft.com/office/powerpoint/2010/main" val="1204848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2D686-547C-2529-ECE9-22A1A5A815A8}"/>
            </a:ext>
          </a:extLst>
        </p:cNvPr>
        <p:cNvGrpSpPr/>
        <p:nvPr/>
      </p:nvGrpSpPr>
      <p:grpSpPr>
        <a:xfrm>
          <a:off x="0" y="0"/>
          <a:ext cx="0" cy="0"/>
          <a:chOff x="0" y="0"/>
          <a:chExt cx="0" cy="0"/>
        </a:xfrm>
      </p:grpSpPr>
      <p:sp>
        <p:nvSpPr>
          <p:cNvPr id="18" name="Title 4">
            <a:extLst>
              <a:ext uri="{FF2B5EF4-FFF2-40B4-BE49-F238E27FC236}">
                <a16:creationId xmlns:a16="http://schemas.microsoft.com/office/drawing/2014/main" id="{29792709-B4B2-85AE-4D3E-99B5E3DB5872}"/>
              </a:ext>
            </a:extLst>
          </p:cNvPr>
          <p:cNvSpPr>
            <a:spLocks noGrp="1"/>
          </p:cNvSpPr>
          <p:nvPr>
            <p:ph type="title"/>
          </p:nvPr>
        </p:nvSpPr>
        <p:spPr>
          <a:xfrm>
            <a:off x="307650" y="285527"/>
            <a:ext cx="11298564" cy="725711"/>
          </a:xfrm>
        </p:spPr>
        <p:txBody>
          <a:bodyPr wrap="square">
            <a:spAutoFit/>
          </a:bodyPr>
          <a:lstStyle/>
          <a:p>
            <a:pPr lvl="0"/>
            <a:r>
              <a:rPr lang="en-US" dirty="0">
                <a:cs typeface="Segoe UI"/>
              </a:rPr>
              <a:t>Analytics &amp; Insights </a:t>
            </a:r>
            <a:endParaRPr lang="en-US" dirty="0"/>
          </a:p>
        </p:txBody>
      </p:sp>
      <p:sp>
        <p:nvSpPr>
          <p:cNvPr id="2" name="TextBox 1">
            <a:extLst>
              <a:ext uri="{FF2B5EF4-FFF2-40B4-BE49-F238E27FC236}">
                <a16:creationId xmlns:a16="http://schemas.microsoft.com/office/drawing/2014/main" id="{E6B8C8CD-7ED3-7960-C327-1A76CF0DC5DB}"/>
              </a:ext>
            </a:extLst>
          </p:cNvPr>
          <p:cNvSpPr txBox="1"/>
          <p:nvPr/>
        </p:nvSpPr>
        <p:spPr>
          <a:xfrm>
            <a:off x="588963" y="1436688"/>
            <a:ext cx="3383280" cy="707886"/>
          </a:xfrm>
          <a:prstGeom prst="rect">
            <a:avLst/>
          </a:prstGeom>
          <a:noFill/>
        </p:spPr>
        <p:txBody>
          <a:bodyPr wrap="square" lIns="0" tIns="45720" rIns="0" bIns="45720" anchor="t">
            <a:spAutoFit/>
          </a:bodyPr>
          <a:lstStyle/>
          <a:p>
            <a:pPr lvl="0" defTabSz="914400">
              <a:defRPr/>
            </a:pPr>
            <a:r>
              <a:rPr lang="en-US" sz="2000" b="1" dirty="0">
                <a:ln w="3175">
                  <a:noFill/>
                </a:ln>
                <a:gradFill>
                  <a:gsLst>
                    <a:gs pos="80000">
                      <a:srgbClr val="0A6BBA"/>
                    </a:gs>
                    <a:gs pos="0">
                      <a:srgbClr val="7656AD"/>
                    </a:gs>
                  </a:gsLst>
                  <a:path path="circle">
                    <a:fillToRect l="100000" t="100000"/>
                  </a:path>
                </a:gradFill>
                <a:latin typeface="+mj-lt"/>
                <a:cs typeface="Segoe UI" panose="020B0502040204020203" pitchFamily="34" charset="0"/>
              </a:rPr>
              <a:t>Gain visibility into how your autonomous agents perform</a:t>
            </a:r>
          </a:p>
        </p:txBody>
      </p:sp>
      <p:sp>
        <p:nvSpPr>
          <p:cNvPr id="7" name="TextBox 6">
            <a:extLst>
              <a:ext uri="{FF2B5EF4-FFF2-40B4-BE49-F238E27FC236}">
                <a16:creationId xmlns:a16="http://schemas.microsoft.com/office/drawing/2014/main" id="{EFAB0C50-88CB-8E82-1DE4-A938286D3BF6}"/>
              </a:ext>
            </a:extLst>
          </p:cNvPr>
          <p:cNvSpPr txBox="1"/>
          <p:nvPr/>
        </p:nvSpPr>
        <p:spPr>
          <a:xfrm>
            <a:off x="585786" y="2410747"/>
            <a:ext cx="3521393" cy="3416320"/>
          </a:xfrm>
          <a:prstGeom prst="rect">
            <a:avLst/>
          </a:prstGeom>
          <a:noFill/>
        </p:spPr>
        <p:txBody>
          <a:bodyPr wrap="square" lIns="0" tIns="0" rIns="0" bIns="0" rtlCol="0" anchor="t">
            <a:spAutoFit/>
          </a:bodyPr>
          <a:lstStyle/>
          <a:p>
            <a:pPr defTabSz="914400">
              <a:spcBef>
                <a:spcPts val="600"/>
              </a:spcBef>
              <a:buClr>
                <a:schemeClr val="tx1"/>
              </a:buClr>
              <a:defRPr/>
            </a:pPr>
            <a:r>
              <a:rPr lang="en-US" sz="1600" b="1" dirty="0">
                <a:latin typeface="+mj-lt"/>
                <a:cs typeface="Segoe UI" panose="020B0502040204020203" pitchFamily="34" charset="0"/>
              </a:rPr>
              <a:t>Top KPIs</a:t>
            </a:r>
            <a:endParaRPr lang="en-US" sz="1600" dirty="0">
              <a:latin typeface="+mj-lt"/>
              <a:cs typeface="Segoe UI" panose="020B0502040204020203" pitchFamily="34" charset="0"/>
            </a:endParaRPr>
          </a:p>
          <a:p>
            <a:pPr marL="285750" indent="-285750" defTabSz="914400">
              <a:spcBef>
                <a:spcPts val="6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Total runs</a:t>
            </a:r>
            <a:r>
              <a:rPr lang="en-US" sz="1400" b="1" dirty="0">
                <a:solidFill>
                  <a:srgbClr val="0A6BBA"/>
                </a:solidFill>
                <a:latin typeface="Segoe UI Semibold" panose="020B0502040204020203" pitchFamily="34" charset="0"/>
                <a:cs typeface="Segoe UI Semibold" panose="020B0502040204020203" pitchFamily="34" charset="0"/>
              </a:rPr>
              <a:t> </a:t>
            </a:r>
            <a:r>
              <a:rPr lang="en-US" sz="1400" dirty="0">
                <a:latin typeface="Segoe UI" panose="020B0502040204020203" pitchFamily="34" charset="0"/>
                <a:cs typeface="Segoe UI" panose="020B0502040204020203" pitchFamily="34" charset="0"/>
              </a:rPr>
              <a:t>for the report period</a:t>
            </a:r>
          </a:p>
          <a:p>
            <a:pPr marL="285750" indent="-285750" defTabSz="914400">
              <a:spcBef>
                <a:spcPts val="4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Breakdown</a:t>
            </a:r>
            <a:r>
              <a:rPr lang="en-US" sz="1400" b="1" dirty="0">
                <a:latin typeface="Segoe UI" panose="020B0502040204020203" pitchFamily="34" charset="0"/>
                <a:cs typeface="Segoe UI" panose="020B0502040204020203" pitchFamily="34" charset="0"/>
              </a:rPr>
              <a:t> </a:t>
            </a:r>
            <a:r>
              <a:rPr lang="en-US" sz="1400" dirty="0">
                <a:latin typeface="Segoe UI" panose="020B0502040204020203" pitchFamily="34" charset="0"/>
                <a:cs typeface="Segoe UI" panose="020B0502040204020203" pitchFamily="34" charset="0"/>
              </a:rPr>
              <a:t>by successful &amp; failed runs</a:t>
            </a:r>
          </a:p>
          <a:p>
            <a:pPr marL="285750" indent="-285750" defTabSz="914400">
              <a:spcBef>
                <a:spcPts val="4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Trend analysis </a:t>
            </a:r>
            <a:r>
              <a:rPr lang="en-US" sz="1400" dirty="0">
                <a:latin typeface="Segoe UI" panose="020B0502040204020203" pitchFamily="34" charset="0"/>
                <a:cs typeface="Segoe UI" panose="020B0502040204020203" pitchFamily="34" charset="0"/>
              </a:rPr>
              <a:t>over-time to easily identify areas that require close attention</a:t>
            </a:r>
          </a:p>
          <a:p>
            <a:pPr marL="285750" indent="-285750" defTabSz="914400">
              <a:spcBef>
                <a:spcPts val="400"/>
              </a:spcBef>
              <a:buClr>
                <a:srgbClr val="0A6BBA"/>
              </a:buClr>
              <a:buFont typeface="Arial" panose="020B0604020202020204" pitchFamily="34" charset="0"/>
              <a:buChar char="•"/>
              <a:defRPr/>
            </a:pPr>
            <a:r>
              <a:rPr lang="en-US" sz="1400" b="1" dirty="0">
                <a:gradFill>
                  <a:gsLst>
                    <a:gs pos="80000">
                      <a:srgbClr val="0A6BBA"/>
                    </a:gs>
                    <a:gs pos="0">
                      <a:srgbClr val="7656AD"/>
                    </a:gs>
                  </a:gsLst>
                  <a:path path="circle">
                    <a:fillToRect l="100000" t="100000"/>
                  </a:path>
                </a:gradFill>
                <a:latin typeface="Segoe UI Semibold" panose="020B0502040204020203" pitchFamily="34" charset="0"/>
                <a:cs typeface="Segoe UI Semibold" panose="020B0502040204020203" pitchFamily="34" charset="0"/>
              </a:rPr>
              <a:t>Average</a:t>
            </a:r>
            <a:r>
              <a:rPr lang="en-US" sz="1400" b="1" dirty="0">
                <a:latin typeface="Segoe UI" panose="020B0502040204020203" pitchFamily="34" charset="0"/>
                <a:cs typeface="Segoe UI" panose="020B0502040204020203" pitchFamily="34" charset="0"/>
              </a:rPr>
              <a:t> </a:t>
            </a:r>
            <a:r>
              <a:rPr lang="en-US" sz="1400" dirty="0">
                <a:latin typeface="Segoe UI" panose="020B0502040204020203" pitchFamily="34" charset="0"/>
                <a:cs typeface="Segoe UI" panose="020B0502040204020203" pitchFamily="34" charset="0"/>
              </a:rPr>
              <a:t>run duration</a:t>
            </a:r>
          </a:p>
          <a:p>
            <a:pPr defTabSz="914400">
              <a:spcBef>
                <a:spcPts val="1800"/>
              </a:spcBef>
              <a:buClr>
                <a:schemeClr val="tx1"/>
              </a:buClr>
              <a:defRPr/>
            </a:pPr>
            <a:r>
              <a:rPr lang="en-US" sz="1600" b="1" dirty="0">
                <a:latin typeface="+mj-lt"/>
                <a:cs typeface="Segoe UI" panose="020B0502040204020203" pitchFamily="34" charset="0"/>
              </a:rPr>
              <a:t>Consumption analysis</a:t>
            </a:r>
          </a:p>
          <a:p>
            <a:pPr marL="285750" indent="-285750" defTabSz="914400">
              <a:spcBef>
                <a:spcPts val="600"/>
              </a:spcBef>
              <a:buClr>
                <a:srgbClr val="0A6BBA"/>
              </a:buClr>
              <a:buFont typeface="Arial" panose="020B0604020202020204" pitchFamily="34" charset="0"/>
              <a:buChar char="•"/>
              <a:defRPr/>
            </a:pPr>
            <a:r>
              <a:rPr lang="en-US" sz="1400" dirty="0">
                <a:latin typeface="Segoe UI" panose="020B0502040204020203" pitchFamily="34" charset="0"/>
                <a:cs typeface="Segoe UI" panose="020B0502040204020203" pitchFamily="34" charset="0"/>
              </a:rPr>
              <a:t>Understand costs related to your agent in a detailed billing consumption report.</a:t>
            </a:r>
          </a:p>
          <a:p>
            <a:pPr marL="285750" indent="-285750" defTabSz="914400">
              <a:spcBef>
                <a:spcPts val="600"/>
              </a:spcBef>
              <a:buClr>
                <a:srgbClr val="0A6BBA"/>
              </a:buClr>
              <a:buFont typeface="Arial" panose="020B0604020202020204" pitchFamily="34" charset="0"/>
              <a:buChar char="•"/>
              <a:defRPr/>
            </a:pPr>
            <a:r>
              <a:rPr lang="en-US" sz="1400" dirty="0">
                <a:latin typeface="Segoe UI" panose="020B0502040204020203" pitchFamily="34" charset="0"/>
                <a:cs typeface="Segoe UI" panose="020B0502040204020203" pitchFamily="34" charset="0"/>
              </a:rPr>
              <a:t>Message consumption over time.</a:t>
            </a:r>
          </a:p>
          <a:p>
            <a:pPr marL="285750" indent="-285750" defTabSz="914400">
              <a:spcBef>
                <a:spcPts val="600"/>
              </a:spcBef>
              <a:buClr>
                <a:srgbClr val="0A6BBA"/>
              </a:buClr>
              <a:buFont typeface="Arial" panose="020B0604020202020204" pitchFamily="34" charset="0"/>
              <a:buChar char="•"/>
              <a:defRPr/>
            </a:pPr>
            <a:r>
              <a:rPr lang="en-US" sz="1400" dirty="0">
                <a:latin typeface="Segoe UI" panose="020B0502040204020203" pitchFamily="34" charset="0"/>
                <a:cs typeface="Segoe UI" panose="020B0502040204020203" pitchFamily="34" charset="0"/>
              </a:rPr>
              <a:t>Breakdown between type of events.</a:t>
            </a:r>
          </a:p>
          <a:p>
            <a:pPr marR="0" lvl="0" algn="l" defTabSz="914400" rtl="0" eaLnBrk="1" fontAlgn="auto" latinLnBrk="0" hangingPunct="1">
              <a:spcBef>
                <a:spcPts val="600"/>
              </a:spcBef>
              <a:spcAft>
                <a:spcPts val="0"/>
              </a:spcAft>
              <a:buClr>
                <a:schemeClr val="tx1"/>
              </a:buClr>
              <a:buSzTx/>
              <a:tabLst/>
              <a:defRPr/>
            </a:pPr>
            <a:endParaRPr kumimoji="0" lang="en-US" sz="1400" b="0" i="0" u="none" strike="noStrike" kern="0" cap="none" spc="0" normalizeH="0" baseline="0" noProof="0" dirty="0">
              <a:ln>
                <a:noFill/>
              </a:ln>
              <a:effectLst/>
              <a:uLnTx/>
              <a:uFillTx/>
              <a:latin typeface="Segoe UI" panose="020B0502040204020203" pitchFamily="34" charset="0"/>
              <a:ea typeface="+mn-lt"/>
              <a:cs typeface="Segoe UI" panose="020B0502040204020203" pitchFamily="34" charset="0"/>
            </a:endParaRPr>
          </a:p>
        </p:txBody>
      </p:sp>
      <p:sp>
        <p:nvSpPr>
          <p:cNvPr id="6" name="TextBox 5">
            <a:extLst>
              <a:ext uri="{FF2B5EF4-FFF2-40B4-BE49-F238E27FC236}">
                <a16:creationId xmlns:a16="http://schemas.microsoft.com/office/drawing/2014/main" id="{72AF60B1-9822-6A15-559E-1896EA50CD6B}"/>
              </a:ext>
              <a:ext uri="{C183D7F6-B498-43B3-948B-1728B52AA6E4}">
                <adec:decorative xmlns:adec="http://schemas.microsoft.com/office/drawing/2017/decorative" val="1"/>
              </a:ext>
            </a:extLst>
          </p:cNvPr>
          <p:cNvSpPr txBox="1"/>
          <p:nvPr/>
        </p:nvSpPr>
        <p:spPr>
          <a:xfrm>
            <a:off x="4546570" y="1623701"/>
            <a:ext cx="6793699" cy="4434198"/>
          </a:xfrm>
          <a:prstGeom prst="roundRect">
            <a:avLst>
              <a:gd name="adj" fmla="val 7196"/>
            </a:avLst>
          </a:prstGeom>
          <a:solidFill>
            <a:srgbClr val="194449">
              <a:alpha val="10000"/>
            </a:srgbClr>
          </a:solidFill>
          <a:ln w="19050" cap="rnd">
            <a:gradFill flip="none" rotWithShape="1">
              <a:gsLst>
                <a:gs pos="0">
                  <a:srgbClr val="7656AD"/>
                </a:gs>
                <a:gs pos="80000">
                  <a:srgbClr val="0A6BBA"/>
                </a:gs>
              </a:gsLst>
              <a:lin ang="10800000" scaled="1"/>
              <a:tileRect/>
            </a:gra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algn="ctr" defTabSz="932472" fontAlgn="base">
              <a:spcBef>
                <a:spcPct val="0"/>
              </a:spcBef>
              <a:spcAft>
                <a:spcPct val="0"/>
              </a:spcAft>
              <a:defRPr sz="1600" spc="-20">
                <a:ln w="3175">
                  <a:noFill/>
                </a:ln>
                <a:gradFill>
                  <a:gsLst>
                    <a:gs pos="0">
                      <a:srgbClr val="0078D4"/>
                    </a:gs>
                    <a:gs pos="80000">
                      <a:srgbClr val="399A91"/>
                    </a:gs>
                  </a:gsLst>
                  <a:path path="circle">
                    <a:fillToRect l="100000" t="100000"/>
                  </a:path>
                </a:gradFill>
                <a:latin typeface="Segoe UI Semibold"/>
                <a:cs typeface="Segoe UI" panose="020B0502040204020203"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pic>
        <p:nvPicPr>
          <p:cNvPr id="5" name="Picture 4" descr="Screenshot of Copilot Studio lead qualifications dashboard">
            <a:extLst>
              <a:ext uri="{FF2B5EF4-FFF2-40B4-BE49-F238E27FC236}">
                <a16:creationId xmlns:a16="http://schemas.microsoft.com/office/drawing/2014/main" id="{41B1DB6C-318B-8DED-0E17-4E3317DBEB8C}"/>
              </a:ext>
            </a:extLst>
          </p:cNvPr>
          <p:cNvPicPr>
            <a:picLocks noChangeAspect="1"/>
          </p:cNvPicPr>
          <p:nvPr/>
        </p:nvPicPr>
        <p:blipFill>
          <a:blip r:embed="rId4"/>
          <a:srcRect l="5090" r="4829" b="976"/>
          <a:stretch>
            <a:fillRect/>
          </a:stretch>
        </p:blipFill>
        <p:spPr>
          <a:xfrm>
            <a:off x="4714047" y="2007842"/>
            <a:ext cx="6336486" cy="3652214"/>
          </a:xfrm>
          <a:prstGeom prst="roundRect">
            <a:avLst>
              <a:gd name="adj" fmla="val 2464"/>
            </a:avLst>
          </a:prstGeom>
        </p:spPr>
      </p:pic>
    </p:spTree>
    <p:custDataLst>
      <p:tags r:id="rId1"/>
    </p:custDataLst>
    <p:extLst>
      <p:ext uri="{BB962C8B-B14F-4D97-AF65-F5344CB8AC3E}">
        <p14:creationId xmlns:p14="http://schemas.microsoft.com/office/powerpoint/2010/main" val="893377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18"/>
                                        </p:tgtEl>
                                        <p:attrNameLst>
                                          <p:attrName>style.visibility</p:attrName>
                                        </p:attrNameLst>
                                      </p:cBhvr>
                                      <p:to>
                                        <p:strVal val="visible"/>
                                      </p:to>
                                    </p:set>
                                    <p:animEffect transition="in" filter="fade">
                                      <p:cBhvr>
                                        <p:cTn id="7" dur="200"/>
                                        <p:tgtEl>
                                          <p:spTgt spid="18"/>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p:tgtEl>
                                          <p:spTgt spid="6"/>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
                                        <p:tgtEl>
                                          <p:spTgt spid="2"/>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
                                        <p:tgtEl>
                                          <p:spTgt spid="7"/>
                                        </p:tgtEl>
                                      </p:cBhvr>
                                    </p:animEffect>
                                  </p:childTnLst>
                                </p:cTn>
                              </p:par>
                              <p:par>
                                <p:cTn id="17" presetID="10" presetClass="entr" presetSubtype="0" fill="hold" nodeType="withEffect">
                                  <p:stCondLst>
                                    <p:cond delay="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2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P spid="7" grpId="0"/>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1C0C-9DE8-1706-86C2-CBA7DCF15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6598E-F192-70E8-FFB0-C868AB2CE089}"/>
              </a:ext>
            </a:extLst>
          </p:cNvPr>
          <p:cNvSpPr>
            <a:spLocks noGrp="1"/>
          </p:cNvSpPr>
          <p:nvPr>
            <p:ph type="title"/>
          </p:nvPr>
        </p:nvSpPr>
        <p:spPr>
          <a:xfrm>
            <a:off x="681162" y="759826"/>
            <a:ext cx="10829676" cy="3443537"/>
          </a:xfrm>
        </p:spPr>
        <p:txBody>
          <a:bodyPr>
            <a:normAutofit/>
          </a:bodyPr>
          <a:lstStyle/>
          <a:p>
            <a:r>
              <a:rPr lang="en-AT" dirty="0"/>
              <a:t>Copilot Studio Compliance</a:t>
            </a:r>
            <a:endParaRPr lang="en-US" dirty="0"/>
          </a:p>
        </p:txBody>
      </p:sp>
      <p:sp>
        <p:nvSpPr>
          <p:cNvPr id="3" name="Text Placeholder 2">
            <a:extLst>
              <a:ext uri="{FF2B5EF4-FFF2-40B4-BE49-F238E27FC236}">
                <a16:creationId xmlns:a16="http://schemas.microsoft.com/office/drawing/2014/main" id="{FAF94F3F-15F4-A48F-A3DB-1A95CEC4466E}"/>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1890049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C64B1-819A-8D26-FAFD-8B9CE6D2D16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5D7D78E-5E8B-8775-1380-538E451875C4}"/>
              </a:ext>
            </a:extLst>
          </p:cNvPr>
          <p:cNvPicPr>
            <a:picLocks noChangeAspect="1"/>
          </p:cNvPicPr>
          <p:nvPr/>
        </p:nvPicPr>
        <p:blipFill>
          <a:blip r:embed="rId2"/>
          <a:stretch>
            <a:fillRect/>
          </a:stretch>
        </p:blipFill>
        <p:spPr>
          <a:xfrm>
            <a:off x="1913218" y="1391478"/>
            <a:ext cx="8330450" cy="4477616"/>
          </a:xfrm>
          <a:prstGeom prst="rect">
            <a:avLst/>
          </a:prstGeom>
          <a:noFill/>
        </p:spPr>
      </p:pic>
      <p:sp>
        <p:nvSpPr>
          <p:cNvPr id="3" name="Title 2">
            <a:extLst>
              <a:ext uri="{FF2B5EF4-FFF2-40B4-BE49-F238E27FC236}">
                <a16:creationId xmlns:a16="http://schemas.microsoft.com/office/drawing/2014/main" id="{58589113-C6AB-DD18-4C0C-CD4A4ED44BF5}"/>
              </a:ext>
            </a:extLst>
          </p:cNvPr>
          <p:cNvSpPr>
            <a:spLocks noGrp="1"/>
          </p:cNvSpPr>
          <p:nvPr>
            <p:ph type="title"/>
          </p:nvPr>
        </p:nvSpPr>
        <p:spPr>
          <a:xfrm>
            <a:off x="299182" y="135604"/>
            <a:ext cx="11558521" cy="901535"/>
          </a:xfrm>
        </p:spPr>
        <p:txBody>
          <a:bodyPr wrap="square" anchor="t">
            <a:normAutofit/>
          </a:bodyPr>
          <a:lstStyle/>
          <a:p>
            <a:r>
              <a:rPr lang="en-US" dirty="0"/>
              <a:t>Copilot Control System</a:t>
            </a:r>
            <a:endParaRPr lang="en-AT" dirty="0"/>
          </a:p>
        </p:txBody>
      </p:sp>
      <p:sp>
        <p:nvSpPr>
          <p:cNvPr id="13" name="Footer Placeholder 3">
            <a:extLst>
              <a:ext uri="{FF2B5EF4-FFF2-40B4-BE49-F238E27FC236}">
                <a16:creationId xmlns:a16="http://schemas.microsoft.com/office/drawing/2014/main" id="{FA9334FE-CD6A-2B3A-C9D4-79CE88B4B528}"/>
              </a:ext>
            </a:extLst>
          </p:cNvPr>
          <p:cNvSpPr>
            <a:spLocks noGrp="1"/>
          </p:cNvSpPr>
          <p:nvPr>
            <p:ph type="ftr" sz="quarter" idx="11"/>
          </p:nvPr>
        </p:nvSpPr>
        <p:spPr>
          <a:xfrm>
            <a:off x="579438" y="6421083"/>
            <a:ext cx="4151312" cy="197976"/>
          </a:xfrm>
        </p:spPr>
        <p:txBody>
          <a:bodyPr/>
          <a:lstStyle/>
          <a:p>
            <a:endParaRPr lang="en-US"/>
          </a:p>
        </p:txBody>
      </p:sp>
    </p:spTree>
    <p:extLst>
      <p:ext uri="{BB962C8B-B14F-4D97-AF65-F5344CB8AC3E}">
        <p14:creationId xmlns:p14="http://schemas.microsoft.com/office/powerpoint/2010/main" val="288039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EBBF8-377C-DD29-1813-2B9B87BEDF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034551-216D-E6C0-D8D5-1B9B77B298BD}"/>
              </a:ext>
            </a:extLst>
          </p:cNvPr>
          <p:cNvSpPr>
            <a:spLocks noGrp="1"/>
          </p:cNvSpPr>
          <p:nvPr>
            <p:ph type="title"/>
          </p:nvPr>
        </p:nvSpPr>
        <p:spPr/>
        <p:txBody>
          <a:bodyPr>
            <a:normAutofit/>
          </a:bodyPr>
          <a:lstStyle/>
          <a:p>
            <a:r>
              <a:rPr lang="de-DE" dirty="0"/>
              <a:t>Agent Controls Model</a:t>
            </a:r>
            <a:endParaRPr lang="en-AT" dirty="0"/>
          </a:p>
        </p:txBody>
      </p:sp>
      <p:sp>
        <p:nvSpPr>
          <p:cNvPr id="4" name="Footer Placeholder 3">
            <a:extLst>
              <a:ext uri="{FF2B5EF4-FFF2-40B4-BE49-F238E27FC236}">
                <a16:creationId xmlns:a16="http://schemas.microsoft.com/office/drawing/2014/main" id="{4B4A87BD-AC07-E2E2-6F42-1D93A3D7F445}"/>
              </a:ext>
            </a:extLst>
          </p:cNvPr>
          <p:cNvSpPr>
            <a:spLocks noGrp="1"/>
          </p:cNvSpPr>
          <p:nvPr>
            <p:ph type="ftr" sz="quarter" idx="11"/>
          </p:nvPr>
        </p:nvSpPr>
        <p:spPr/>
        <p:txBody>
          <a:bodyPr/>
          <a:lstStyle/>
          <a:p>
            <a:endParaRPr lang="en-US"/>
          </a:p>
        </p:txBody>
      </p:sp>
      <p:pic>
        <p:nvPicPr>
          <p:cNvPr id="6" name="Picture 5">
            <a:extLst>
              <a:ext uri="{FF2B5EF4-FFF2-40B4-BE49-F238E27FC236}">
                <a16:creationId xmlns:a16="http://schemas.microsoft.com/office/drawing/2014/main" id="{566EC93B-F4FD-5AD7-84FA-4E0E5EF0F66D}"/>
              </a:ext>
            </a:extLst>
          </p:cNvPr>
          <p:cNvPicPr>
            <a:picLocks noChangeAspect="1"/>
          </p:cNvPicPr>
          <p:nvPr/>
        </p:nvPicPr>
        <p:blipFill>
          <a:blip r:embed="rId2"/>
          <a:srcRect t="1755"/>
          <a:stretch>
            <a:fillRect/>
          </a:stretch>
        </p:blipFill>
        <p:spPr>
          <a:xfrm>
            <a:off x="1390335" y="1569508"/>
            <a:ext cx="9791120" cy="4245557"/>
          </a:xfrm>
          <a:prstGeom prst="rect">
            <a:avLst/>
          </a:prstGeom>
        </p:spPr>
      </p:pic>
    </p:spTree>
    <p:extLst>
      <p:ext uri="{BB962C8B-B14F-4D97-AF65-F5344CB8AC3E}">
        <p14:creationId xmlns:p14="http://schemas.microsoft.com/office/powerpoint/2010/main" val="157741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BCC6F-293D-830F-D820-8205CB21E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8E180-ABC6-9091-0950-72004137F257}"/>
              </a:ext>
            </a:extLst>
          </p:cNvPr>
          <p:cNvSpPr>
            <a:spLocks noGrp="1"/>
          </p:cNvSpPr>
          <p:nvPr>
            <p:ph type="title"/>
          </p:nvPr>
        </p:nvSpPr>
        <p:spPr/>
        <p:txBody>
          <a:bodyPr/>
          <a:lstStyle/>
          <a:p>
            <a:r>
              <a:rPr lang="en-AT" dirty="0"/>
              <a:t>Agent Control Zones</a:t>
            </a:r>
          </a:p>
        </p:txBody>
      </p:sp>
      <p:sp>
        <p:nvSpPr>
          <p:cNvPr id="4" name="Footer Placeholder 3">
            <a:extLst>
              <a:ext uri="{FF2B5EF4-FFF2-40B4-BE49-F238E27FC236}">
                <a16:creationId xmlns:a16="http://schemas.microsoft.com/office/drawing/2014/main" id="{EB44F92E-4371-3427-120A-F842B12FA822}"/>
              </a:ext>
            </a:extLst>
          </p:cNvPr>
          <p:cNvSpPr>
            <a:spLocks noGrp="1"/>
          </p:cNvSpPr>
          <p:nvPr>
            <p:ph type="ftr" sz="quarter" idx="11"/>
          </p:nvPr>
        </p:nvSpPr>
        <p:spPr/>
        <p:txBody>
          <a:bodyPr/>
          <a:lstStyle/>
          <a:p>
            <a:endParaRPr lang="en-US"/>
          </a:p>
        </p:txBody>
      </p:sp>
      <p:pic>
        <p:nvPicPr>
          <p:cNvPr id="9" name="Picture 8">
            <a:extLst>
              <a:ext uri="{FF2B5EF4-FFF2-40B4-BE49-F238E27FC236}">
                <a16:creationId xmlns:a16="http://schemas.microsoft.com/office/drawing/2014/main" id="{0CC97D24-56F3-FECA-4AC3-413442296288}"/>
              </a:ext>
            </a:extLst>
          </p:cNvPr>
          <p:cNvPicPr>
            <a:picLocks noChangeAspect="1"/>
          </p:cNvPicPr>
          <p:nvPr/>
        </p:nvPicPr>
        <p:blipFill>
          <a:blip r:embed="rId2"/>
          <a:stretch>
            <a:fillRect/>
          </a:stretch>
        </p:blipFill>
        <p:spPr>
          <a:xfrm>
            <a:off x="1616163" y="1333746"/>
            <a:ext cx="8959674" cy="4459926"/>
          </a:xfrm>
          <a:prstGeom prst="rect">
            <a:avLst/>
          </a:prstGeom>
        </p:spPr>
      </p:pic>
    </p:spTree>
    <p:extLst>
      <p:ext uri="{BB962C8B-B14F-4D97-AF65-F5344CB8AC3E}">
        <p14:creationId xmlns:p14="http://schemas.microsoft.com/office/powerpoint/2010/main" val="1233518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9E2B-B362-B41B-3702-8521E3808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56CC0-D570-6FCD-230B-F251E527C88F}"/>
              </a:ext>
            </a:extLst>
          </p:cNvPr>
          <p:cNvSpPr>
            <a:spLocks noGrp="1"/>
          </p:cNvSpPr>
          <p:nvPr>
            <p:ph type="title"/>
          </p:nvPr>
        </p:nvSpPr>
        <p:spPr>
          <a:xfrm>
            <a:off x="681162" y="759826"/>
            <a:ext cx="10829676" cy="3443537"/>
          </a:xfrm>
        </p:spPr>
        <p:txBody>
          <a:bodyPr>
            <a:normAutofit/>
          </a:bodyPr>
          <a:lstStyle/>
          <a:p>
            <a:r>
              <a:rPr lang="en-AT" dirty="0"/>
              <a:t>Securing Data using Purview</a:t>
            </a:r>
            <a:endParaRPr lang="en-US" dirty="0"/>
          </a:p>
        </p:txBody>
      </p:sp>
      <p:sp>
        <p:nvSpPr>
          <p:cNvPr id="3" name="Text Placeholder 2">
            <a:extLst>
              <a:ext uri="{FF2B5EF4-FFF2-40B4-BE49-F238E27FC236}">
                <a16:creationId xmlns:a16="http://schemas.microsoft.com/office/drawing/2014/main" id="{5B6F610F-E3AC-58E0-45FD-973954025ACC}"/>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010758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7C6956-CEBF-540C-351B-DBA09C219B2A}"/>
              </a:ext>
            </a:extLst>
          </p:cNvPr>
          <p:cNvSpPr>
            <a:spLocks noGrp="1"/>
          </p:cNvSpPr>
          <p:nvPr>
            <p:ph type="title"/>
          </p:nvPr>
        </p:nvSpPr>
        <p:spPr/>
        <p:txBody>
          <a:bodyPr>
            <a:normAutofit fontScale="90000"/>
          </a:bodyPr>
          <a:lstStyle/>
          <a:p>
            <a:r>
              <a:rPr lang="de-DE" dirty="0"/>
              <a:t>Microsoft </a:t>
            </a:r>
            <a:r>
              <a:rPr lang="de-DE" dirty="0" err="1"/>
              <a:t>Purview</a:t>
            </a:r>
            <a:r>
              <a:rPr lang="de-DE" dirty="0"/>
              <a:t> &amp; Copilot</a:t>
            </a:r>
            <a:endParaRPr lang="en-AT" dirty="0"/>
          </a:p>
        </p:txBody>
      </p:sp>
      <p:sp>
        <p:nvSpPr>
          <p:cNvPr id="5" name="Content Placeholder 4">
            <a:extLst>
              <a:ext uri="{FF2B5EF4-FFF2-40B4-BE49-F238E27FC236}">
                <a16:creationId xmlns:a16="http://schemas.microsoft.com/office/drawing/2014/main" id="{97306A8E-8038-FB1E-6BB0-28775A9C46F2}"/>
              </a:ext>
            </a:extLst>
          </p:cNvPr>
          <p:cNvSpPr>
            <a:spLocks noGrp="1"/>
          </p:cNvSpPr>
          <p:nvPr>
            <p:ph sz="half" idx="1"/>
          </p:nvPr>
        </p:nvSpPr>
        <p:spPr/>
        <p:txBody>
          <a:bodyPr>
            <a:normAutofit/>
          </a:bodyPr>
          <a:lstStyle/>
          <a:p>
            <a:pPr lvl="1"/>
            <a:r>
              <a:rPr lang="en-US" dirty="0"/>
              <a:t>Unified Data Governance Platform</a:t>
            </a:r>
            <a:endParaRPr lang="en-AT" dirty="0"/>
          </a:p>
          <a:p>
            <a:pPr lvl="2"/>
            <a:r>
              <a:rPr lang="en-US" dirty="0"/>
              <a:t>Purview helps organizations discover, classify, and manage data across hybrid environments—on-premises, multi-cloud, and SaaS.</a:t>
            </a:r>
          </a:p>
          <a:p>
            <a:pPr lvl="1"/>
            <a:r>
              <a:rPr lang="en-US" dirty="0"/>
              <a:t>Enabling Responsible AI</a:t>
            </a:r>
            <a:endParaRPr lang="en-AT" dirty="0"/>
          </a:p>
          <a:p>
            <a:pPr lvl="2"/>
            <a:r>
              <a:rPr lang="en-US" dirty="0"/>
              <a:t>It ensures that data used by custom Copilots is secure, compliant, and well-governed, supporting ethical AI development.</a:t>
            </a:r>
          </a:p>
          <a:p>
            <a:pPr lvl="1"/>
            <a:r>
              <a:rPr lang="en-US" dirty="0"/>
              <a:t>Metadata &amp; Lineage Tracking</a:t>
            </a:r>
            <a:endParaRPr lang="en-AT" dirty="0"/>
          </a:p>
          <a:p>
            <a:pPr lvl="2"/>
            <a:r>
              <a:rPr lang="en-US" dirty="0"/>
              <a:t>Purview provides deep visibility into data sources, lineage, and usage—critical for transparency in AI-driven decisions.</a:t>
            </a:r>
          </a:p>
          <a:p>
            <a:pPr lvl="1"/>
            <a:r>
              <a:rPr lang="en-US" dirty="0"/>
              <a:t>Data Access Control</a:t>
            </a:r>
            <a:endParaRPr lang="en-AT" dirty="0"/>
          </a:p>
          <a:p>
            <a:pPr lvl="2"/>
            <a:r>
              <a:rPr lang="en-US" dirty="0"/>
              <a:t>Integrates with Microsoft Entra and other identity solutions to enforce granular access policies for Copilot interactions.</a:t>
            </a:r>
          </a:p>
          <a:p>
            <a:pPr lvl="1"/>
            <a:r>
              <a:rPr lang="en-US" dirty="0"/>
              <a:t>Foundation for Trustworthy Copilots</a:t>
            </a:r>
            <a:endParaRPr lang="en-AT"/>
          </a:p>
          <a:p>
            <a:pPr lvl="2"/>
            <a:r>
              <a:rPr lang="en-US"/>
              <a:t>By </a:t>
            </a:r>
            <a:r>
              <a:rPr lang="en-US" dirty="0"/>
              <a:t>managing sensitive data and compliance risks, Purview lays the groundwork for building Copilots that users and regulators can trust</a:t>
            </a:r>
          </a:p>
        </p:txBody>
      </p:sp>
      <p:pic>
        <p:nvPicPr>
          <p:cNvPr id="3" name="Content Placeholder 2">
            <a:extLst>
              <a:ext uri="{FF2B5EF4-FFF2-40B4-BE49-F238E27FC236}">
                <a16:creationId xmlns:a16="http://schemas.microsoft.com/office/drawing/2014/main" id="{89905F8E-3F22-B142-0B77-7F59CEA7C072}"/>
              </a:ext>
            </a:extLst>
          </p:cNvPr>
          <p:cNvPicPr>
            <a:picLocks noGrp="1" noChangeAspect="1"/>
          </p:cNvPicPr>
          <p:nvPr>
            <p:ph sz="half" idx="2"/>
          </p:nvPr>
        </p:nvPicPr>
        <p:blipFill>
          <a:blip r:embed="rId2"/>
          <a:stretch>
            <a:fillRect/>
          </a:stretch>
        </p:blipFill>
        <p:spPr>
          <a:xfrm>
            <a:off x="6218238" y="2209344"/>
            <a:ext cx="5351462" cy="2871112"/>
          </a:xfrm>
          <a:prstGeom prst="rect">
            <a:avLst/>
          </a:prstGeom>
        </p:spPr>
      </p:pic>
    </p:spTree>
    <p:extLst>
      <p:ext uri="{BB962C8B-B14F-4D97-AF65-F5344CB8AC3E}">
        <p14:creationId xmlns:p14="http://schemas.microsoft.com/office/powerpoint/2010/main" val="3137318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B986E0-3085-8EBD-6B38-326AED247A69}"/>
              </a:ext>
            </a:extLst>
          </p:cNvPr>
          <p:cNvSpPr>
            <a:spLocks noGrp="1"/>
          </p:cNvSpPr>
          <p:nvPr>
            <p:ph idx="1"/>
          </p:nvPr>
        </p:nvSpPr>
        <p:spPr/>
        <p:txBody>
          <a:bodyPr>
            <a:normAutofit/>
          </a:bodyPr>
          <a:lstStyle/>
          <a:p>
            <a:r>
              <a:rPr lang="en-US" dirty="0"/>
              <a:t>Purpose</a:t>
            </a:r>
            <a:endParaRPr lang="en-AT" dirty="0"/>
          </a:p>
          <a:p>
            <a:pPr lvl="1"/>
            <a:r>
              <a:rPr lang="en-US" dirty="0"/>
              <a:t>Classify and protect data based on sensitivity (e.g., Confidential, Internal, Public).</a:t>
            </a:r>
            <a:endParaRPr lang="en-AT" dirty="0"/>
          </a:p>
          <a:p>
            <a:r>
              <a:rPr lang="en-US" dirty="0"/>
              <a:t>Scope</a:t>
            </a:r>
            <a:endParaRPr lang="en-AT" dirty="0"/>
          </a:p>
          <a:p>
            <a:pPr lvl="1"/>
            <a:r>
              <a:rPr lang="en-US" dirty="0"/>
              <a:t>Applies to files, emails, and containers (SharePoint sites, Teams, Groups).</a:t>
            </a:r>
            <a:endParaRPr lang="en-AT" dirty="0"/>
          </a:p>
          <a:p>
            <a:r>
              <a:rPr lang="en-US" dirty="0"/>
              <a:t>Protection Features</a:t>
            </a:r>
            <a:endParaRPr lang="en-AT" dirty="0"/>
          </a:p>
          <a:p>
            <a:pPr lvl="1"/>
            <a:r>
              <a:rPr lang="en-US" dirty="0"/>
              <a:t>Encryption: Restrict access to authorized users.</a:t>
            </a:r>
            <a:endParaRPr lang="en-AT" dirty="0"/>
          </a:p>
          <a:p>
            <a:pPr lvl="1"/>
            <a:r>
              <a:rPr lang="en-US" dirty="0"/>
              <a:t>Content Marking: Add headers, footers, or watermarks.</a:t>
            </a:r>
            <a:endParaRPr lang="en-AT" dirty="0"/>
          </a:p>
          <a:p>
            <a:pPr lvl="1"/>
            <a:r>
              <a:rPr lang="en-US" dirty="0"/>
              <a:t>Access Control: Define permissions and sharing rules.</a:t>
            </a:r>
            <a:endParaRPr lang="en-AT" dirty="0"/>
          </a:p>
          <a:p>
            <a:r>
              <a:rPr lang="en-US" dirty="0"/>
              <a:t>Integration</a:t>
            </a:r>
            <a:endParaRPr lang="en-AT" dirty="0"/>
          </a:p>
          <a:p>
            <a:pPr lvl="1"/>
            <a:r>
              <a:rPr lang="en-US" dirty="0"/>
              <a:t>Works across Microsoft 365 apps and services for consistent data protection.</a:t>
            </a:r>
            <a:endParaRPr lang="en-AT" dirty="0"/>
          </a:p>
          <a:p>
            <a:r>
              <a:rPr lang="en-US" dirty="0"/>
              <a:t>Policy Enforcement</a:t>
            </a:r>
            <a:endParaRPr lang="en-AT" dirty="0"/>
          </a:p>
          <a:p>
            <a:pPr lvl="1"/>
            <a:r>
              <a:rPr lang="en-US" dirty="0"/>
              <a:t>Labels can be auto-applied based on content or user actions.</a:t>
            </a:r>
            <a:endParaRPr lang="en-AT" dirty="0"/>
          </a:p>
        </p:txBody>
      </p:sp>
      <p:sp>
        <p:nvSpPr>
          <p:cNvPr id="2" name="Title 1">
            <a:extLst>
              <a:ext uri="{FF2B5EF4-FFF2-40B4-BE49-F238E27FC236}">
                <a16:creationId xmlns:a16="http://schemas.microsoft.com/office/drawing/2014/main" id="{2FFF598E-8257-D759-28B4-C8BDA26FF20D}"/>
              </a:ext>
            </a:extLst>
          </p:cNvPr>
          <p:cNvSpPr>
            <a:spLocks noGrp="1"/>
          </p:cNvSpPr>
          <p:nvPr>
            <p:ph type="title"/>
          </p:nvPr>
        </p:nvSpPr>
        <p:spPr/>
        <p:txBody>
          <a:bodyPr>
            <a:normAutofit/>
          </a:bodyPr>
          <a:lstStyle/>
          <a:p>
            <a:r>
              <a:rPr lang="en-US" dirty="0"/>
              <a:t>Purview Sensitivity Labels – Key Concepts</a:t>
            </a:r>
            <a:endParaRPr lang="en-AT" dirty="0"/>
          </a:p>
        </p:txBody>
      </p:sp>
    </p:spTree>
    <p:extLst>
      <p:ext uri="{BB962C8B-B14F-4D97-AF65-F5344CB8AC3E}">
        <p14:creationId xmlns:p14="http://schemas.microsoft.com/office/powerpoint/2010/main" val="1083060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362F60-B1B4-73A4-5FEC-D77DFA2B542F}"/>
              </a:ext>
            </a:extLst>
          </p:cNvPr>
          <p:cNvSpPr>
            <a:spLocks noGrp="1"/>
          </p:cNvSpPr>
          <p:nvPr>
            <p:ph type="title"/>
          </p:nvPr>
        </p:nvSpPr>
        <p:spPr/>
        <p:txBody>
          <a:bodyPr>
            <a:normAutofit fontScale="90000"/>
          </a:bodyPr>
          <a:lstStyle/>
          <a:p>
            <a:r>
              <a:rPr lang="en-AT" dirty="0"/>
              <a:t>Examples</a:t>
            </a:r>
          </a:p>
        </p:txBody>
      </p:sp>
      <p:sp>
        <p:nvSpPr>
          <p:cNvPr id="4" name="Content Placeholder 3">
            <a:extLst>
              <a:ext uri="{FF2B5EF4-FFF2-40B4-BE49-F238E27FC236}">
                <a16:creationId xmlns:a16="http://schemas.microsoft.com/office/drawing/2014/main" id="{9EEDBC96-296D-0573-0D18-AF5C673AD70D}"/>
              </a:ext>
            </a:extLst>
          </p:cNvPr>
          <p:cNvSpPr>
            <a:spLocks noGrp="1"/>
          </p:cNvSpPr>
          <p:nvPr>
            <p:ph sz="half" idx="1"/>
          </p:nvPr>
        </p:nvSpPr>
        <p:spPr/>
        <p:txBody>
          <a:bodyPr>
            <a:normAutofit fontScale="92500" lnSpcReduction="20000"/>
          </a:bodyPr>
          <a:lstStyle/>
          <a:p>
            <a:pPr>
              <a:lnSpc>
                <a:spcPct val="150000"/>
              </a:lnSpc>
            </a:pPr>
            <a:r>
              <a:rPr lang="en-US" dirty="0"/>
              <a:t>File/Email Protection</a:t>
            </a:r>
            <a:endParaRPr lang="en-AT" dirty="0"/>
          </a:p>
          <a:p>
            <a:pPr lvl="1">
              <a:lnSpc>
                <a:spcPct val="150000"/>
              </a:lnSpc>
            </a:pPr>
            <a:r>
              <a:rPr lang="en-US" dirty="0"/>
              <a:t>Scenario: Q2_Budget.xlsx labeled Confidential – Finance.</a:t>
            </a:r>
            <a:endParaRPr lang="en-AT" dirty="0"/>
          </a:p>
          <a:p>
            <a:pPr lvl="1">
              <a:lnSpc>
                <a:spcPct val="150000"/>
              </a:lnSpc>
            </a:pPr>
            <a:r>
              <a:rPr lang="en-US" dirty="0"/>
              <a:t>Policy: Azure RMS encryption; </a:t>
            </a:r>
            <a:endParaRPr lang="en-AT" dirty="0"/>
          </a:p>
          <a:p>
            <a:pPr lvl="2">
              <a:lnSpc>
                <a:spcPct val="150000"/>
              </a:lnSpc>
            </a:pPr>
            <a:r>
              <a:rPr lang="en-AT" dirty="0"/>
              <a:t>O</a:t>
            </a:r>
            <a:r>
              <a:rPr lang="en-US" dirty="0" err="1"/>
              <a:t>nly</a:t>
            </a:r>
            <a:r>
              <a:rPr lang="en-US" dirty="0"/>
              <a:t> AAD group Finance has Viewer/Editor; </a:t>
            </a:r>
            <a:endParaRPr lang="en-AT" dirty="0"/>
          </a:p>
          <a:p>
            <a:pPr lvl="2">
              <a:lnSpc>
                <a:spcPct val="150000"/>
              </a:lnSpc>
            </a:pPr>
            <a:r>
              <a:rPr lang="en-US" dirty="0"/>
              <a:t>headers/footers show “Confidential – Finance”; </a:t>
            </a:r>
            <a:endParaRPr lang="en-AT" dirty="0"/>
          </a:p>
          <a:p>
            <a:pPr lvl="2">
              <a:lnSpc>
                <a:spcPct val="150000"/>
              </a:lnSpc>
            </a:pPr>
            <a:r>
              <a:rPr lang="en-US" dirty="0"/>
              <a:t>offline access limited to 7 days; </a:t>
            </a:r>
            <a:endParaRPr lang="en-AT" dirty="0"/>
          </a:p>
          <a:p>
            <a:pPr lvl="2">
              <a:lnSpc>
                <a:spcPct val="150000"/>
              </a:lnSpc>
            </a:pPr>
            <a:r>
              <a:rPr lang="en-US" dirty="0"/>
              <a:t>downgrade requires justification.</a:t>
            </a:r>
            <a:endParaRPr lang="en-AT" dirty="0"/>
          </a:p>
          <a:p>
            <a:pPr lvl="1">
              <a:lnSpc>
                <a:spcPct val="150000"/>
              </a:lnSpc>
            </a:pPr>
            <a:r>
              <a:rPr lang="en-US" dirty="0"/>
              <a:t>Effect: </a:t>
            </a:r>
            <a:endParaRPr lang="en-AT" dirty="0"/>
          </a:p>
          <a:p>
            <a:pPr lvl="2">
              <a:lnSpc>
                <a:spcPct val="150000"/>
              </a:lnSpc>
            </a:pPr>
            <a:r>
              <a:rPr lang="en-US" dirty="0"/>
              <a:t>Only Finance can open; </a:t>
            </a:r>
            <a:endParaRPr lang="en-AT" dirty="0"/>
          </a:p>
          <a:p>
            <a:pPr lvl="2">
              <a:lnSpc>
                <a:spcPct val="150000"/>
              </a:lnSpc>
            </a:pPr>
            <a:r>
              <a:rPr lang="en-US" dirty="0"/>
              <a:t>external share attempts are blocked; </a:t>
            </a:r>
            <a:endParaRPr lang="en-AT" dirty="0"/>
          </a:p>
          <a:p>
            <a:pPr lvl="2">
              <a:lnSpc>
                <a:spcPct val="150000"/>
              </a:lnSpc>
            </a:pPr>
            <a:r>
              <a:rPr lang="en-US" dirty="0"/>
              <a:t>forwarding/export is restricted</a:t>
            </a:r>
            <a:endParaRPr lang="en-AT" dirty="0"/>
          </a:p>
        </p:txBody>
      </p:sp>
      <p:sp>
        <p:nvSpPr>
          <p:cNvPr id="5" name="Content Placeholder 4">
            <a:extLst>
              <a:ext uri="{FF2B5EF4-FFF2-40B4-BE49-F238E27FC236}">
                <a16:creationId xmlns:a16="http://schemas.microsoft.com/office/drawing/2014/main" id="{F0BD34DC-9C9B-E32E-9ABE-C08848B328AD}"/>
              </a:ext>
            </a:extLst>
          </p:cNvPr>
          <p:cNvSpPr>
            <a:spLocks noGrp="1"/>
          </p:cNvSpPr>
          <p:nvPr>
            <p:ph sz="half" idx="2"/>
          </p:nvPr>
        </p:nvSpPr>
        <p:spPr/>
        <p:txBody>
          <a:bodyPr>
            <a:normAutofit fontScale="92500" lnSpcReduction="20000"/>
          </a:bodyPr>
          <a:lstStyle/>
          <a:p>
            <a:pPr>
              <a:lnSpc>
                <a:spcPct val="160000"/>
              </a:lnSpc>
            </a:pPr>
            <a:r>
              <a:rPr lang="de-DE" dirty="0"/>
              <a:t>Auto-</a:t>
            </a:r>
            <a:r>
              <a:rPr lang="de-DE" dirty="0" err="1"/>
              <a:t>Labeling</a:t>
            </a:r>
            <a:r>
              <a:rPr lang="de-DE" dirty="0"/>
              <a:t> &amp; </a:t>
            </a:r>
            <a:r>
              <a:rPr lang="de-DE" dirty="0" err="1"/>
              <a:t>Recommendations</a:t>
            </a:r>
            <a:endParaRPr lang="en-AT" dirty="0"/>
          </a:p>
          <a:p>
            <a:pPr lvl="1">
              <a:lnSpc>
                <a:spcPct val="160000"/>
              </a:lnSpc>
            </a:pPr>
            <a:r>
              <a:rPr lang="en-US" dirty="0"/>
              <a:t>Scenario: Docs containing passport numbers or codename “Project Falcon”.</a:t>
            </a:r>
            <a:endParaRPr lang="en-AT" dirty="0"/>
          </a:p>
          <a:p>
            <a:pPr lvl="1">
              <a:lnSpc>
                <a:spcPct val="160000"/>
              </a:lnSpc>
            </a:pPr>
            <a:r>
              <a:rPr lang="en-US" dirty="0"/>
              <a:t>Policy: </a:t>
            </a:r>
            <a:endParaRPr lang="en-AT" dirty="0"/>
          </a:p>
          <a:p>
            <a:pPr lvl="2">
              <a:lnSpc>
                <a:spcPct val="160000"/>
              </a:lnSpc>
            </a:pPr>
            <a:r>
              <a:rPr lang="en-US" dirty="0"/>
              <a:t>Auto-label to Confidential – Project when sensitive info or keywords detected; </a:t>
            </a:r>
            <a:endParaRPr lang="en-AT" dirty="0"/>
          </a:p>
          <a:p>
            <a:pPr lvl="2">
              <a:lnSpc>
                <a:spcPct val="160000"/>
              </a:lnSpc>
            </a:pPr>
            <a:r>
              <a:rPr lang="en-AT" dirty="0"/>
              <a:t>U</a:t>
            </a:r>
            <a:r>
              <a:rPr lang="en-US" dirty="0" err="1"/>
              <a:t>sers</a:t>
            </a:r>
            <a:r>
              <a:rPr lang="en-US" dirty="0"/>
              <a:t> see a recommendation prompt in Office apps; </a:t>
            </a:r>
            <a:endParaRPr lang="en-AT" dirty="0"/>
          </a:p>
          <a:p>
            <a:pPr lvl="2">
              <a:lnSpc>
                <a:spcPct val="160000"/>
              </a:lnSpc>
            </a:pPr>
            <a:r>
              <a:rPr lang="en-AT" dirty="0"/>
              <a:t>S</a:t>
            </a:r>
            <a:r>
              <a:rPr lang="en-US" dirty="0" err="1"/>
              <a:t>ervice</a:t>
            </a:r>
            <a:r>
              <a:rPr lang="en-US" dirty="0"/>
              <a:t>-side auto-labeling in SharePoint/OneDrive applies protection at rest.</a:t>
            </a:r>
            <a:endParaRPr lang="en-AT" dirty="0"/>
          </a:p>
          <a:p>
            <a:pPr lvl="1">
              <a:lnSpc>
                <a:spcPct val="160000"/>
              </a:lnSpc>
            </a:pPr>
            <a:r>
              <a:rPr lang="en-US" dirty="0"/>
              <a:t>Effect: </a:t>
            </a:r>
            <a:endParaRPr lang="en-AT" dirty="0"/>
          </a:p>
          <a:p>
            <a:pPr lvl="2">
              <a:lnSpc>
                <a:spcPct val="160000"/>
              </a:lnSpc>
            </a:pPr>
            <a:r>
              <a:rPr lang="en-US" dirty="0"/>
              <a:t>Consistent labeling without user error; </a:t>
            </a:r>
            <a:endParaRPr lang="en-AT" dirty="0"/>
          </a:p>
          <a:p>
            <a:pPr lvl="2">
              <a:lnSpc>
                <a:spcPct val="160000"/>
              </a:lnSpc>
            </a:pPr>
            <a:r>
              <a:rPr lang="en-AT" dirty="0"/>
              <a:t>S</a:t>
            </a:r>
            <a:r>
              <a:rPr lang="en-US" dirty="0" err="1"/>
              <a:t>ensitive</a:t>
            </a:r>
            <a:r>
              <a:rPr lang="en-US" dirty="0"/>
              <a:t> data stays encrypted and marked.</a:t>
            </a:r>
            <a:endParaRPr lang="en-AT" dirty="0"/>
          </a:p>
        </p:txBody>
      </p:sp>
    </p:spTree>
    <p:extLst>
      <p:ext uri="{BB962C8B-B14F-4D97-AF65-F5344CB8AC3E}">
        <p14:creationId xmlns:p14="http://schemas.microsoft.com/office/powerpoint/2010/main" val="2783551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2D0183-E626-EA98-8375-8EB25F1DBF52}"/>
              </a:ext>
            </a:extLst>
          </p:cNvPr>
          <p:cNvSpPr>
            <a:spLocks noGrp="1"/>
          </p:cNvSpPr>
          <p:nvPr>
            <p:ph idx="1"/>
          </p:nvPr>
        </p:nvSpPr>
        <p:spPr/>
        <p:txBody>
          <a:bodyPr/>
          <a:lstStyle/>
          <a:p>
            <a:pPr>
              <a:lnSpc>
                <a:spcPct val="150000"/>
              </a:lnSpc>
            </a:pPr>
            <a:r>
              <a:rPr lang="en-US" dirty="0"/>
              <a:t>Data Awareness</a:t>
            </a:r>
            <a:endParaRPr lang="en-AT" dirty="0"/>
          </a:p>
          <a:p>
            <a:pPr lvl="1">
              <a:lnSpc>
                <a:spcPct val="150000"/>
              </a:lnSpc>
            </a:pPr>
            <a:r>
              <a:rPr lang="en-US" dirty="0"/>
              <a:t>Copilot respects sensitivity labels when accessing or generating content.</a:t>
            </a:r>
            <a:endParaRPr lang="en-AT" dirty="0"/>
          </a:p>
          <a:p>
            <a:pPr>
              <a:lnSpc>
                <a:spcPct val="150000"/>
              </a:lnSpc>
            </a:pPr>
            <a:r>
              <a:rPr lang="en-US" dirty="0"/>
              <a:t>Compliance by Design</a:t>
            </a:r>
            <a:endParaRPr lang="en-AT" dirty="0"/>
          </a:p>
          <a:p>
            <a:pPr lvl="1">
              <a:lnSpc>
                <a:spcPct val="150000"/>
              </a:lnSpc>
            </a:pPr>
            <a:r>
              <a:rPr lang="en-US" dirty="0"/>
              <a:t>Copilot will not expose or suggest protected data beyond allowed permissions.</a:t>
            </a:r>
            <a:endParaRPr lang="en-AT" dirty="0"/>
          </a:p>
          <a:p>
            <a:pPr>
              <a:lnSpc>
                <a:spcPct val="150000"/>
              </a:lnSpc>
            </a:pPr>
            <a:r>
              <a:rPr lang="en-US" dirty="0"/>
              <a:t>Contextual Responses</a:t>
            </a:r>
            <a:endParaRPr lang="en-AT" dirty="0"/>
          </a:p>
          <a:p>
            <a:pPr lvl="1">
              <a:lnSpc>
                <a:spcPct val="150000"/>
              </a:lnSpc>
            </a:pPr>
            <a:r>
              <a:rPr lang="en-US" dirty="0"/>
              <a:t>Uses labels to tailor answers without violating confidentiality.</a:t>
            </a:r>
            <a:endParaRPr lang="en-AT" dirty="0"/>
          </a:p>
          <a:p>
            <a:pPr>
              <a:lnSpc>
                <a:spcPct val="150000"/>
              </a:lnSpc>
            </a:pPr>
            <a:r>
              <a:rPr lang="en-US" dirty="0"/>
              <a:t>Secure Collaboration</a:t>
            </a:r>
            <a:endParaRPr lang="en-AT" dirty="0"/>
          </a:p>
          <a:p>
            <a:pPr lvl="1">
              <a:lnSpc>
                <a:spcPct val="150000"/>
              </a:lnSpc>
            </a:pPr>
            <a:r>
              <a:rPr lang="en-US" dirty="0"/>
              <a:t>Ensures AI-driven insights stay within organizational compliance boundaries.</a:t>
            </a:r>
            <a:endParaRPr lang="en-AT" dirty="0"/>
          </a:p>
        </p:txBody>
      </p:sp>
      <p:sp>
        <p:nvSpPr>
          <p:cNvPr id="3" name="Title 2">
            <a:extLst>
              <a:ext uri="{FF2B5EF4-FFF2-40B4-BE49-F238E27FC236}">
                <a16:creationId xmlns:a16="http://schemas.microsoft.com/office/drawing/2014/main" id="{2DB91F6B-525F-FD61-AAD7-30A8FF054EB2}"/>
              </a:ext>
            </a:extLst>
          </p:cNvPr>
          <p:cNvSpPr>
            <a:spLocks noGrp="1"/>
          </p:cNvSpPr>
          <p:nvPr>
            <p:ph type="title"/>
          </p:nvPr>
        </p:nvSpPr>
        <p:spPr/>
        <p:txBody>
          <a:bodyPr/>
          <a:lstStyle/>
          <a:p>
            <a:r>
              <a:rPr lang="de-DE" dirty="0" err="1"/>
              <a:t>Purview</a:t>
            </a:r>
            <a:r>
              <a:rPr lang="de-DE" dirty="0"/>
              <a:t> </a:t>
            </a:r>
            <a:r>
              <a:rPr lang="de-DE" dirty="0" err="1"/>
              <a:t>Sensitivity</a:t>
            </a:r>
            <a:r>
              <a:rPr lang="de-DE" dirty="0"/>
              <a:t> Labels &amp; Copilot</a:t>
            </a:r>
            <a:endParaRPr lang="en-AT" dirty="0"/>
          </a:p>
        </p:txBody>
      </p:sp>
    </p:spTree>
    <p:extLst>
      <p:ext uri="{BB962C8B-B14F-4D97-AF65-F5344CB8AC3E}">
        <p14:creationId xmlns:p14="http://schemas.microsoft.com/office/powerpoint/2010/main" val="27059562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B9E81F-4779-B23A-317F-54B3EF5FFB6D}"/>
              </a:ext>
            </a:extLst>
          </p:cNvPr>
          <p:cNvSpPr>
            <a:spLocks noGrp="1"/>
          </p:cNvSpPr>
          <p:nvPr>
            <p:ph type="title"/>
          </p:nvPr>
        </p:nvSpPr>
        <p:spPr/>
        <p:txBody>
          <a:bodyPr>
            <a:normAutofit fontScale="90000"/>
          </a:bodyPr>
          <a:lstStyle/>
          <a:p>
            <a:r>
              <a:rPr lang="en-AT" dirty="0"/>
              <a:t>Copilot Examples</a:t>
            </a:r>
          </a:p>
        </p:txBody>
      </p:sp>
      <p:sp>
        <p:nvSpPr>
          <p:cNvPr id="4" name="Content Placeholder 3">
            <a:extLst>
              <a:ext uri="{FF2B5EF4-FFF2-40B4-BE49-F238E27FC236}">
                <a16:creationId xmlns:a16="http://schemas.microsoft.com/office/drawing/2014/main" id="{14CBCE27-9428-8910-9BDA-2C1A7E5AD3CB}"/>
              </a:ext>
            </a:extLst>
          </p:cNvPr>
          <p:cNvSpPr>
            <a:spLocks noGrp="1"/>
          </p:cNvSpPr>
          <p:nvPr>
            <p:ph sz="half" idx="1"/>
          </p:nvPr>
        </p:nvSpPr>
        <p:spPr/>
        <p:txBody>
          <a:bodyPr/>
          <a:lstStyle/>
          <a:p>
            <a:pPr>
              <a:lnSpc>
                <a:spcPct val="150000"/>
              </a:lnSpc>
            </a:pPr>
            <a:r>
              <a:rPr lang="en-US" dirty="0"/>
              <a:t>Summarizing Labeled Files</a:t>
            </a:r>
            <a:endParaRPr lang="en-AT" dirty="0"/>
          </a:p>
          <a:p>
            <a:pPr lvl="1">
              <a:lnSpc>
                <a:spcPct val="150000"/>
              </a:lnSpc>
            </a:pPr>
            <a:r>
              <a:rPr lang="en-US" dirty="0"/>
              <a:t>Scenario: User asks Copilot, “Summarize Q2_Budget.xlsx.” </a:t>
            </a:r>
            <a:endParaRPr lang="en-AT" dirty="0"/>
          </a:p>
          <a:p>
            <a:pPr lvl="1">
              <a:lnSpc>
                <a:spcPct val="150000"/>
              </a:lnSpc>
            </a:pPr>
            <a:r>
              <a:rPr lang="en-US" dirty="0"/>
              <a:t>File is Confidential – Finance.</a:t>
            </a:r>
            <a:endParaRPr lang="en-AT" dirty="0"/>
          </a:p>
          <a:p>
            <a:pPr lvl="1">
              <a:lnSpc>
                <a:spcPct val="150000"/>
              </a:lnSpc>
            </a:pPr>
            <a:r>
              <a:rPr lang="en-US" dirty="0"/>
              <a:t>Effect (Authorized user): </a:t>
            </a:r>
            <a:endParaRPr lang="en-AT" dirty="0"/>
          </a:p>
          <a:p>
            <a:pPr lvl="2">
              <a:lnSpc>
                <a:spcPct val="150000"/>
              </a:lnSpc>
            </a:pPr>
            <a:r>
              <a:rPr lang="en-US" dirty="0"/>
              <a:t>Copilot reads and summarizes; does not remove encryption—it simply returns insights the user is already permitted to see.</a:t>
            </a:r>
            <a:endParaRPr lang="en-AT" dirty="0"/>
          </a:p>
          <a:p>
            <a:pPr lvl="1">
              <a:lnSpc>
                <a:spcPct val="150000"/>
              </a:lnSpc>
            </a:pPr>
            <a:r>
              <a:rPr lang="en-US" dirty="0"/>
              <a:t>Effect (Unauthorized user): </a:t>
            </a:r>
            <a:endParaRPr lang="en-AT" dirty="0"/>
          </a:p>
          <a:p>
            <a:pPr lvl="2">
              <a:lnSpc>
                <a:spcPct val="150000"/>
              </a:lnSpc>
            </a:pPr>
            <a:r>
              <a:rPr lang="en-US" dirty="0"/>
              <a:t>Copilot responds that it can’t access the file; no content, snippets, or metadata leakage.</a:t>
            </a:r>
            <a:endParaRPr lang="en-AT" dirty="0"/>
          </a:p>
        </p:txBody>
      </p:sp>
      <p:sp>
        <p:nvSpPr>
          <p:cNvPr id="5" name="Content Placeholder 4">
            <a:extLst>
              <a:ext uri="{FF2B5EF4-FFF2-40B4-BE49-F238E27FC236}">
                <a16:creationId xmlns:a16="http://schemas.microsoft.com/office/drawing/2014/main" id="{FE54B11D-1706-43DB-FD46-22FF2B36A574}"/>
              </a:ext>
            </a:extLst>
          </p:cNvPr>
          <p:cNvSpPr>
            <a:spLocks noGrp="1"/>
          </p:cNvSpPr>
          <p:nvPr>
            <p:ph sz="half" idx="2"/>
          </p:nvPr>
        </p:nvSpPr>
        <p:spPr/>
        <p:txBody>
          <a:bodyPr/>
          <a:lstStyle/>
          <a:p>
            <a:pPr>
              <a:lnSpc>
                <a:spcPct val="150000"/>
              </a:lnSpc>
            </a:pPr>
            <a:r>
              <a:rPr lang="en-US" dirty="0"/>
              <a:t>Email Label Inheritance &amp; “Do Not Forward”</a:t>
            </a:r>
            <a:endParaRPr lang="en-AT" dirty="0"/>
          </a:p>
          <a:p>
            <a:pPr lvl="1">
              <a:lnSpc>
                <a:spcPct val="150000"/>
              </a:lnSpc>
            </a:pPr>
            <a:r>
              <a:rPr lang="en-US" dirty="0"/>
              <a:t>Scenario: Replying with Copilot to a thread labeled Confidential – Legal.</a:t>
            </a:r>
            <a:endParaRPr lang="en-AT" dirty="0"/>
          </a:p>
          <a:p>
            <a:pPr lvl="1">
              <a:lnSpc>
                <a:spcPct val="150000"/>
              </a:lnSpc>
            </a:pPr>
            <a:r>
              <a:rPr lang="en-US" dirty="0"/>
              <a:t>Effect: </a:t>
            </a:r>
            <a:endParaRPr lang="en-AT" dirty="0"/>
          </a:p>
          <a:p>
            <a:pPr lvl="2">
              <a:lnSpc>
                <a:spcPct val="150000"/>
              </a:lnSpc>
            </a:pPr>
            <a:r>
              <a:rPr lang="en-US" dirty="0"/>
              <a:t>The reply inherits the label; </a:t>
            </a:r>
            <a:endParaRPr lang="en-AT" dirty="0"/>
          </a:p>
          <a:p>
            <a:pPr lvl="2">
              <a:lnSpc>
                <a:spcPct val="150000"/>
              </a:lnSpc>
            </a:pPr>
            <a:r>
              <a:rPr lang="en-US" dirty="0"/>
              <a:t>Do Not Forward is enforced; if the user tries to downgrade (e.g., to Internal), </a:t>
            </a:r>
            <a:endParaRPr lang="en-AT" dirty="0"/>
          </a:p>
          <a:p>
            <a:pPr lvl="2">
              <a:lnSpc>
                <a:spcPct val="150000"/>
              </a:lnSpc>
            </a:pPr>
            <a:r>
              <a:rPr lang="en-US" dirty="0"/>
              <a:t>Outlook prompts for justification</a:t>
            </a:r>
            <a:endParaRPr lang="en-AT" dirty="0"/>
          </a:p>
          <a:p>
            <a:pPr lvl="2">
              <a:lnSpc>
                <a:spcPct val="150000"/>
              </a:lnSpc>
            </a:pPr>
            <a:r>
              <a:rPr lang="en-US" dirty="0"/>
              <a:t>Copilot’s drafted content stays within the applied protection.</a:t>
            </a:r>
            <a:endParaRPr lang="en-AT" dirty="0"/>
          </a:p>
        </p:txBody>
      </p:sp>
    </p:spTree>
    <p:extLst>
      <p:ext uri="{BB962C8B-B14F-4D97-AF65-F5344CB8AC3E}">
        <p14:creationId xmlns:p14="http://schemas.microsoft.com/office/powerpoint/2010/main" val="745298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2CAFE-DEBA-3809-E981-791F6356F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A7231-039E-111B-5320-A499C2A20D45}"/>
              </a:ext>
            </a:extLst>
          </p:cNvPr>
          <p:cNvSpPr>
            <a:spLocks noGrp="1"/>
          </p:cNvSpPr>
          <p:nvPr>
            <p:ph type="title"/>
          </p:nvPr>
        </p:nvSpPr>
        <p:spPr>
          <a:xfrm>
            <a:off x="681162" y="759826"/>
            <a:ext cx="10829676" cy="3443537"/>
          </a:xfrm>
        </p:spPr>
        <p:txBody>
          <a:bodyPr>
            <a:normAutofit/>
          </a:bodyPr>
          <a:lstStyle/>
          <a:p>
            <a:r>
              <a:rPr lang="en-AT" dirty="0"/>
              <a:t>Agent Sprawling</a:t>
            </a:r>
            <a:endParaRPr lang="en-US" dirty="0"/>
          </a:p>
        </p:txBody>
      </p:sp>
      <p:sp>
        <p:nvSpPr>
          <p:cNvPr id="3" name="Text Placeholder 2">
            <a:extLst>
              <a:ext uri="{FF2B5EF4-FFF2-40B4-BE49-F238E27FC236}">
                <a16:creationId xmlns:a16="http://schemas.microsoft.com/office/drawing/2014/main" id="{AA93AD63-66DF-DA05-3895-57066D06C7B6}"/>
              </a:ext>
            </a:extLst>
          </p:cNvPr>
          <p:cNvSpPr>
            <a:spLocks noGrp="1"/>
          </p:cNvSpPr>
          <p:nvPr>
            <p:ph type="body" idx="1"/>
          </p:nvPr>
        </p:nvSpPr>
        <p:spPr/>
        <p:txBody>
          <a:bodyPr/>
          <a:lstStyle/>
          <a:p>
            <a:endParaRPr lang="en-AT"/>
          </a:p>
        </p:txBody>
      </p:sp>
    </p:spTree>
    <p:extLst>
      <p:ext uri="{BB962C8B-B14F-4D97-AF65-F5344CB8AC3E}">
        <p14:creationId xmlns:p14="http://schemas.microsoft.com/office/powerpoint/2010/main" val="3018763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6ACC3-E2EC-AA2C-CE76-758A060D64AF}"/>
              </a:ext>
            </a:extLst>
          </p:cNvPr>
          <p:cNvSpPr>
            <a:spLocks noGrp="1"/>
          </p:cNvSpPr>
          <p:nvPr>
            <p:ph type="title"/>
          </p:nvPr>
        </p:nvSpPr>
        <p:spPr/>
        <p:txBody>
          <a:bodyPr wrap="square" anchor="t">
            <a:normAutofit fontScale="90000"/>
          </a:bodyPr>
          <a:lstStyle/>
          <a:p>
            <a:r>
              <a:rPr lang="en-US" dirty="0"/>
              <a:t>A</a:t>
            </a:r>
            <a:r>
              <a:rPr lang="en-AT" dirty="0"/>
              <a:t>gent </a:t>
            </a:r>
            <a:r>
              <a:rPr lang="en-US" dirty="0"/>
              <a:t>S</a:t>
            </a:r>
            <a:r>
              <a:rPr lang="en-AT" dirty="0" err="1"/>
              <a:t>prawl</a:t>
            </a:r>
            <a:r>
              <a:rPr lang="en-AT" dirty="0"/>
              <a:t> in Organizations</a:t>
            </a:r>
          </a:p>
        </p:txBody>
      </p:sp>
      <p:pic>
        <p:nvPicPr>
          <p:cNvPr id="6" name="Content Placeholder 5"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29ABCA46-47DF-4690-92A9-4D8A60633B71}"/>
              </a:ext>
            </a:extLst>
          </p:cNvPr>
          <p:cNvPicPr>
            <a:picLocks noGrp="1" noChangeAspect="1"/>
          </p:cNvPicPr>
          <p:nvPr>
            <p:ph sz="half" idx="1"/>
          </p:nvPr>
        </p:nvPicPr>
        <p:blipFill>
          <a:blip r:embed="rId3"/>
          <a:stretch>
            <a:fillRect/>
          </a:stretch>
        </p:blipFill>
        <p:spPr>
          <a:xfrm>
            <a:off x="534107" y="1896659"/>
            <a:ext cx="5260492" cy="3506138"/>
          </a:xfrm>
          <a:noFill/>
        </p:spPr>
      </p:pic>
      <p:sp>
        <p:nvSpPr>
          <p:cNvPr id="5" name="Content Placeholder 4">
            <a:extLst>
              <a:ext uri="{FF2B5EF4-FFF2-40B4-BE49-F238E27FC236}">
                <a16:creationId xmlns:a16="http://schemas.microsoft.com/office/drawing/2014/main" id="{38CAE75E-2E2C-B118-474C-4173C2F4243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50000"/>
              </a:lnSpc>
              <a:spcBef>
                <a:spcPts val="2500"/>
              </a:spcBef>
              <a:buNone/>
            </a:pPr>
            <a:r>
              <a:rPr lang="en-US" sz="1400" b="1" dirty="0"/>
              <a:t>Agent Sprawl Definition</a:t>
            </a:r>
          </a:p>
          <a:p>
            <a:pPr marL="0" lvl="1" indent="0">
              <a:lnSpc>
                <a:spcPct val="150000"/>
              </a:lnSpc>
              <a:buNone/>
            </a:pPr>
            <a:r>
              <a:rPr lang="en-US" dirty="0"/>
              <a:t>Agent sprawl occurs when AI and software agents proliferate uncontrollably across an organization.</a:t>
            </a:r>
          </a:p>
          <a:p>
            <a:pPr marL="0" indent="0">
              <a:lnSpc>
                <a:spcPct val="150000"/>
              </a:lnSpc>
              <a:spcBef>
                <a:spcPts val="2500"/>
              </a:spcBef>
              <a:buNone/>
            </a:pPr>
            <a:r>
              <a:rPr lang="en-US" sz="1400" b="1" dirty="0"/>
              <a:t>Risks of Agent Sprawl</a:t>
            </a:r>
          </a:p>
          <a:p>
            <a:pPr marL="0" lvl="1" indent="0">
              <a:lnSpc>
                <a:spcPct val="150000"/>
              </a:lnSpc>
              <a:buNone/>
            </a:pPr>
            <a:r>
              <a:rPr lang="en-US" dirty="0"/>
              <a:t>Duplicate functionalities and inconsistent controls increase security and compliance risks in organizations.</a:t>
            </a:r>
          </a:p>
          <a:p>
            <a:pPr marL="0" indent="0">
              <a:lnSpc>
                <a:spcPct val="150000"/>
              </a:lnSpc>
              <a:spcBef>
                <a:spcPts val="2500"/>
              </a:spcBef>
              <a:buNone/>
            </a:pPr>
            <a:r>
              <a:rPr lang="en-US" sz="1400" b="1" dirty="0"/>
              <a:t>Best Practices Overview</a:t>
            </a:r>
          </a:p>
          <a:p>
            <a:pPr marL="0" lvl="1" indent="0">
              <a:lnSpc>
                <a:spcPct val="150000"/>
              </a:lnSpc>
              <a:buNone/>
            </a:pPr>
            <a:r>
              <a:rPr lang="en-US" dirty="0"/>
              <a:t>Implement best practices to control agent sprawl when using low-code and pro-code agents in Microsoft 365.</a:t>
            </a:r>
          </a:p>
        </p:txBody>
      </p:sp>
    </p:spTree>
    <p:extLst>
      <p:ext uri="{BB962C8B-B14F-4D97-AF65-F5344CB8AC3E}">
        <p14:creationId xmlns:p14="http://schemas.microsoft.com/office/powerpoint/2010/main" val="394005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A80F5D1-7E3A-E6CD-89F5-500D1CA432F0}"/>
              </a:ext>
            </a:extLst>
          </p:cNvPr>
          <p:cNvSpPr>
            <a:spLocks noGrp="1"/>
          </p:cNvSpPr>
          <p:nvPr>
            <p:ph idx="1"/>
          </p:nvPr>
        </p:nvSpPr>
        <p:spPr/>
        <p:txBody>
          <a:bodyPr/>
          <a:lstStyle/>
          <a:p>
            <a:pPr>
              <a:lnSpc>
                <a:spcPct val="150000"/>
              </a:lnSpc>
            </a:pPr>
            <a:r>
              <a:rPr lang="en-US" b="1" dirty="0"/>
              <a:t>Use Microsoft Purview and Defender Integration</a:t>
            </a:r>
          </a:p>
          <a:p>
            <a:pPr lvl="1">
              <a:lnSpc>
                <a:spcPct val="150000"/>
              </a:lnSpc>
            </a:pPr>
            <a:r>
              <a:rPr lang="en-US" dirty="0"/>
              <a:t>These tools help monitor data access, prevent oversharing, and detect vulnerabilities in agents throughout their lifecycle</a:t>
            </a:r>
            <a:endParaRPr lang="en-US" b="1" dirty="0"/>
          </a:p>
          <a:p>
            <a:pPr>
              <a:lnSpc>
                <a:spcPct val="150000"/>
              </a:lnSpc>
            </a:pPr>
            <a:r>
              <a:rPr lang="de-DE" b="1" dirty="0" err="1"/>
              <a:t>Establish</a:t>
            </a:r>
            <a:r>
              <a:rPr lang="de-DE" b="1" dirty="0"/>
              <a:t> Clear </a:t>
            </a:r>
            <a:r>
              <a:rPr lang="de-DE" b="1" dirty="0" err="1"/>
              <a:t>Governance</a:t>
            </a:r>
            <a:r>
              <a:rPr lang="de-DE" b="1" dirty="0"/>
              <a:t> </a:t>
            </a:r>
            <a:r>
              <a:rPr lang="de-DE" b="1" dirty="0" err="1"/>
              <a:t>Policies</a:t>
            </a:r>
            <a:endParaRPr lang="de-DE" b="1" dirty="0"/>
          </a:p>
          <a:p>
            <a:pPr lvl="1">
              <a:lnSpc>
                <a:spcPct val="150000"/>
              </a:lnSpc>
            </a:pPr>
            <a:r>
              <a:rPr lang="en-US" dirty="0"/>
              <a:t>Define who can create, share, and manage agents.</a:t>
            </a:r>
          </a:p>
          <a:p>
            <a:pPr>
              <a:lnSpc>
                <a:spcPct val="150000"/>
              </a:lnSpc>
            </a:pPr>
            <a:r>
              <a:rPr lang="en-US" b="1" dirty="0"/>
              <a:t>Monitor and Audit Agent Activity</a:t>
            </a:r>
          </a:p>
          <a:p>
            <a:pPr lvl="1">
              <a:lnSpc>
                <a:spcPct val="150000"/>
              </a:lnSpc>
            </a:pPr>
            <a:r>
              <a:rPr lang="en-US" dirty="0"/>
              <a:t>Regularly audit agent usage, performance, and data access patterns</a:t>
            </a:r>
          </a:p>
          <a:p>
            <a:pPr>
              <a:lnSpc>
                <a:spcPct val="150000"/>
              </a:lnSpc>
            </a:pPr>
            <a:r>
              <a:rPr lang="de-DE" b="1" dirty="0"/>
              <a:t>Lifecycle Management</a:t>
            </a:r>
          </a:p>
          <a:p>
            <a:pPr lvl="1">
              <a:lnSpc>
                <a:spcPct val="150000"/>
              </a:lnSpc>
            </a:pPr>
            <a:r>
              <a:rPr lang="en-US" dirty="0"/>
              <a:t>Implement processes for retiring outdated agents, consolidating similar ones, and maintaining documentation</a:t>
            </a:r>
            <a:endParaRPr lang="de-DE" dirty="0"/>
          </a:p>
          <a:p>
            <a:endParaRPr lang="en-AT" dirty="0"/>
          </a:p>
        </p:txBody>
      </p:sp>
      <p:sp>
        <p:nvSpPr>
          <p:cNvPr id="6" name="Title 5">
            <a:extLst>
              <a:ext uri="{FF2B5EF4-FFF2-40B4-BE49-F238E27FC236}">
                <a16:creationId xmlns:a16="http://schemas.microsoft.com/office/drawing/2014/main" id="{CDCA151E-7E29-088A-69C7-09D85BB3F9BD}"/>
              </a:ext>
            </a:extLst>
          </p:cNvPr>
          <p:cNvSpPr>
            <a:spLocks noGrp="1"/>
          </p:cNvSpPr>
          <p:nvPr>
            <p:ph type="title"/>
          </p:nvPr>
        </p:nvSpPr>
        <p:spPr/>
        <p:txBody>
          <a:bodyPr>
            <a:normAutofit/>
          </a:bodyPr>
          <a:lstStyle/>
          <a:p>
            <a:r>
              <a:rPr lang="en-US" dirty="0"/>
              <a:t>Measure against Agent Sprawl</a:t>
            </a:r>
            <a:endParaRPr lang="en-AT" dirty="0"/>
          </a:p>
        </p:txBody>
      </p:sp>
    </p:spTree>
    <p:extLst>
      <p:ext uri="{BB962C8B-B14F-4D97-AF65-F5344CB8AC3E}">
        <p14:creationId xmlns:p14="http://schemas.microsoft.com/office/powerpoint/2010/main" val="14835940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Retrospect">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05 Security &amp; Routing using NgRx.pptx" id="{62AF79E2-E65B-415E-BAC5-F60187208829}" vid="{215D36A1-9DFD-4318-8953-750E804E8F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C51C45C11C7E4294F4C9BB3333D9AB" ma:contentTypeVersion="18" ma:contentTypeDescription="Create a new document." ma:contentTypeScope="" ma:versionID="25bc8aedd4aab002ab273245515cfcfc">
  <xsd:schema xmlns:xsd="http://www.w3.org/2001/XMLSchema" xmlns:xs="http://www.w3.org/2001/XMLSchema" xmlns:p="http://schemas.microsoft.com/office/2006/metadata/properties" xmlns:ns2="204e5094-9ead-4a7d-8770-05c20b3975be" xmlns:ns3="bb8fcec4-a3c8-4d93-9d87-c6ea12a40782" targetNamespace="http://schemas.microsoft.com/office/2006/metadata/properties" ma:root="true" ma:fieldsID="573ddbdc0d56649afef0706894f166f8" ns2:_="" ns3:_="">
    <xsd:import namespace="204e5094-9ead-4a7d-8770-05c20b3975be"/>
    <xsd:import namespace="bb8fcec4-a3c8-4d93-9d87-c6ea12a4078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DateTaken" minOccurs="0"/>
                <xsd:element ref="ns2:MediaLengthInSeconds" minOccurs="0"/>
                <xsd:element ref="ns2:MediaServiceAutoKeyPoints" minOccurs="0"/>
                <xsd:element ref="ns2:MediaServiceKeyPoints"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4e5094-9ead-4a7d-8770-05c20b397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c51c002-c697-4bf5-bf7c-d49b506beff7"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b8fcec4-a3c8-4d93-9d87-c6ea12a4078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02a58990-7cc0-42a4-8ec9-d9524050d808}" ma:internalName="TaxCatchAll" ma:showField="CatchAllData" ma:web="bb8fcec4-a3c8-4d93-9d87-c6ea12a407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04e5094-9ead-4a7d-8770-05c20b3975be">
      <Terms xmlns="http://schemas.microsoft.com/office/infopath/2007/PartnerControls"/>
    </lcf76f155ced4ddcb4097134ff3c332f>
    <TaxCatchAll xmlns="bb8fcec4-a3c8-4d93-9d87-c6ea12a40782" xsi:nil="true"/>
  </documentManagement>
</p:properties>
</file>

<file path=customXml/itemProps1.xml><?xml version="1.0" encoding="utf-8"?>
<ds:datastoreItem xmlns:ds="http://schemas.openxmlformats.org/officeDocument/2006/customXml" ds:itemID="{7C855E95-8BDD-4EC5-8561-43B9F0841FE8}">
  <ds:schemaRefs>
    <ds:schemaRef ds:uri="http://schemas.microsoft.com/office/2006/metadata/contentType"/>
    <ds:schemaRef ds:uri="http://schemas.microsoft.com/office/2006/metadata/properties/metaAttributes"/>
    <ds:schemaRef ds:uri="http://www.w3.org/2000/xmlns/"/>
    <ds:schemaRef ds:uri="http://www.w3.org/2001/XMLSchema"/>
    <ds:schemaRef ds:uri="204e5094-9ead-4a7d-8770-05c20b3975be"/>
    <ds:schemaRef ds:uri="bb8fcec4-a3c8-4d93-9d87-c6ea12a40782"/>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8E28DA6-D14C-4425-8F36-97CF61A67EDE}">
  <ds:schemaRefs>
    <ds:schemaRef ds:uri="http://schemas.microsoft.com/sharepoint/v3/contenttype/forms"/>
  </ds:schemaRefs>
</ds:datastoreItem>
</file>

<file path=customXml/itemProps3.xml><?xml version="1.0" encoding="utf-8"?>
<ds:datastoreItem xmlns:ds="http://schemas.openxmlformats.org/officeDocument/2006/customXml" ds:itemID="{80705D34-7574-4D6F-977A-71A23F7BFAD9}">
  <ds:schemaRefs>
    <ds:schemaRef ds:uri="http://schemas.openxmlformats.org/package/2006/metadata/core-properties"/>
    <ds:schemaRef ds:uri="http://schemas.microsoft.com/office/2006/metadata/properties"/>
    <ds:schemaRef ds:uri="http://purl.org/dc/elements/1.1/"/>
    <ds:schemaRef ds:uri="http://www.w3.org/XML/1998/namespace"/>
    <ds:schemaRef ds:uri="http://schemas.microsoft.com/office/2006/documentManagement/types"/>
    <ds:schemaRef ds:uri="http://purl.org/dc/terms/"/>
    <ds:schemaRef ds:uri="http://schemas.microsoft.com/office/infopath/2007/PartnerControls"/>
    <ds:schemaRef ds:uri="bb8fcec4-a3c8-4d93-9d87-c6ea12a40782"/>
    <ds:schemaRef ds:uri="204e5094-9ead-4a7d-8770-05c20b3975b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Integrations</Template>
  <TotalTime>0</TotalTime>
  <Words>2069</Words>
  <Application>Microsoft Office PowerPoint</Application>
  <PresentationFormat>Widescreen</PresentationFormat>
  <Paragraphs>279</Paragraphs>
  <Slides>36</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36</vt:i4>
      </vt:variant>
    </vt:vector>
  </HeadingPairs>
  <TitlesOfParts>
    <vt:vector size="46" baseType="lpstr">
      <vt:lpstr>Aptos</vt:lpstr>
      <vt:lpstr>Aptos Display</vt:lpstr>
      <vt:lpstr>Arial</vt:lpstr>
      <vt:lpstr>Calibri</vt:lpstr>
      <vt:lpstr>Calibri Light</vt:lpstr>
      <vt:lpstr>Segoe UI</vt:lpstr>
      <vt:lpstr>Segoe UI Semibold</vt:lpstr>
      <vt:lpstr>Wingdings</vt:lpstr>
      <vt:lpstr>Retrospect</vt:lpstr>
      <vt:lpstr>Custom Design</vt:lpstr>
      <vt:lpstr>Publishing &amp; Maintaining Copilot Studio Agents</vt:lpstr>
      <vt:lpstr>Agenda</vt:lpstr>
      <vt:lpstr>Publishing &amp; Monitoring - Agenda</vt:lpstr>
      <vt:lpstr>Publishing Overview</vt:lpstr>
      <vt:lpstr>Publishing Agents</vt:lpstr>
      <vt:lpstr>Artifacts Created When Publishing a Copilot Agent</vt:lpstr>
      <vt:lpstr>Environment &amp;  Solutions Management</vt:lpstr>
      <vt:lpstr>Managed vs Unmanaged Environments</vt:lpstr>
      <vt:lpstr>Environment Types</vt:lpstr>
      <vt:lpstr>Working with environments</vt:lpstr>
      <vt:lpstr>Teams Admin Center</vt:lpstr>
      <vt:lpstr>Power Platform Admin Center </vt:lpstr>
      <vt:lpstr>Power Platform Admin Center - Areas</vt:lpstr>
      <vt:lpstr>Solutions in Power Automate</vt:lpstr>
      <vt:lpstr>Solution Artifacts</vt:lpstr>
      <vt:lpstr>Exporting Agents</vt:lpstr>
      <vt:lpstr>Exporting existing Agents</vt:lpstr>
      <vt:lpstr>Deployment Pipelines </vt:lpstr>
      <vt:lpstr>Deployment Pipelines for Copilot Studio Agents</vt:lpstr>
      <vt:lpstr>Source Control Integration</vt:lpstr>
      <vt:lpstr>Using Analytics And Insights</vt:lpstr>
      <vt:lpstr>Several Analytics Informations</vt:lpstr>
      <vt:lpstr>Analytics &amp; Insights </vt:lpstr>
      <vt:lpstr>Copilot Studio Compliance</vt:lpstr>
      <vt:lpstr>Copilot Control System</vt:lpstr>
      <vt:lpstr>Agent Controls Model</vt:lpstr>
      <vt:lpstr>Agent Control Zones</vt:lpstr>
      <vt:lpstr>Securing Data using Purview</vt:lpstr>
      <vt:lpstr>Microsoft Purview &amp; Copilot</vt:lpstr>
      <vt:lpstr>Purview Sensitivity Labels – Key Concepts</vt:lpstr>
      <vt:lpstr>Examples</vt:lpstr>
      <vt:lpstr>Purview Sensitivity Labels &amp; Copilot</vt:lpstr>
      <vt:lpstr>Copilot Examples</vt:lpstr>
      <vt:lpstr>Agent Sprawling</vt:lpstr>
      <vt:lpstr>Agent Sprawl in Organizations</vt:lpstr>
      <vt:lpstr>Measure against Agent Sprawl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Completing Basic Tasks</dc:title>
  <dc:creator>Administrator</dc:creator>
  <cp:lastModifiedBy>Alexander Kastil</cp:lastModifiedBy>
  <cp:revision>2</cp:revision>
  <dcterms:created xsi:type="dcterms:W3CDTF">2016-02-23T07:11:59Z</dcterms:created>
  <dcterms:modified xsi:type="dcterms:W3CDTF">2026-07-18T20:23:31Z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S">
    <vt:lpwstr>39;#Angular Advanced Development|6913c8f4-9000-416d-9c3c-dc91b11b6596</vt:lpwstr>
  </property>
  <property fmtid="{D5CDD505-2E9C-101B-9397-08002B2CF9AE}" pid="3" name="Workshop">
    <vt:lpwstr>PowerCamp Web Development</vt:lpwstr>
  </property>
  <property fmtid="{D5CDD505-2E9C-101B-9397-08002B2CF9AE}" pid="4" name="Topics">
    <vt:lpwstr/>
  </property>
  <property fmtid="{D5CDD505-2E9C-101B-9397-08002B2CF9AE}" pid="5" name="ContentTypeId">
    <vt:lpwstr>0x0101000AC51C45C11C7E4294F4C9BB3333D9AB</vt:lpwstr>
  </property>
  <property fmtid="{D5CDD505-2E9C-101B-9397-08002B2CF9AE}" pid="6" name="AuthorIds_UIVersion_27">
    <vt:lpwstr>9</vt:lpwstr>
  </property>
  <property fmtid="{D5CDD505-2E9C-101B-9397-08002B2CF9AE}" pid="7" name="AuthorIds_UIVersion_29">
    <vt:lpwstr>9</vt:lpwstr>
  </property>
  <property fmtid="{D5CDD505-2E9C-101B-9397-08002B2CF9AE}" pid="8" name="MediaServiceImageTags">
    <vt:lpwstr/>
  </property>
  <property fmtid="{D5CDD505-2E9C-101B-9397-08002B2CF9AE}" pid="9" name="xd_ProgID">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